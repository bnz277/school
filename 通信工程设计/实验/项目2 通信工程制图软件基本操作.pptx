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665" r:id="rId3"/>
    <p:sldId id="291" r:id="rId5"/>
    <p:sldId id="667" r:id="rId6"/>
    <p:sldId id="669" r:id="rId7"/>
    <p:sldId id="694" r:id="rId8"/>
    <p:sldId id="698" r:id="rId9"/>
    <p:sldId id="716" r:id="rId10"/>
    <p:sldId id="719" r:id="rId11"/>
    <p:sldId id="718" r:id="rId12"/>
    <p:sldId id="717" r:id="rId13"/>
    <p:sldId id="720" r:id="rId14"/>
    <p:sldId id="721" r:id="rId15"/>
    <p:sldId id="707" r:id="rId16"/>
    <p:sldId id="696" r:id="rId17"/>
    <p:sldId id="697" r:id="rId18"/>
    <p:sldId id="680" r:id="rId19"/>
    <p:sldId id="722" r:id="rId20"/>
    <p:sldId id="723" r:id="rId21"/>
  </p:sldIdLst>
  <p:sldSz cx="9144000" cy="5143500" type="screen16x9"/>
  <p:notesSz cx="6858000" cy="9144000"/>
  <p:custDataLst>
    <p:tags r:id="rId25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00" userDrawn="1">
          <p15:clr>
            <a:srgbClr val="A4A3A4"/>
          </p15:clr>
        </p15:guide>
        <p15:guide id="2" pos="376" userDrawn="1">
          <p15:clr>
            <a:srgbClr val="A4A3A4"/>
          </p15:clr>
        </p15:guide>
        <p15:guide id="3" pos="54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8F8"/>
    <a:srgbClr val="B2D2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9" autoAdjust="0"/>
    <p:restoredTop sz="96133" autoAdjust="0"/>
  </p:normalViewPr>
  <p:slideViewPr>
    <p:cSldViewPr showGuides="1">
      <p:cViewPr varScale="1">
        <p:scale>
          <a:sx n="86" d="100"/>
          <a:sy n="86" d="100"/>
        </p:scale>
        <p:origin x="-504" y="-372"/>
      </p:cViewPr>
      <p:guideLst>
        <p:guide orient="horz" pos="1600"/>
        <p:guide pos="376"/>
        <p:guide pos="547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4" d="100"/>
        <a:sy n="64" d="100"/>
      </p:scale>
      <p:origin x="0" y="295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gs" Target="tags/tag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EA87550A-199E-42E0-B585-690E6C86E0DD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smtClean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A31C1387-779F-4F38-A916-09BAC98A989E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BA1CCFC-D8A8-4C82-A7ED-6685B60DEEA3}" type="slidenum">
              <a:rPr lang="en-US" altLang="zh-CN" smtClean="0">
                <a:solidFill>
                  <a:srgbClr val="000000"/>
                </a:solidFill>
              </a:rPr>
            </a:fld>
            <a:endParaRPr lang="en-US" altLang="zh-CN" smtClean="0">
              <a:solidFill>
                <a:srgbClr val="000000"/>
              </a:solidFill>
            </a:endParaRPr>
          </a:p>
        </p:txBody>
      </p:sp>
      <p:sp>
        <p:nvSpPr>
          <p:cNvPr id="260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01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57175" indent="-257175" defTabSz="685800" eaLnBrk="0" hangingPunct="0">
              <a:lnSpc>
                <a:spcPct val="200000"/>
              </a:lnSpc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kumimoji="1" lang="zh-CN" altLang="en-US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理解和掌握通信工程制图的</a:t>
            </a:r>
            <a:r>
              <a:rPr kumimoji="1" lang="zh-CN" altLang="en-US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总体要求和统一</a:t>
            </a:r>
            <a:r>
              <a:rPr kumimoji="1" lang="zh-CN" altLang="en-US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规定。</a:t>
            </a:r>
            <a:endParaRPr kumimoji="1" lang="zh-CN" altLang="en-US" dirty="0" smtClean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57175" indent="-257175" defTabSz="685800" eaLnBrk="0" hangingPunct="0">
              <a:lnSpc>
                <a:spcPct val="200000"/>
              </a:lnSpc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kumimoji="1" lang="zh-CN" altLang="en-US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掌握通信工程制图中的常用</a:t>
            </a:r>
            <a:r>
              <a:rPr kumimoji="1" lang="zh-CN" altLang="en-US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图例</a:t>
            </a:r>
            <a:r>
              <a:rPr kumimoji="1" lang="zh-CN" altLang="en-US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及含义。</a:t>
            </a:r>
            <a:endParaRPr kumimoji="1" lang="zh-CN" altLang="en-US" dirty="0" smtClean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31C1387-779F-4F38-A916-09BAC98A98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1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r>
              <a:rPr lang="zh-CN" altLang="en-US" dirty="0" smtClean="0"/>
              <a:t>主要介绍通信工程制图的总体要求和统一规定、通信工程各类图例含义。</a:t>
            </a:r>
            <a:endParaRPr lang="zh-CN" altLang="en-US" dirty="0" smtClean="0"/>
          </a:p>
          <a:p>
            <a:endParaRPr lang="zh-CN" altLang="en-US" dirty="0" smtClean="0"/>
          </a:p>
        </p:txBody>
      </p:sp>
      <p:sp>
        <p:nvSpPr>
          <p:cNvPr id="2611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F6CFC8E-5F9E-4B37-B39A-8C34ADE8B48D}" type="slidenum">
              <a:rPr lang="zh-CN" altLang="en-US" smtClean="0"/>
            </a:fld>
            <a:endParaRPr lang="zh-CN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214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r>
              <a:rPr lang="zh-CN" altLang="en-US" dirty="0" smtClean="0"/>
              <a:t>在最新版通信行业标准中对通信工程制图的总体提出了</a:t>
            </a:r>
            <a:r>
              <a:rPr lang="en-US" altLang="zh-CN" dirty="0" smtClean="0"/>
              <a:t>7</a:t>
            </a:r>
            <a:r>
              <a:rPr lang="zh-CN" altLang="en-US" dirty="0" smtClean="0"/>
              <a:t>点要求。</a:t>
            </a:r>
            <a:endParaRPr lang="en-US" altLang="zh-CN" dirty="0" smtClean="0"/>
          </a:p>
          <a:p>
            <a:r>
              <a:rPr lang="zh-CN" altLang="en-US" dirty="0" smtClean="0"/>
              <a:t>① 工程制图应根据表述对象的性质、论述的目的与内容，选取合适的图纸及表达手段，以便完整地表述主题内容。</a:t>
            </a:r>
            <a:r>
              <a:rPr lang="zh-CN" altLang="en-US" dirty="0" smtClean="0">
                <a:solidFill>
                  <a:srgbClr val="FF0000"/>
                </a:solidFill>
              </a:rPr>
              <a:t>这里要注意的是当几种手段均可达到目的时，应采用较为简单的方式。图的形式表达简单，就用图表达，文字表达简单就用文字表达，表格表达简单就用表格。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 smtClean="0"/>
              <a:t>② 图面应布局合理、排列均匀、轮廓清晰和便于识别。</a:t>
            </a:r>
            <a:endParaRPr lang="zh-CN" altLang="en-US" dirty="0" smtClean="0"/>
          </a:p>
          <a:p>
            <a:r>
              <a:rPr lang="zh-CN" altLang="en-US" dirty="0" smtClean="0"/>
              <a:t>③ 应选用合适的图线宽度，避免工程图中的线条过粗或过细。</a:t>
            </a:r>
            <a:endParaRPr lang="zh-CN" altLang="en-US" dirty="0" smtClean="0"/>
          </a:p>
          <a:p>
            <a:r>
              <a:rPr lang="zh-CN" altLang="en-US" dirty="0" smtClean="0"/>
              <a:t>④ 正确使用国标和行标规定的图形符号。派生新的符号时，应符合国标图形符号的派生规律，并应在合适的地方加以标注。</a:t>
            </a:r>
            <a:endParaRPr lang="zh-CN" altLang="en-US" dirty="0" smtClean="0"/>
          </a:p>
          <a:p>
            <a:r>
              <a:rPr lang="zh-CN" altLang="en-US" dirty="0" smtClean="0"/>
              <a:t>⑤ 在保证图面布局紧凑和使用方便的前提条件下，应选择合适的图纸幅面，使原图大小适中。</a:t>
            </a:r>
            <a:endParaRPr lang="zh-CN" altLang="en-US" dirty="0" smtClean="0"/>
          </a:p>
          <a:p>
            <a:r>
              <a:rPr lang="zh-CN" altLang="en-US" dirty="0" smtClean="0"/>
              <a:t>⑥ 应准确地按规定标注各种必要的技术数据和注释，并按规定进行书写和打印。</a:t>
            </a:r>
            <a:endParaRPr lang="zh-CN" altLang="en-US" dirty="0" smtClean="0"/>
          </a:p>
          <a:p>
            <a:r>
              <a:rPr lang="zh-CN" altLang="en-US" dirty="0" smtClean="0"/>
              <a:t>⑦ 工程图纸应按规定设置图衔，并按规定的责任范围签字，各种图纸应按规定顺序编号。</a:t>
            </a:r>
            <a:endParaRPr lang="zh-CN" altLang="en-US" dirty="0" smtClean="0"/>
          </a:p>
          <a:p>
            <a:endParaRPr lang="zh-CN" altLang="en-US" dirty="0" smtClean="0"/>
          </a:p>
        </p:txBody>
      </p:sp>
      <p:sp>
        <p:nvSpPr>
          <p:cNvPr id="2621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3B2D2F8-6148-4E52-906C-9C6C223BA8B1}" type="slidenum">
              <a:rPr lang="zh-CN" altLang="en-US" smtClean="0"/>
            </a:fld>
            <a:endParaRPr lang="zh-CN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317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r>
              <a:rPr lang="zh-CN" altLang="en-US" smtClean="0"/>
              <a:t>在</a:t>
            </a:r>
            <a:r>
              <a:rPr lang="en-US" altLang="zh-CN" smtClean="0"/>
              <a:t>2015</a:t>
            </a:r>
            <a:r>
              <a:rPr lang="zh-CN" altLang="en-US" smtClean="0"/>
              <a:t>版行业标准的通信工程制图的统一规定中，对通信工程制图的图幅尺寸，图线型式及应用，比例，尺寸标注，字体及写法，图街，注释、标志和技术数据</a:t>
            </a:r>
            <a:r>
              <a:rPr lang="en-US" altLang="zh-CN" smtClean="0"/>
              <a:t>7</a:t>
            </a:r>
            <a:r>
              <a:rPr lang="zh-CN" altLang="en-US" smtClean="0"/>
              <a:t>个方面做了统一规定。</a:t>
            </a:r>
            <a:endParaRPr lang="zh-CN" altLang="en-US" smtClean="0"/>
          </a:p>
          <a:p>
            <a:endParaRPr lang="zh-CN" altLang="en-US" smtClean="0"/>
          </a:p>
        </p:txBody>
      </p:sp>
      <p:sp>
        <p:nvSpPr>
          <p:cNvPr id="26317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A4AD579-EA37-47B7-8A21-80F956AF1D24}" type="slidenum">
              <a:rPr lang="zh-CN" altLang="en-US" smtClean="0"/>
            </a:fld>
            <a:endParaRPr lang="zh-CN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0"/>
          <p:cNvSpPr/>
          <p:nvPr/>
        </p:nvSpPr>
        <p:spPr bwMode="gray">
          <a:xfrm>
            <a:off x="0" y="4537075"/>
            <a:ext cx="2762250" cy="606425"/>
          </a:xfrm>
          <a:custGeom>
            <a:avLst/>
            <a:gdLst>
              <a:gd name="T0" fmla="*/ 0 w 1740"/>
              <a:gd name="T1" fmla="*/ 0 h 510"/>
              <a:gd name="T2" fmla="*/ 0 w 1740"/>
              <a:gd name="T3" fmla="*/ 606425 h 510"/>
              <a:gd name="T4" fmla="*/ 2762250 w 1740"/>
              <a:gd name="T5" fmla="*/ 606425 h 510"/>
              <a:gd name="T6" fmla="*/ 2532063 w 1740"/>
              <a:gd name="T7" fmla="*/ 35672 h 510"/>
              <a:gd name="T8" fmla="*/ 0 w 1740"/>
              <a:gd name="T9" fmla="*/ 0 h 51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740" h="510">
                <a:moveTo>
                  <a:pt x="0" y="0"/>
                </a:moveTo>
                <a:lnTo>
                  <a:pt x="0" y="510"/>
                </a:lnTo>
                <a:cubicBezTo>
                  <a:pt x="0" y="510"/>
                  <a:pt x="870" y="510"/>
                  <a:pt x="1740" y="510"/>
                </a:cubicBezTo>
                <a:cubicBezTo>
                  <a:pt x="1650" y="258"/>
                  <a:pt x="1595" y="30"/>
                  <a:pt x="1595" y="30"/>
                </a:cubicBezTo>
                <a:cubicBezTo>
                  <a:pt x="798" y="54"/>
                  <a:pt x="0" y="0"/>
                  <a:pt x="0" y="0"/>
                </a:cubicBezTo>
                <a:close/>
              </a:path>
            </a:pathLst>
          </a:cu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Freeform 41"/>
          <p:cNvSpPr/>
          <p:nvPr/>
        </p:nvSpPr>
        <p:spPr bwMode="gray">
          <a:xfrm>
            <a:off x="2590800" y="3529013"/>
            <a:ext cx="6400800" cy="1614487"/>
          </a:xfrm>
          <a:custGeom>
            <a:avLst/>
            <a:gdLst>
              <a:gd name="T0" fmla="*/ 1771650 w 4032"/>
              <a:gd name="T1" fmla="*/ 0 h 1356"/>
              <a:gd name="T2" fmla="*/ 6096000 w 4032"/>
              <a:gd name="T3" fmla="*/ 757237 h 1356"/>
              <a:gd name="T4" fmla="*/ 6400800 w 4032"/>
              <a:gd name="T5" fmla="*/ 1614487 h 1356"/>
              <a:gd name="T6" fmla="*/ 457200 w 4032"/>
              <a:gd name="T7" fmla="*/ 1614487 h 1356"/>
              <a:gd name="T8" fmla="*/ 0 w 4032"/>
              <a:gd name="T9" fmla="*/ 985837 h 1356"/>
              <a:gd name="T10" fmla="*/ 1771650 w 4032"/>
              <a:gd name="T11" fmla="*/ 0 h 135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032" h="1356">
                <a:moveTo>
                  <a:pt x="1116" y="0"/>
                </a:moveTo>
                <a:cubicBezTo>
                  <a:pt x="2370" y="1254"/>
                  <a:pt x="3840" y="636"/>
                  <a:pt x="3840" y="636"/>
                </a:cubicBezTo>
                <a:cubicBezTo>
                  <a:pt x="4032" y="966"/>
                  <a:pt x="4032" y="1356"/>
                  <a:pt x="4032" y="1356"/>
                </a:cubicBezTo>
                <a:cubicBezTo>
                  <a:pt x="4032" y="1356"/>
                  <a:pt x="2160" y="1356"/>
                  <a:pt x="288" y="1356"/>
                </a:cubicBezTo>
                <a:cubicBezTo>
                  <a:pt x="120" y="1140"/>
                  <a:pt x="0" y="828"/>
                  <a:pt x="0" y="828"/>
                </a:cubicBezTo>
                <a:lnTo>
                  <a:pt x="1116" y="0"/>
                </a:lnTo>
                <a:close/>
              </a:path>
            </a:pathLst>
          </a:cu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42"/>
          <p:cNvSpPr/>
          <p:nvPr/>
        </p:nvSpPr>
        <p:spPr bwMode="gray">
          <a:xfrm>
            <a:off x="4400550" y="585788"/>
            <a:ext cx="4743450" cy="3786187"/>
          </a:xfrm>
          <a:custGeom>
            <a:avLst/>
            <a:gdLst>
              <a:gd name="T0" fmla="*/ 809625 w 2988"/>
              <a:gd name="T1" fmla="*/ 1307306 h 3180"/>
              <a:gd name="T2" fmla="*/ 3619500 w 2988"/>
              <a:gd name="T3" fmla="*/ 0 h 3180"/>
              <a:gd name="T4" fmla="*/ 4743450 w 2988"/>
              <a:gd name="T5" fmla="*/ 407194 h 3180"/>
              <a:gd name="T6" fmla="*/ 4743450 w 2988"/>
              <a:gd name="T7" fmla="*/ 3300412 h 3180"/>
              <a:gd name="T8" fmla="*/ 2305050 w 2988"/>
              <a:gd name="T9" fmla="*/ 3643312 h 3180"/>
              <a:gd name="T10" fmla="*/ 0 w 2988"/>
              <a:gd name="T11" fmla="*/ 2864643 h 3180"/>
              <a:gd name="T12" fmla="*/ 809625 w 2988"/>
              <a:gd name="T13" fmla="*/ 1307306 h 318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988" h="3180">
                <a:moveTo>
                  <a:pt x="510" y="1098"/>
                </a:moveTo>
                <a:cubicBezTo>
                  <a:pt x="1710" y="840"/>
                  <a:pt x="2280" y="0"/>
                  <a:pt x="2280" y="0"/>
                </a:cubicBezTo>
                <a:cubicBezTo>
                  <a:pt x="2700" y="96"/>
                  <a:pt x="2988" y="342"/>
                  <a:pt x="2988" y="342"/>
                </a:cubicBezTo>
                <a:lnTo>
                  <a:pt x="2988" y="2772"/>
                </a:lnTo>
                <a:cubicBezTo>
                  <a:pt x="2988" y="2772"/>
                  <a:pt x="2202" y="3180"/>
                  <a:pt x="1452" y="3060"/>
                </a:cubicBezTo>
                <a:cubicBezTo>
                  <a:pt x="636" y="2940"/>
                  <a:pt x="0" y="2406"/>
                  <a:pt x="0" y="2406"/>
                </a:cubicBezTo>
                <a:lnTo>
                  <a:pt x="510" y="109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Freeform 43"/>
          <p:cNvSpPr/>
          <p:nvPr/>
        </p:nvSpPr>
        <p:spPr bwMode="gray">
          <a:xfrm>
            <a:off x="4800600" y="0"/>
            <a:ext cx="3276600" cy="1808163"/>
          </a:xfrm>
          <a:custGeom>
            <a:avLst/>
            <a:gdLst>
              <a:gd name="T0" fmla="*/ 0 w 2064"/>
              <a:gd name="T1" fmla="*/ 0 h 1518"/>
              <a:gd name="T2" fmla="*/ 438150 w 2064"/>
              <a:gd name="T3" fmla="*/ 1808163 h 1518"/>
              <a:gd name="T4" fmla="*/ 3276600 w 2064"/>
              <a:gd name="T5" fmla="*/ 0 h 1518"/>
              <a:gd name="T6" fmla="*/ 0 w 2064"/>
              <a:gd name="T7" fmla="*/ 0 h 151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64" h="1518">
                <a:moveTo>
                  <a:pt x="0" y="0"/>
                </a:moveTo>
                <a:cubicBezTo>
                  <a:pt x="0" y="0"/>
                  <a:pt x="138" y="759"/>
                  <a:pt x="276" y="1518"/>
                </a:cubicBezTo>
                <a:cubicBezTo>
                  <a:pt x="1518" y="1194"/>
                  <a:pt x="2064" y="0"/>
                  <a:pt x="2064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79"/>
          <p:cNvSpPr/>
          <p:nvPr/>
        </p:nvSpPr>
        <p:spPr bwMode="gray">
          <a:xfrm>
            <a:off x="0" y="0"/>
            <a:ext cx="6583363" cy="5451475"/>
          </a:xfrm>
          <a:custGeom>
            <a:avLst/>
            <a:gdLst>
              <a:gd name="T0" fmla="*/ 0 w 4014"/>
              <a:gd name="T1" fmla="*/ 0 h 4455"/>
              <a:gd name="T2" fmla="*/ 5924043 w 4014"/>
              <a:gd name="T3" fmla="*/ 0 h 4455"/>
              <a:gd name="T4" fmla="*/ 5284403 w 4014"/>
              <a:gd name="T5" fmla="*/ 3722421 h 4455"/>
              <a:gd name="T6" fmla="*/ 0 w 4014"/>
              <a:gd name="T7" fmla="*/ 4581442 h 4455"/>
              <a:gd name="T8" fmla="*/ 0 w 4014"/>
              <a:gd name="T9" fmla="*/ 0 h 44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014" h="4455">
                <a:moveTo>
                  <a:pt x="0" y="0"/>
                </a:moveTo>
                <a:lnTo>
                  <a:pt x="3612" y="0"/>
                </a:lnTo>
                <a:cubicBezTo>
                  <a:pt x="4014" y="984"/>
                  <a:pt x="3812" y="2307"/>
                  <a:pt x="3222" y="3042"/>
                </a:cubicBezTo>
                <a:cubicBezTo>
                  <a:pt x="1988" y="4455"/>
                  <a:pt x="0" y="3744"/>
                  <a:pt x="0" y="3744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45"/>
          <p:cNvSpPr/>
          <p:nvPr/>
        </p:nvSpPr>
        <p:spPr bwMode="gray">
          <a:xfrm>
            <a:off x="0" y="0"/>
            <a:ext cx="6372225" cy="53038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612" y="0"/>
              </a:cxn>
              <a:cxn ang="0">
                <a:pos x="3222" y="3042"/>
              </a:cxn>
              <a:cxn ang="0">
                <a:pos x="0" y="3744"/>
              </a:cxn>
              <a:cxn ang="0">
                <a:pos x="0" y="0"/>
              </a:cxn>
            </a:cxnLst>
            <a:rect l="0" t="0" r="r" b="b"/>
            <a:pathLst>
              <a:path w="4014" h="4455">
                <a:moveTo>
                  <a:pt x="0" y="0"/>
                </a:moveTo>
                <a:lnTo>
                  <a:pt x="3612" y="0"/>
                </a:lnTo>
                <a:cubicBezTo>
                  <a:pt x="4014" y="984"/>
                  <a:pt x="3812" y="2307"/>
                  <a:pt x="3222" y="3042"/>
                </a:cubicBezTo>
                <a:cubicBezTo>
                  <a:pt x="1988" y="4455"/>
                  <a:pt x="0" y="3744"/>
                  <a:pt x="0" y="3744"/>
                </a:cubicBez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chemeClr val="bg1">
                  <a:gamma/>
                  <a:tint val="25490"/>
                  <a:invGamma/>
                </a:schemeClr>
              </a:gs>
              <a:gs pos="100000">
                <a:schemeClr val="bg1"/>
              </a:gs>
            </a:gsLst>
            <a:lin ang="2700000" scaled="1"/>
          </a:gradFill>
          <a:ln w="9525">
            <a:noFill/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0" name="Line 47"/>
          <p:cNvSpPr>
            <a:spLocks noChangeShapeType="1"/>
          </p:cNvSpPr>
          <p:nvPr/>
        </p:nvSpPr>
        <p:spPr bwMode="gray">
          <a:xfrm>
            <a:off x="250825" y="1588"/>
            <a:ext cx="0" cy="4511675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Line 48"/>
          <p:cNvSpPr>
            <a:spLocks noChangeShapeType="1"/>
          </p:cNvSpPr>
          <p:nvPr/>
        </p:nvSpPr>
        <p:spPr bwMode="gray">
          <a:xfrm>
            <a:off x="1293813" y="1588"/>
            <a:ext cx="0" cy="4654550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49"/>
          <p:cNvSpPr>
            <a:spLocks noChangeShapeType="1"/>
          </p:cNvSpPr>
          <p:nvPr/>
        </p:nvSpPr>
        <p:spPr bwMode="gray">
          <a:xfrm>
            <a:off x="2338388" y="1588"/>
            <a:ext cx="0" cy="4637087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Line 50"/>
          <p:cNvSpPr>
            <a:spLocks noChangeShapeType="1"/>
          </p:cNvSpPr>
          <p:nvPr/>
        </p:nvSpPr>
        <p:spPr bwMode="gray">
          <a:xfrm>
            <a:off x="3382963" y="1588"/>
            <a:ext cx="0" cy="4478337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51"/>
          <p:cNvSpPr>
            <a:spLocks noChangeShapeType="1"/>
          </p:cNvSpPr>
          <p:nvPr/>
        </p:nvSpPr>
        <p:spPr bwMode="gray">
          <a:xfrm>
            <a:off x="4427538" y="1588"/>
            <a:ext cx="0" cy="4087812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53"/>
          <p:cNvSpPr>
            <a:spLocks noChangeShapeType="1"/>
          </p:cNvSpPr>
          <p:nvPr/>
        </p:nvSpPr>
        <p:spPr bwMode="gray">
          <a:xfrm rot="5400000">
            <a:off x="2913063" y="-2717800"/>
            <a:ext cx="0" cy="5813425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54"/>
          <p:cNvSpPr>
            <a:spLocks noChangeShapeType="1"/>
          </p:cNvSpPr>
          <p:nvPr/>
        </p:nvSpPr>
        <p:spPr bwMode="gray">
          <a:xfrm rot="5400000">
            <a:off x="3006725" y="-2011362"/>
            <a:ext cx="0" cy="6000750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Line 55"/>
          <p:cNvSpPr>
            <a:spLocks noChangeShapeType="1"/>
          </p:cNvSpPr>
          <p:nvPr/>
        </p:nvSpPr>
        <p:spPr bwMode="gray">
          <a:xfrm rot="5400000">
            <a:off x="3011488" y="-1217613"/>
            <a:ext cx="0" cy="6010275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Line 56"/>
          <p:cNvSpPr>
            <a:spLocks noChangeShapeType="1"/>
          </p:cNvSpPr>
          <p:nvPr/>
        </p:nvSpPr>
        <p:spPr bwMode="gray">
          <a:xfrm rot="5400000">
            <a:off x="2907507" y="-313532"/>
            <a:ext cx="0" cy="5802313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Line 57"/>
          <p:cNvSpPr>
            <a:spLocks noChangeShapeType="1"/>
          </p:cNvSpPr>
          <p:nvPr/>
        </p:nvSpPr>
        <p:spPr bwMode="gray">
          <a:xfrm rot="5400000">
            <a:off x="2666207" y="726281"/>
            <a:ext cx="0" cy="5319713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58"/>
          <p:cNvSpPr>
            <a:spLocks noChangeShapeType="1"/>
          </p:cNvSpPr>
          <p:nvPr/>
        </p:nvSpPr>
        <p:spPr bwMode="gray">
          <a:xfrm rot="5400000">
            <a:off x="2115344" y="2077244"/>
            <a:ext cx="0" cy="4217988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Rectangle 59"/>
          <p:cNvSpPr>
            <a:spLocks noChangeArrowheads="1"/>
          </p:cNvSpPr>
          <p:nvPr/>
        </p:nvSpPr>
        <p:spPr bwMode="gray">
          <a:xfrm>
            <a:off x="2362200" y="207963"/>
            <a:ext cx="1012825" cy="769937"/>
          </a:xfrm>
          <a:prstGeom prst="rect">
            <a:avLst/>
          </a:prstGeom>
          <a:solidFill>
            <a:srgbClr val="FFFF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Rectangle 60"/>
          <p:cNvSpPr>
            <a:spLocks noChangeArrowheads="1"/>
          </p:cNvSpPr>
          <p:nvPr/>
        </p:nvSpPr>
        <p:spPr bwMode="gray">
          <a:xfrm>
            <a:off x="285750" y="1820863"/>
            <a:ext cx="1012825" cy="768350"/>
          </a:xfrm>
          <a:prstGeom prst="rect">
            <a:avLst/>
          </a:prstGeom>
          <a:solidFill>
            <a:srgbClr val="FFFFFF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Rectangle 61"/>
          <p:cNvSpPr>
            <a:spLocks noChangeArrowheads="1"/>
          </p:cNvSpPr>
          <p:nvPr/>
        </p:nvSpPr>
        <p:spPr bwMode="gray">
          <a:xfrm>
            <a:off x="0" y="203200"/>
            <a:ext cx="250825" cy="769938"/>
          </a:xfrm>
          <a:prstGeom prst="rect">
            <a:avLst/>
          </a:prstGeom>
          <a:solidFill>
            <a:srgbClr val="FFFFFF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Rectangle 62"/>
          <p:cNvSpPr>
            <a:spLocks noChangeArrowheads="1"/>
          </p:cNvSpPr>
          <p:nvPr/>
        </p:nvSpPr>
        <p:spPr bwMode="gray">
          <a:xfrm>
            <a:off x="1331913" y="1588"/>
            <a:ext cx="1012825" cy="176212"/>
          </a:xfrm>
          <a:prstGeom prst="rect">
            <a:avLst/>
          </a:prstGeom>
          <a:solidFill>
            <a:srgbClr val="FFFF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Freeform 64"/>
          <p:cNvSpPr/>
          <p:nvPr/>
        </p:nvSpPr>
        <p:spPr bwMode="gray">
          <a:xfrm>
            <a:off x="2365375" y="3406775"/>
            <a:ext cx="1009650" cy="774700"/>
          </a:xfrm>
          <a:custGeom>
            <a:avLst/>
            <a:gdLst>
              <a:gd name="T0" fmla="*/ 0 w 636"/>
              <a:gd name="T1" fmla="*/ 0 h 651"/>
              <a:gd name="T2" fmla="*/ 0 w 636"/>
              <a:gd name="T3" fmla="*/ 767560 h 651"/>
              <a:gd name="T4" fmla="*/ 1009650 w 636"/>
              <a:gd name="T5" fmla="*/ 774700 h 651"/>
              <a:gd name="T6" fmla="*/ 1003300 w 636"/>
              <a:gd name="T7" fmla="*/ 0 h 651"/>
              <a:gd name="T8" fmla="*/ 0 w 636"/>
              <a:gd name="T9" fmla="*/ 0 h 65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36" h="651">
                <a:moveTo>
                  <a:pt x="0" y="0"/>
                </a:moveTo>
                <a:lnTo>
                  <a:pt x="0" y="645"/>
                </a:lnTo>
                <a:lnTo>
                  <a:pt x="636" y="651"/>
                </a:lnTo>
                <a:lnTo>
                  <a:pt x="632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Rectangle 31"/>
          <p:cNvSpPr>
            <a:spLocks noChangeArrowheads="1"/>
          </p:cNvSpPr>
          <p:nvPr/>
        </p:nvSpPr>
        <p:spPr bwMode="gray">
          <a:xfrm>
            <a:off x="285750" y="1827213"/>
            <a:ext cx="1012825" cy="768350"/>
          </a:xfrm>
          <a:prstGeom prst="rect">
            <a:avLst/>
          </a:prstGeom>
          <a:solidFill>
            <a:srgbClr val="FFFFFF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Text Box 38"/>
          <p:cNvSpPr txBox="1">
            <a:spLocks noChangeArrowheads="1"/>
          </p:cNvSpPr>
          <p:nvPr/>
        </p:nvSpPr>
        <p:spPr bwMode="gray">
          <a:xfrm>
            <a:off x="333375" y="3535363"/>
            <a:ext cx="13144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200" smtClean="0">
                <a:latin typeface="Arial Black" panose="020B0A04020102020204" pitchFamily="34" charset="0"/>
              </a:rPr>
              <a:t>L/O/G/O</a:t>
            </a:r>
            <a:endParaRPr lang="en-US" altLang="zh-CN" sz="2200" smtClean="0">
              <a:latin typeface="Arial Black" panose="020B0A04020102020204" pitchFamily="34" charset="0"/>
            </a:endParaRPr>
          </a:p>
        </p:txBody>
      </p:sp>
      <p:grpSp>
        <p:nvGrpSpPr>
          <p:cNvPr id="28" name="Group 71"/>
          <p:cNvGrpSpPr/>
          <p:nvPr/>
        </p:nvGrpSpPr>
        <p:grpSpPr bwMode="auto">
          <a:xfrm>
            <a:off x="8077200" y="0"/>
            <a:ext cx="1076325" cy="5143500"/>
            <a:chOff x="5088" y="0"/>
            <a:chExt cx="678" cy="4320"/>
          </a:xfrm>
        </p:grpSpPr>
        <p:sp>
          <p:nvSpPr>
            <p:cNvPr id="29" name="Freeform 66"/>
            <p:cNvSpPr/>
            <p:nvPr userDrawn="1"/>
          </p:nvSpPr>
          <p:spPr bwMode="gray">
            <a:xfrm>
              <a:off x="5088" y="0"/>
              <a:ext cx="672" cy="702"/>
            </a:xfrm>
            <a:custGeom>
              <a:avLst/>
              <a:gdLst>
                <a:gd name="T0" fmla="*/ 0 w 672"/>
                <a:gd name="T1" fmla="*/ 421 h 720"/>
                <a:gd name="T2" fmla="*/ 288 w 672"/>
                <a:gd name="T3" fmla="*/ 0 h 720"/>
                <a:gd name="T4" fmla="*/ 672 w 672"/>
                <a:gd name="T5" fmla="*/ 0 h 720"/>
                <a:gd name="T6" fmla="*/ 672 w 672"/>
                <a:gd name="T7" fmla="*/ 702 h 720"/>
                <a:gd name="T8" fmla="*/ 0 w 672"/>
                <a:gd name="T9" fmla="*/ 421 h 7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72" h="720">
                  <a:moveTo>
                    <a:pt x="0" y="432"/>
                  </a:moveTo>
                  <a:cubicBezTo>
                    <a:pt x="186" y="216"/>
                    <a:pt x="288" y="0"/>
                    <a:pt x="288" y="0"/>
                  </a:cubicBezTo>
                  <a:lnTo>
                    <a:pt x="672" y="0"/>
                  </a:lnTo>
                  <a:lnTo>
                    <a:pt x="672" y="720"/>
                  </a:lnTo>
                  <a:cubicBezTo>
                    <a:pt x="672" y="720"/>
                    <a:pt x="384" y="516"/>
                    <a:pt x="0" y="432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Freeform 67"/>
            <p:cNvSpPr/>
            <p:nvPr userDrawn="1"/>
          </p:nvSpPr>
          <p:spPr bwMode="gray">
            <a:xfrm>
              <a:off x="5602" y="3496"/>
              <a:ext cx="164" cy="824"/>
            </a:xfrm>
            <a:custGeom>
              <a:avLst/>
              <a:gdLst>
                <a:gd name="T0" fmla="*/ 159 w 212"/>
                <a:gd name="T1" fmla="*/ 0 h 824"/>
                <a:gd name="T2" fmla="*/ 0 w 212"/>
                <a:gd name="T3" fmla="*/ 82 h 824"/>
                <a:gd name="T4" fmla="*/ 130 w 212"/>
                <a:gd name="T5" fmla="*/ 824 h 824"/>
                <a:gd name="T6" fmla="*/ 164 w 212"/>
                <a:gd name="T7" fmla="*/ 822 h 824"/>
                <a:gd name="T8" fmla="*/ 159 w 212"/>
                <a:gd name="T9" fmla="*/ 0 h 8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2" h="824">
                  <a:moveTo>
                    <a:pt x="206" y="0"/>
                  </a:moveTo>
                  <a:cubicBezTo>
                    <a:pt x="104" y="54"/>
                    <a:pt x="0" y="82"/>
                    <a:pt x="0" y="82"/>
                  </a:cubicBezTo>
                  <a:cubicBezTo>
                    <a:pt x="0" y="82"/>
                    <a:pt x="148" y="378"/>
                    <a:pt x="168" y="824"/>
                  </a:cubicBezTo>
                  <a:lnTo>
                    <a:pt x="212" y="822"/>
                  </a:lnTo>
                  <a:cubicBezTo>
                    <a:pt x="212" y="822"/>
                    <a:pt x="209" y="411"/>
                    <a:pt x="206" y="0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1" name="Rectangle 80"/>
          <p:cNvSpPr>
            <a:spLocks noChangeArrowheads="1"/>
          </p:cNvSpPr>
          <p:nvPr/>
        </p:nvSpPr>
        <p:spPr bwMode="gray">
          <a:xfrm>
            <a:off x="5495925" y="1000125"/>
            <a:ext cx="660400" cy="769938"/>
          </a:xfrm>
          <a:prstGeom prst="rect">
            <a:avLst/>
          </a:prstGeom>
          <a:solidFill>
            <a:srgbClr val="FFFFFF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Line 81"/>
          <p:cNvSpPr>
            <a:spLocks noChangeShapeType="1"/>
          </p:cNvSpPr>
          <p:nvPr/>
        </p:nvSpPr>
        <p:spPr bwMode="gray">
          <a:xfrm>
            <a:off x="5480050" y="1588"/>
            <a:ext cx="0" cy="3178175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Rectangle 82"/>
          <p:cNvSpPr>
            <a:spLocks noChangeArrowheads="1"/>
          </p:cNvSpPr>
          <p:nvPr/>
        </p:nvSpPr>
        <p:spPr bwMode="gray">
          <a:xfrm>
            <a:off x="4457700" y="2620963"/>
            <a:ext cx="1012825" cy="769937"/>
          </a:xfrm>
          <a:prstGeom prst="rect">
            <a:avLst/>
          </a:prstGeom>
          <a:solidFill>
            <a:srgbClr val="FFFFFF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34" name="Picture 83" descr="wat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09" t="16374" b="27486"/>
          <a:stretch>
            <a:fillRect/>
          </a:stretch>
        </p:blipFill>
        <p:spPr bwMode="gray">
          <a:xfrm rot="393398">
            <a:off x="2667000" y="457200"/>
            <a:ext cx="2663825" cy="164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33375" y="3813572"/>
            <a:ext cx="6400800" cy="342900"/>
          </a:xfrm>
        </p:spPr>
        <p:txBody>
          <a:bodyPr/>
          <a:lstStyle>
            <a:lvl1pPr marL="0" indent="0">
              <a:buFontTx/>
              <a:buNone/>
              <a:defRPr sz="1600">
                <a:latin typeface="Times New Roman" panose="02020603050405020304" pitchFamily="18" charset="0"/>
              </a:defRPr>
            </a:lvl1pPr>
          </a:lstStyle>
          <a:p>
            <a:r>
              <a:rPr lang="zh-CN" altLang="en-US" smtClean="0"/>
              <a:t>单击此处编辑母版副标题样式</a:t>
            </a:r>
            <a:endParaRPr lang="en-US" altLang="zh-CN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33375" y="1413273"/>
            <a:ext cx="8229600" cy="1102519"/>
          </a:xfrm>
          <a:effectLst/>
        </p:spPr>
        <p:txBody>
          <a:bodyPr/>
          <a:lstStyle>
            <a:lvl1pPr>
              <a:defRPr sz="4800"/>
            </a:lvl1pPr>
          </a:lstStyle>
          <a:p>
            <a:r>
              <a:rPr lang="zh-CN" altLang="en-US" smtClean="0"/>
              <a:t>单击此处编辑母版标题样式</a:t>
            </a:r>
            <a:endParaRPr lang="en-US" altLang="zh-CN"/>
          </a:p>
        </p:txBody>
      </p:sp>
      <p:sp>
        <p:nvSpPr>
          <p:cNvPr id="3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805363"/>
            <a:ext cx="2133600" cy="23653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2D36FF-A46C-4327-8AFC-8F8CA4A9DA15}" type="datetimeFigureOut">
              <a:rPr lang="zh-CN" altLang="en-US"/>
            </a:fld>
            <a:endParaRPr lang="zh-CN" altLang="en-US"/>
          </a:p>
        </p:txBody>
      </p:sp>
      <p:sp>
        <p:nvSpPr>
          <p:cNvPr id="3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805363"/>
            <a:ext cx="2895600" cy="23653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805363"/>
            <a:ext cx="2133600" cy="23653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040C1A-D003-4E5C-A006-F82E32A5D95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20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100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mp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20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100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26" presetClass="emph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20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100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26" presetClass="emph" presetSubtype="0" fill="hold" grpId="1" nodeType="withEffect">
                                  <p:stCondLst>
                                    <p:cond delay="1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20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100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3B303A-EB72-400E-B3EF-8F0316D7A345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E7E7D4-3E25-417E-82DA-BA547F68252B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1D0A2E-5D0A-4FBC-A5F4-42EB5A5BBBBB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EC09FC-EBAE-412D-A6F5-439F4DBE879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1512C5-0FF1-4BE0-A529-90E42A40E1F4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14B60F-6867-45BC-87D6-C90DD4B1C6AD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8AF3D3-1853-4BE4-9C7B-7E2E53B5C00E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06CEB9-BF2B-4A8E-8C05-06A5DB985C5D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48DE47-2E99-4237-9D5B-74CE382D5DF3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EA3765-03C0-49BB-B83A-F33C8D3C348A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9D3A27-8E7F-4CF2-A595-51D6FFD877B7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9140AC-4248-41FA-BF5B-A11768E8A9D3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73FCC1-315F-47CD-8FDA-D9273C6CAF4C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515E3C-BF78-482C-B2C0-21EE9C8F9F98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977210-F562-4E52-B9A2-711C704FBE5A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F2BBC5-FA14-42FC-A063-4AC83DC1DD6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ED5D84-95B7-4995-B7A1-544EBA3459EF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E36A07-30CB-4E4B-BA9B-DD249FB1B36A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44079"/>
            <a:ext cx="2057400" cy="4350544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44079"/>
            <a:ext cx="6019800" cy="435054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41641D-12FF-4823-9BD1-5AC178CD60F3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BAEF94-9603-4039-ABA7-1D4B5F274CA4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44079"/>
            <a:ext cx="8229600" cy="6953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127BE0-CD63-447D-A0E3-18BE2EEFB3C6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F4190F-F75B-40AC-8AFE-9FBDE9D0D0A4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44079"/>
            <a:ext cx="8229600" cy="6953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00150"/>
            <a:ext cx="8229600" cy="163949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953942"/>
            <a:ext cx="8229600" cy="164068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E98E7F-FF63-49ED-B65D-56B26A604FC2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210B80-91FE-4377-B4B9-E828399D2EC8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hf sldNum="0"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44079"/>
            <a:ext cx="8229600" cy="6953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200151"/>
            <a:ext cx="8229600" cy="3394472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单击图标添加表格</a:t>
            </a:r>
            <a:endParaRPr lang="zh-CN" altLang="en-US" noProof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15E03F-9046-4BC9-91FC-3DB117B901D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44079"/>
            <a:ext cx="8229600" cy="6953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表占位符 2"/>
          <p:cNvSpPr>
            <a:spLocks noGrp="1"/>
          </p:cNvSpPr>
          <p:nvPr>
            <p:ph type="chart" idx="1" hasCustomPrompt="1"/>
          </p:nvPr>
        </p:nvSpPr>
        <p:spPr>
          <a:xfrm>
            <a:off x="457200" y="1200151"/>
            <a:ext cx="8229600" cy="3394472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单击图标添加图表</a:t>
            </a:r>
            <a:endParaRPr lang="zh-CN" altLang="en-US" noProof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D280C2-FD1A-42B6-81BF-808414EBDACF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44079"/>
            <a:ext cx="8229600" cy="6953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 hasCustomPrompt="1"/>
          </p:nvPr>
        </p:nvSpPr>
        <p:spPr>
          <a:xfrm>
            <a:off x="457200" y="1200151"/>
            <a:ext cx="8229600" cy="3394472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 </a:t>
            </a:r>
            <a:r>
              <a:rPr lang="en-US" altLang="zh-CN" noProof="0" smtClean="0"/>
              <a:t>SmartArt </a:t>
            </a:r>
            <a:r>
              <a:rPr lang="zh-CN" altLang="en-US" noProof="0" smtClean="0"/>
              <a:t>图形</a:t>
            </a:r>
            <a:endParaRPr lang="zh-CN" altLang="en-US" noProof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5105B9-EBC0-45AB-ACE3-60C8D4F09A6E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392B56-4AF0-48F3-A189-7C4D46BD740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2.png"/><Relationship Id="rId17" Type="http://schemas.openxmlformats.org/officeDocument/2006/relationships/image" Target="../media/image1.png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Freeform 7"/>
          <p:cNvSpPr/>
          <p:nvPr/>
        </p:nvSpPr>
        <p:spPr bwMode="gray">
          <a:xfrm>
            <a:off x="-9525" y="-7938"/>
            <a:ext cx="9156700" cy="5154613"/>
          </a:xfrm>
          <a:custGeom>
            <a:avLst/>
            <a:gdLst/>
            <a:ahLst/>
            <a:cxnLst>
              <a:cxn ang="0">
                <a:pos x="5766" y="605"/>
              </a:cxn>
              <a:cxn ang="0">
                <a:pos x="5768" y="4325"/>
              </a:cxn>
              <a:cxn ang="0">
                <a:pos x="1082" y="4329"/>
              </a:cxn>
              <a:cxn ang="0">
                <a:pos x="13" y="3351"/>
              </a:cxn>
              <a:cxn ang="0">
                <a:pos x="0" y="0"/>
              </a:cxn>
              <a:cxn ang="0">
                <a:pos x="2428" y="7"/>
              </a:cxn>
              <a:cxn ang="0">
                <a:pos x="5766" y="605"/>
              </a:cxn>
            </a:cxnLst>
            <a:rect l="0" t="0" r="r" b="b"/>
            <a:pathLst>
              <a:path w="5768" h="4329">
                <a:moveTo>
                  <a:pt x="5766" y="605"/>
                </a:moveTo>
                <a:cubicBezTo>
                  <a:pt x="5767" y="2464"/>
                  <a:pt x="5768" y="4325"/>
                  <a:pt x="5768" y="4325"/>
                </a:cubicBezTo>
                <a:lnTo>
                  <a:pt x="1082" y="4329"/>
                </a:lnTo>
                <a:cubicBezTo>
                  <a:pt x="318" y="3809"/>
                  <a:pt x="9" y="3349"/>
                  <a:pt x="13" y="3351"/>
                </a:cubicBezTo>
                <a:lnTo>
                  <a:pt x="0" y="0"/>
                </a:lnTo>
                <a:lnTo>
                  <a:pt x="2428" y="7"/>
                </a:lnTo>
                <a:cubicBezTo>
                  <a:pt x="2428" y="12"/>
                  <a:pt x="3096" y="401"/>
                  <a:pt x="5766" y="605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gamma/>
                  <a:tint val="3137"/>
                  <a:invGamma/>
                </a:schemeClr>
              </a:gs>
              <a:gs pos="100000">
                <a:schemeClr val="bg1">
                  <a:alpha val="70000"/>
                </a:schemeClr>
              </a:gs>
            </a:gsLst>
            <a:lin ang="2700000" scaled="1"/>
          </a:gradFill>
          <a:ln w="9525">
            <a:noFill/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033" name="Freeform 9"/>
          <p:cNvSpPr/>
          <p:nvPr/>
        </p:nvSpPr>
        <p:spPr bwMode="gray">
          <a:xfrm>
            <a:off x="-4763" y="4125913"/>
            <a:ext cx="1441451" cy="1019175"/>
          </a:xfrm>
          <a:custGeom>
            <a:avLst/>
            <a:gdLst>
              <a:gd name="T0" fmla="*/ 0 w 1089"/>
              <a:gd name="T1" fmla="*/ 0 h 1100"/>
              <a:gd name="T2" fmla="*/ 0 w 1089"/>
              <a:gd name="T3" fmla="*/ 1019175 h 1100"/>
              <a:gd name="T4" fmla="*/ 1441451 w 1089"/>
              <a:gd name="T5" fmla="*/ 1019175 h 1100"/>
              <a:gd name="T6" fmla="*/ 0 w 1089"/>
              <a:gd name="T7" fmla="*/ 0 h 11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89" h="1100">
                <a:moveTo>
                  <a:pt x="0" y="0"/>
                </a:moveTo>
                <a:cubicBezTo>
                  <a:pt x="0" y="550"/>
                  <a:pt x="0" y="1100"/>
                  <a:pt x="0" y="1100"/>
                </a:cubicBezTo>
                <a:lnTo>
                  <a:pt x="1089" y="1100"/>
                </a:lnTo>
                <a:cubicBezTo>
                  <a:pt x="1089" y="1100"/>
                  <a:pt x="596" y="865"/>
                  <a:pt x="0" y="0"/>
                </a:cubicBezTo>
                <a:close/>
              </a:path>
            </a:pathLst>
          </a:cu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Line 13"/>
          <p:cNvSpPr>
            <a:spLocks noChangeShapeType="1"/>
          </p:cNvSpPr>
          <p:nvPr/>
        </p:nvSpPr>
        <p:spPr bwMode="gray">
          <a:xfrm>
            <a:off x="527050" y="0"/>
            <a:ext cx="0" cy="4432300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14"/>
          <p:cNvSpPr>
            <a:spLocks noChangeShapeType="1"/>
          </p:cNvSpPr>
          <p:nvPr/>
        </p:nvSpPr>
        <p:spPr bwMode="gray">
          <a:xfrm>
            <a:off x="1677988" y="0"/>
            <a:ext cx="0" cy="5124450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0" name="Line 15"/>
          <p:cNvSpPr>
            <a:spLocks noChangeShapeType="1"/>
          </p:cNvSpPr>
          <p:nvPr/>
        </p:nvSpPr>
        <p:spPr bwMode="gray">
          <a:xfrm>
            <a:off x="2830513" y="0"/>
            <a:ext cx="0" cy="5146675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Line 16"/>
          <p:cNvSpPr>
            <a:spLocks noChangeShapeType="1"/>
          </p:cNvSpPr>
          <p:nvPr/>
        </p:nvSpPr>
        <p:spPr bwMode="gray">
          <a:xfrm>
            <a:off x="3983038" y="0"/>
            <a:ext cx="0" cy="5156200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2" name="Line 17"/>
          <p:cNvSpPr>
            <a:spLocks noChangeShapeType="1"/>
          </p:cNvSpPr>
          <p:nvPr/>
        </p:nvSpPr>
        <p:spPr bwMode="gray">
          <a:xfrm>
            <a:off x="5133975" y="292100"/>
            <a:ext cx="0" cy="4864100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gray">
          <a:xfrm>
            <a:off x="6286500" y="465138"/>
            <a:ext cx="0" cy="4691062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4" name="Line 19"/>
          <p:cNvSpPr>
            <a:spLocks noChangeShapeType="1"/>
          </p:cNvSpPr>
          <p:nvPr/>
        </p:nvSpPr>
        <p:spPr bwMode="gray">
          <a:xfrm>
            <a:off x="7439025" y="579438"/>
            <a:ext cx="0" cy="4576762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5" name="Line 20"/>
          <p:cNvSpPr>
            <a:spLocks noChangeShapeType="1"/>
          </p:cNvSpPr>
          <p:nvPr/>
        </p:nvSpPr>
        <p:spPr bwMode="gray">
          <a:xfrm>
            <a:off x="8591550" y="674688"/>
            <a:ext cx="0" cy="4481512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6" name="Line 22"/>
          <p:cNvSpPr>
            <a:spLocks noChangeShapeType="1"/>
          </p:cNvSpPr>
          <p:nvPr/>
        </p:nvSpPr>
        <p:spPr bwMode="gray">
          <a:xfrm rot="5400000">
            <a:off x="2595563" y="-2281238"/>
            <a:ext cx="0" cy="5191125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7" name="Line 23"/>
          <p:cNvSpPr>
            <a:spLocks noChangeShapeType="1"/>
          </p:cNvSpPr>
          <p:nvPr/>
        </p:nvSpPr>
        <p:spPr bwMode="gray">
          <a:xfrm rot="5400000">
            <a:off x="4578350" y="-3422650"/>
            <a:ext cx="0" cy="9156700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8" name="Line 24"/>
          <p:cNvSpPr>
            <a:spLocks noChangeShapeType="1"/>
          </p:cNvSpPr>
          <p:nvPr/>
        </p:nvSpPr>
        <p:spPr bwMode="gray">
          <a:xfrm rot="5400000">
            <a:off x="4578350" y="-2579687"/>
            <a:ext cx="0" cy="9156700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9" name="Line 25"/>
          <p:cNvSpPr>
            <a:spLocks noChangeShapeType="1"/>
          </p:cNvSpPr>
          <p:nvPr/>
        </p:nvSpPr>
        <p:spPr bwMode="gray">
          <a:xfrm rot="5400000">
            <a:off x="4579938" y="-1735138"/>
            <a:ext cx="0" cy="9153525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Line 26"/>
          <p:cNvSpPr>
            <a:spLocks noChangeShapeType="1"/>
          </p:cNvSpPr>
          <p:nvPr/>
        </p:nvSpPr>
        <p:spPr bwMode="gray">
          <a:xfrm rot="5400000">
            <a:off x="4579938" y="-892175"/>
            <a:ext cx="0" cy="9153525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1" name="Line 27"/>
          <p:cNvSpPr>
            <a:spLocks noChangeShapeType="1"/>
          </p:cNvSpPr>
          <p:nvPr/>
        </p:nvSpPr>
        <p:spPr bwMode="gray">
          <a:xfrm rot="5400000">
            <a:off x="4905376" y="315912"/>
            <a:ext cx="0" cy="8423275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2" name="Rectangle 28"/>
          <p:cNvSpPr>
            <a:spLocks noChangeArrowheads="1"/>
          </p:cNvSpPr>
          <p:nvPr/>
        </p:nvSpPr>
        <p:spPr bwMode="gray">
          <a:xfrm>
            <a:off x="4005263" y="2019300"/>
            <a:ext cx="1128712" cy="809625"/>
          </a:xfrm>
          <a:prstGeom prst="rect">
            <a:avLst/>
          </a:prstGeom>
          <a:solidFill>
            <a:srgbClr val="FFFFFF">
              <a:alpha val="2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3" name="Rectangle 29"/>
          <p:cNvSpPr>
            <a:spLocks noChangeArrowheads="1"/>
          </p:cNvSpPr>
          <p:nvPr/>
        </p:nvSpPr>
        <p:spPr bwMode="gray">
          <a:xfrm>
            <a:off x="7459663" y="3703638"/>
            <a:ext cx="1120775" cy="809625"/>
          </a:xfrm>
          <a:prstGeom prst="rect">
            <a:avLst/>
          </a:prstGeom>
          <a:solidFill>
            <a:srgbClr val="FFFFFF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4" name="Rectangle 30"/>
          <p:cNvSpPr>
            <a:spLocks noChangeArrowheads="1"/>
          </p:cNvSpPr>
          <p:nvPr/>
        </p:nvSpPr>
        <p:spPr bwMode="gray">
          <a:xfrm>
            <a:off x="549275" y="2855913"/>
            <a:ext cx="1128713" cy="80962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Rectangle 31"/>
          <p:cNvSpPr>
            <a:spLocks noChangeArrowheads="1"/>
          </p:cNvSpPr>
          <p:nvPr/>
        </p:nvSpPr>
        <p:spPr bwMode="gray">
          <a:xfrm>
            <a:off x="6307138" y="4548188"/>
            <a:ext cx="1128712" cy="598487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6" name="Rectangle 32"/>
          <p:cNvSpPr>
            <a:spLocks noChangeArrowheads="1"/>
          </p:cNvSpPr>
          <p:nvPr/>
        </p:nvSpPr>
        <p:spPr bwMode="gray">
          <a:xfrm>
            <a:off x="2846388" y="0"/>
            <a:ext cx="1128712" cy="303213"/>
          </a:xfrm>
          <a:prstGeom prst="rect">
            <a:avLst/>
          </a:prstGeom>
          <a:solidFill>
            <a:srgbClr val="FFFFFF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7" name="Rectangle 33"/>
          <p:cNvSpPr>
            <a:spLocks noChangeArrowheads="1"/>
          </p:cNvSpPr>
          <p:nvPr/>
        </p:nvSpPr>
        <p:spPr bwMode="gray">
          <a:xfrm>
            <a:off x="2852738" y="3703638"/>
            <a:ext cx="1120775" cy="809625"/>
          </a:xfrm>
          <a:prstGeom prst="rect">
            <a:avLst/>
          </a:prstGeom>
          <a:solidFill>
            <a:srgbClr val="FFFFFF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8" name="Rectangle 34"/>
          <p:cNvSpPr>
            <a:spLocks noChangeArrowheads="1"/>
          </p:cNvSpPr>
          <p:nvPr/>
        </p:nvSpPr>
        <p:spPr bwMode="gray">
          <a:xfrm>
            <a:off x="6300788" y="1174750"/>
            <a:ext cx="1120775" cy="809625"/>
          </a:xfrm>
          <a:prstGeom prst="rect">
            <a:avLst/>
          </a:prstGeom>
          <a:solidFill>
            <a:srgbClr val="FFFFFF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9" name="Rectangle 3"/>
          <p:cNvSpPr>
            <a:spLocks noGrp="1" noChangeArrowheads="1"/>
          </p:cNvSpPr>
          <p:nvPr>
            <p:ph type="body" idx="1"/>
          </p:nvPr>
        </p:nvSpPr>
        <p:spPr bwMode="gray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www.themegallery.com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3FECE39-8918-40C1-8D92-AA0F5C63804D}" type="slidenum">
              <a:rPr lang="zh-CN" altLang="en-US"/>
            </a:fld>
            <a:endParaRPr lang="en-US" altLang="zh-CN"/>
          </a:p>
        </p:txBody>
      </p:sp>
      <p:sp>
        <p:nvSpPr>
          <p:cNvPr id="1060" name="Freeform 36"/>
          <p:cNvSpPr/>
          <p:nvPr/>
        </p:nvSpPr>
        <p:spPr bwMode="gray">
          <a:xfrm>
            <a:off x="4041775" y="0"/>
            <a:ext cx="5105400" cy="555625"/>
          </a:xfrm>
          <a:custGeom>
            <a:avLst/>
            <a:gdLst>
              <a:gd name="T0" fmla="*/ 5105400 w 3130"/>
              <a:gd name="T1" fmla="*/ 555625 h 453"/>
              <a:gd name="T2" fmla="*/ 5105400 w 3130"/>
              <a:gd name="T3" fmla="*/ 0 h 453"/>
              <a:gd name="T4" fmla="*/ 0 w 3130"/>
              <a:gd name="T5" fmla="*/ 0 h 453"/>
              <a:gd name="T6" fmla="*/ 5105400 w 3130"/>
              <a:gd name="T7" fmla="*/ 555625 h 45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130" h="453">
                <a:moveTo>
                  <a:pt x="3130" y="453"/>
                </a:moveTo>
                <a:cubicBezTo>
                  <a:pt x="3130" y="226"/>
                  <a:pt x="3130" y="0"/>
                  <a:pt x="3130" y="0"/>
                </a:cubicBezTo>
                <a:lnTo>
                  <a:pt x="0" y="0"/>
                </a:lnTo>
                <a:cubicBezTo>
                  <a:pt x="0" y="0"/>
                  <a:pt x="1298" y="389"/>
                  <a:pt x="3130" y="453"/>
                </a:cubicBezTo>
                <a:close/>
              </a:path>
            </a:pathLst>
          </a:cu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black">
          <a:xfrm>
            <a:off x="457200" y="244475"/>
            <a:ext cx="8229600" cy="6953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FFFFFF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pic>
        <p:nvPicPr>
          <p:cNvPr id="1055" name="Picture 37" descr="water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09" t="16374" b="27486"/>
          <a:stretch>
            <a:fillRect/>
          </a:stretch>
        </p:blipFill>
        <p:spPr bwMode="gray">
          <a:xfrm rot="786797">
            <a:off x="6629400" y="-285750"/>
            <a:ext cx="2417763" cy="1497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6" name="Picture 38" descr="3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 rot="20740733" flipH="1">
            <a:off x="49213" y="4294188"/>
            <a:ext cx="1223962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" dur="1000" fill="hold"/>
                                        <p:tgtEl>
                                          <p:spTgt spid="10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10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1000" fill="hold"/>
                                        <p:tgtEl>
                                          <p:spTgt spid="10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mph" presetSubtype="2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100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24" dur="100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100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3" grpId="0" animBg="1"/>
      <p:bldP spid="1060" grpId="0" animBg="1"/>
      <p:bldP spid="1026" grpId="0"/>
    </p:bldLst>
  </p:timing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1" name="Rectangle 17"/>
          <p:cNvSpPr>
            <a:spLocks noChangeArrowheads="1"/>
          </p:cNvSpPr>
          <p:nvPr/>
        </p:nvSpPr>
        <p:spPr bwMode="auto">
          <a:xfrm>
            <a:off x="1066800" y="1275606"/>
            <a:ext cx="7042150" cy="900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8580" tIns="34290" rIns="68580" bIns="34290">
            <a:spAutoFit/>
          </a:bodyPr>
          <a:lstStyle/>
          <a:p>
            <a:pPr algn="ctr" defTabSz="685800">
              <a:defRPr/>
            </a:pPr>
            <a:r>
              <a:rPr lang="zh-CN" altLang="en-US" sz="5400" dirty="0">
                <a:solidFill>
                  <a:srgbClr val="00B05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通信工程制图</a:t>
            </a:r>
            <a:endParaRPr lang="zh-CN" altLang="en-US" sz="5400" dirty="0">
              <a:solidFill>
                <a:srgbClr val="00B05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advTm="2515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通信工程制图软件基本操作</a:t>
            </a:r>
            <a:endParaRPr lang="zh-CN" altLang="en-US" sz="3200" dirty="0" smtClean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8439" name="Text Box 35"/>
          <p:cNvSpPr txBox="1">
            <a:spLocks noChangeArrowheads="1"/>
          </p:cNvSpPr>
          <p:nvPr/>
        </p:nvSpPr>
        <p:spPr bwMode="auto">
          <a:xfrm>
            <a:off x="1660525" y="541338"/>
            <a:ext cx="184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18435" name="Group 3"/>
          <p:cNvGrpSpPr/>
          <p:nvPr/>
        </p:nvGrpSpPr>
        <p:grpSpPr bwMode="auto">
          <a:xfrm rot="0">
            <a:off x="2045970" y="3149600"/>
            <a:ext cx="4791075" cy="537210"/>
            <a:chOff x="1152" y="1272"/>
            <a:chExt cx="3408" cy="451"/>
          </a:xfrm>
        </p:grpSpPr>
        <p:grpSp>
          <p:nvGrpSpPr>
            <p:cNvPr id="18462" name="Group 4"/>
            <p:cNvGrpSpPr/>
            <p:nvPr/>
          </p:nvGrpSpPr>
          <p:grpSpPr bwMode="auto">
            <a:xfrm>
              <a:off x="1152" y="1275"/>
              <a:ext cx="480" cy="419"/>
              <a:chOff x="1110" y="2656"/>
              <a:chExt cx="1549" cy="1351"/>
            </a:xfrm>
          </p:grpSpPr>
          <p:sp>
            <p:nvSpPr>
              <p:cNvPr id="18466" name="AutoShape 5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18467" name="AutoShape 6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6087" name="AutoShape 7"/>
              <p:cNvSpPr>
                <a:spLocks noChangeArrowheads="1"/>
              </p:cNvSpPr>
              <p:nvPr/>
            </p:nvSpPr>
            <p:spPr bwMode="gray">
              <a:xfrm>
                <a:off x="1201" y="2737"/>
                <a:ext cx="1348" cy="1169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100000">
                    <a:schemeClr val="hlink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sp>
          <p:nvSpPr>
            <p:cNvPr id="18463" name="Line 8"/>
            <p:cNvSpPr>
              <a:spLocks noChangeShapeType="1"/>
            </p:cNvSpPr>
            <p:nvPr/>
          </p:nvSpPr>
          <p:spPr bwMode="auto">
            <a:xfrm>
              <a:off x="1536" y="1659"/>
              <a:ext cx="3024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prstDash val="sysDot"/>
              <a:rou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64" name="Text Box 9"/>
            <p:cNvSpPr txBox="1">
              <a:spLocks noChangeArrowheads="1"/>
            </p:cNvSpPr>
            <p:nvPr/>
          </p:nvSpPr>
          <p:spPr bwMode="auto">
            <a:xfrm>
              <a:off x="1818" y="1272"/>
              <a:ext cx="997" cy="3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zh-CN" altLang="en-US" sz="2400" dirty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坐标系统</a:t>
              </a:r>
              <a:endParaRPr lang="zh-CN" altLang="en-US" sz="24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8465" name="Text Box 10"/>
            <p:cNvSpPr txBox="1">
              <a:spLocks noChangeArrowheads="1"/>
            </p:cNvSpPr>
            <p:nvPr/>
          </p:nvSpPr>
          <p:spPr bwMode="gray">
            <a:xfrm>
              <a:off x="1260" y="1337"/>
              <a:ext cx="254" cy="3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5</a:t>
              </a:r>
              <a:endParaRPr lang="en-US" altLang="zh-CN" sz="2400" b="1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18436" name="Group 11"/>
          <p:cNvGrpSpPr/>
          <p:nvPr/>
        </p:nvGrpSpPr>
        <p:grpSpPr bwMode="auto">
          <a:xfrm rot="0">
            <a:off x="2025015" y="1608455"/>
            <a:ext cx="4791075" cy="555625"/>
            <a:chOff x="1152" y="1834"/>
            <a:chExt cx="3408" cy="466"/>
          </a:xfrm>
        </p:grpSpPr>
        <p:grpSp>
          <p:nvGrpSpPr>
            <p:cNvPr id="18455" name="Group 12"/>
            <p:cNvGrpSpPr/>
            <p:nvPr/>
          </p:nvGrpSpPr>
          <p:grpSpPr bwMode="auto">
            <a:xfrm>
              <a:off x="1152" y="1851"/>
              <a:ext cx="480" cy="419"/>
              <a:chOff x="3174" y="2656"/>
              <a:chExt cx="1549" cy="1351"/>
            </a:xfrm>
          </p:grpSpPr>
          <p:sp>
            <p:nvSpPr>
              <p:cNvPr id="18459" name="AutoShape 13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18460" name="AutoShape 14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6095" name="AutoShape 15"/>
              <p:cNvSpPr>
                <a:spLocks noChangeArrowheads="1"/>
              </p:cNvSpPr>
              <p:nvPr/>
            </p:nvSpPr>
            <p:spPr bwMode="gray">
              <a:xfrm>
                <a:off x="3265" y="2739"/>
                <a:ext cx="1348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sp>
          <p:nvSpPr>
            <p:cNvPr id="18456" name="Line 16"/>
            <p:cNvSpPr>
              <a:spLocks noChangeShapeType="1"/>
            </p:cNvSpPr>
            <p:nvPr/>
          </p:nvSpPr>
          <p:spPr bwMode="auto">
            <a:xfrm>
              <a:off x="1536" y="2235"/>
              <a:ext cx="3024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prstDash val="sysDot"/>
              <a:rou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7" name="Text Box 17"/>
            <p:cNvSpPr txBox="1">
              <a:spLocks noChangeArrowheads="1"/>
            </p:cNvSpPr>
            <p:nvPr/>
          </p:nvSpPr>
          <p:spPr bwMode="auto">
            <a:xfrm>
              <a:off x="1793" y="1834"/>
              <a:ext cx="2177" cy="3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zh-CN" altLang="en-US" sz="2400" dirty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AutoCAD的操作界面</a:t>
              </a:r>
              <a:endParaRPr lang="zh-CN" altLang="en-US" sz="24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8458" name="Text Box 18"/>
            <p:cNvSpPr txBox="1">
              <a:spLocks noChangeArrowheads="1"/>
            </p:cNvSpPr>
            <p:nvPr/>
          </p:nvSpPr>
          <p:spPr bwMode="gray">
            <a:xfrm>
              <a:off x="1259" y="1913"/>
              <a:ext cx="256" cy="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2400" b="1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18437" name="Group 19"/>
          <p:cNvGrpSpPr/>
          <p:nvPr/>
        </p:nvGrpSpPr>
        <p:grpSpPr bwMode="auto">
          <a:xfrm rot="0">
            <a:off x="2040890" y="2132965"/>
            <a:ext cx="4791075" cy="539750"/>
            <a:chOff x="1152" y="2409"/>
            <a:chExt cx="3408" cy="454"/>
          </a:xfrm>
        </p:grpSpPr>
        <p:grpSp>
          <p:nvGrpSpPr>
            <p:cNvPr id="18448" name="Group 20"/>
            <p:cNvGrpSpPr/>
            <p:nvPr/>
          </p:nvGrpSpPr>
          <p:grpSpPr bwMode="auto">
            <a:xfrm>
              <a:off x="1152" y="2413"/>
              <a:ext cx="480" cy="419"/>
              <a:chOff x="1110" y="2656"/>
              <a:chExt cx="1549" cy="1351"/>
            </a:xfrm>
          </p:grpSpPr>
          <p:sp>
            <p:nvSpPr>
              <p:cNvPr id="18452" name="AutoShape 21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18453" name="AutoShape 22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6103" name="AutoShape 23"/>
              <p:cNvSpPr>
                <a:spLocks noChangeArrowheads="1"/>
              </p:cNvSpPr>
              <p:nvPr/>
            </p:nvSpPr>
            <p:spPr bwMode="gray">
              <a:xfrm>
                <a:off x="1201" y="2738"/>
                <a:ext cx="1348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100000">
                    <a:schemeClr val="hlink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sp>
          <p:nvSpPr>
            <p:cNvPr id="18449" name="Line 24"/>
            <p:cNvSpPr>
              <a:spLocks noChangeShapeType="1"/>
            </p:cNvSpPr>
            <p:nvPr/>
          </p:nvSpPr>
          <p:spPr bwMode="auto">
            <a:xfrm>
              <a:off x="1536" y="2797"/>
              <a:ext cx="3024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prstDash val="sysDot"/>
              <a:rou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0" name="Text Box 25"/>
            <p:cNvSpPr txBox="1">
              <a:spLocks noChangeArrowheads="1"/>
            </p:cNvSpPr>
            <p:nvPr/>
          </p:nvSpPr>
          <p:spPr bwMode="auto">
            <a:xfrm>
              <a:off x="1818" y="2409"/>
              <a:ext cx="997" cy="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zh-CN" altLang="en-US" sz="240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基本操作</a:t>
              </a:r>
              <a:endParaRPr lang="zh-CN" altLang="en-US" sz="24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endParaRPr>
            </a:p>
          </p:txBody>
        </p:sp>
        <p:sp>
          <p:nvSpPr>
            <p:cNvPr id="18451" name="Text Box 26"/>
            <p:cNvSpPr txBox="1">
              <a:spLocks noChangeArrowheads="1"/>
            </p:cNvSpPr>
            <p:nvPr/>
          </p:nvSpPr>
          <p:spPr bwMode="gray">
            <a:xfrm>
              <a:off x="1259" y="2475"/>
              <a:ext cx="256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2400" b="1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18438" name="Group 27"/>
          <p:cNvGrpSpPr/>
          <p:nvPr/>
        </p:nvGrpSpPr>
        <p:grpSpPr bwMode="auto">
          <a:xfrm rot="0">
            <a:off x="2045970" y="3651885"/>
            <a:ext cx="4791075" cy="549910"/>
            <a:chOff x="1152" y="2976"/>
            <a:chExt cx="3408" cy="462"/>
          </a:xfrm>
        </p:grpSpPr>
        <p:grpSp>
          <p:nvGrpSpPr>
            <p:cNvPr id="18441" name="Group 28"/>
            <p:cNvGrpSpPr/>
            <p:nvPr/>
          </p:nvGrpSpPr>
          <p:grpSpPr bwMode="auto">
            <a:xfrm>
              <a:off x="1152" y="2989"/>
              <a:ext cx="480" cy="419"/>
              <a:chOff x="3174" y="2656"/>
              <a:chExt cx="1549" cy="1351"/>
            </a:xfrm>
          </p:grpSpPr>
          <p:sp>
            <p:nvSpPr>
              <p:cNvPr id="18445" name="AutoShape 29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18446" name="AutoShape 30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6111" name="AutoShape 31"/>
              <p:cNvSpPr>
                <a:spLocks noChangeArrowheads="1"/>
              </p:cNvSpPr>
              <p:nvPr/>
            </p:nvSpPr>
            <p:spPr bwMode="gray">
              <a:xfrm>
                <a:off x="3265" y="2739"/>
                <a:ext cx="1348" cy="1166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sp>
          <p:nvSpPr>
            <p:cNvPr id="18442" name="Line 32"/>
            <p:cNvSpPr>
              <a:spLocks noChangeShapeType="1"/>
            </p:cNvSpPr>
            <p:nvPr/>
          </p:nvSpPr>
          <p:spPr bwMode="auto">
            <a:xfrm>
              <a:off x="1536" y="3373"/>
              <a:ext cx="3024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prstDash val="sysDot"/>
              <a:rou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3" name="Text Box 33"/>
            <p:cNvSpPr txBox="1">
              <a:spLocks noChangeArrowheads="1"/>
            </p:cNvSpPr>
            <p:nvPr/>
          </p:nvSpPr>
          <p:spPr bwMode="auto">
            <a:xfrm>
              <a:off x="1818" y="2976"/>
              <a:ext cx="997" cy="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zh-CN" altLang="en-US" sz="240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直线命令</a:t>
              </a:r>
              <a:endParaRPr lang="zh-CN" altLang="en-US" sz="24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8444" name="Text Box 34"/>
            <p:cNvSpPr txBox="1">
              <a:spLocks noChangeArrowheads="1"/>
            </p:cNvSpPr>
            <p:nvPr/>
          </p:nvSpPr>
          <p:spPr bwMode="gray">
            <a:xfrm>
              <a:off x="1260" y="3051"/>
              <a:ext cx="254" cy="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6</a:t>
              </a:r>
              <a:endParaRPr lang="en-US" altLang="zh-CN" sz="2400" b="1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2" name="Group 3"/>
          <p:cNvGrpSpPr/>
          <p:nvPr/>
        </p:nvGrpSpPr>
        <p:grpSpPr bwMode="auto">
          <a:xfrm rot="0">
            <a:off x="2045970" y="4185285"/>
            <a:ext cx="4791075" cy="537210"/>
            <a:chOff x="1152" y="1272"/>
            <a:chExt cx="3408" cy="451"/>
          </a:xfrm>
        </p:grpSpPr>
        <p:grpSp>
          <p:nvGrpSpPr>
            <p:cNvPr id="3" name="Group 4"/>
            <p:cNvGrpSpPr/>
            <p:nvPr/>
          </p:nvGrpSpPr>
          <p:grpSpPr bwMode="auto">
            <a:xfrm>
              <a:off x="1152" y="1275"/>
              <a:ext cx="480" cy="419"/>
              <a:chOff x="1110" y="2656"/>
              <a:chExt cx="1549" cy="1351"/>
            </a:xfrm>
          </p:grpSpPr>
          <p:sp>
            <p:nvSpPr>
              <p:cNvPr id="4" name="AutoShape 5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5" name="AutoShape 6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6" name="AutoShape 7"/>
              <p:cNvSpPr>
                <a:spLocks noChangeArrowheads="1"/>
              </p:cNvSpPr>
              <p:nvPr/>
            </p:nvSpPr>
            <p:spPr bwMode="gray">
              <a:xfrm>
                <a:off x="1201" y="2737"/>
                <a:ext cx="1348" cy="1169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100000">
                    <a:schemeClr val="hlink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sp>
          <p:nvSpPr>
            <p:cNvPr id="7" name="Line 8"/>
            <p:cNvSpPr>
              <a:spLocks noChangeShapeType="1"/>
            </p:cNvSpPr>
            <p:nvPr/>
          </p:nvSpPr>
          <p:spPr bwMode="auto">
            <a:xfrm>
              <a:off x="1536" y="1659"/>
              <a:ext cx="3024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prstDash val="sysDot"/>
              <a:rou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Text Box 9"/>
            <p:cNvSpPr txBox="1">
              <a:spLocks noChangeArrowheads="1"/>
            </p:cNvSpPr>
            <p:nvPr/>
          </p:nvSpPr>
          <p:spPr bwMode="auto">
            <a:xfrm>
              <a:off x="1818" y="1272"/>
              <a:ext cx="1648" cy="3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zh-CN" altLang="en-US" sz="2400" dirty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线型及属性修改</a:t>
              </a:r>
              <a:endParaRPr lang="zh-CN" altLang="en-US" sz="24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" name="Text Box 10"/>
            <p:cNvSpPr txBox="1">
              <a:spLocks noChangeArrowheads="1"/>
            </p:cNvSpPr>
            <p:nvPr/>
          </p:nvSpPr>
          <p:spPr bwMode="gray">
            <a:xfrm>
              <a:off x="1260" y="1337"/>
              <a:ext cx="254" cy="3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</a:t>
              </a:r>
              <a:endParaRPr lang="en-US" altLang="zh-CN" sz="2400" b="1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10" name="Group 27"/>
          <p:cNvGrpSpPr/>
          <p:nvPr/>
        </p:nvGrpSpPr>
        <p:grpSpPr bwMode="auto">
          <a:xfrm rot="0">
            <a:off x="2032000" y="2644140"/>
            <a:ext cx="4791075" cy="551180"/>
            <a:chOff x="1152" y="2976"/>
            <a:chExt cx="3408" cy="463"/>
          </a:xfrm>
        </p:grpSpPr>
        <p:grpSp>
          <p:nvGrpSpPr>
            <p:cNvPr id="11" name="Group 28"/>
            <p:cNvGrpSpPr/>
            <p:nvPr/>
          </p:nvGrpSpPr>
          <p:grpSpPr bwMode="auto">
            <a:xfrm>
              <a:off x="1152" y="2989"/>
              <a:ext cx="480" cy="419"/>
              <a:chOff x="3174" y="2656"/>
              <a:chExt cx="1549" cy="1351"/>
            </a:xfrm>
          </p:grpSpPr>
          <p:sp>
            <p:nvSpPr>
              <p:cNvPr id="12" name="AutoShape 29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13" name="AutoShape 30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14" name="AutoShape 31"/>
              <p:cNvSpPr>
                <a:spLocks noChangeArrowheads="1"/>
              </p:cNvSpPr>
              <p:nvPr/>
            </p:nvSpPr>
            <p:spPr bwMode="gray">
              <a:xfrm>
                <a:off x="3265" y="2739"/>
                <a:ext cx="1348" cy="1166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sp>
          <p:nvSpPr>
            <p:cNvPr id="15" name="Line 32"/>
            <p:cNvSpPr>
              <a:spLocks noChangeShapeType="1"/>
            </p:cNvSpPr>
            <p:nvPr/>
          </p:nvSpPr>
          <p:spPr bwMode="auto">
            <a:xfrm>
              <a:off x="1536" y="3373"/>
              <a:ext cx="3024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prstDash val="sysDot"/>
              <a:rou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Text Box 33"/>
            <p:cNvSpPr txBox="1">
              <a:spLocks noChangeArrowheads="1"/>
            </p:cNvSpPr>
            <p:nvPr/>
          </p:nvSpPr>
          <p:spPr bwMode="auto">
            <a:xfrm>
              <a:off x="1818" y="2976"/>
              <a:ext cx="1431" cy="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zh-CN" altLang="en-US" sz="240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设置绘图环境</a:t>
              </a:r>
              <a:endParaRPr lang="zh-CN" altLang="en-US" sz="24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7" name="Text Box 34"/>
            <p:cNvSpPr txBox="1">
              <a:spLocks noChangeArrowheads="1"/>
            </p:cNvSpPr>
            <p:nvPr/>
          </p:nvSpPr>
          <p:spPr bwMode="gray">
            <a:xfrm>
              <a:off x="1259" y="3051"/>
              <a:ext cx="256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4</a:t>
              </a:r>
              <a:endParaRPr lang="en-US" altLang="zh-CN" sz="2400" b="1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18" name="Group 3"/>
          <p:cNvGrpSpPr/>
          <p:nvPr/>
        </p:nvGrpSpPr>
        <p:grpSpPr bwMode="auto">
          <a:xfrm rot="0">
            <a:off x="2023110" y="1126490"/>
            <a:ext cx="4791075" cy="539750"/>
            <a:chOff x="1152" y="1272"/>
            <a:chExt cx="3408" cy="453"/>
          </a:xfrm>
        </p:grpSpPr>
        <p:grpSp>
          <p:nvGrpSpPr>
            <p:cNvPr id="19" name="Group 4"/>
            <p:cNvGrpSpPr/>
            <p:nvPr/>
          </p:nvGrpSpPr>
          <p:grpSpPr bwMode="auto">
            <a:xfrm>
              <a:off x="1152" y="1275"/>
              <a:ext cx="480" cy="419"/>
              <a:chOff x="1110" y="2656"/>
              <a:chExt cx="1549" cy="1351"/>
            </a:xfrm>
          </p:grpSpPr>
          <p:sp>
            <p:nvSpPr>
              <p:cNvPr id="20" name="AutoShape 5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1" name="AutoShape 6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2" name="AutoShape 7"/>
              <p:cNvSpPr>
                <a:spLocks noChangeArrowheads="1"/>
              </p:cNvSpPr>
              <p:nvPr/>
            </p:nvSpPr>
            <p:spPr bwMode="gray">
              <a:xfrm>
                <a:off x="1201" y="2737"/>
                <a:ext cx="1348" cy="1169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100000">
                    <a:schemeClr val="hlink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sp>
          <p:nvSpPr>
            <p:cNvPr id="23" name="Line 8"/>
            <p:cNvSpPr>
              <a:spLocks noChangeShapeType="1"/>
            </p:cNvSpPr>
            <p:nvPr/>
          </p:nvSpPr>
          <p:spPr bwMode="auto">
            <a:xfrm>
              <a:off x="1536" y="1659"/>
              <a:ext cx="3024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prstDash val="sysDot"/>
              <a:rou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Text Box 9"/>
            <p:cNvSpPr txBox="1">
              <a:spLocks noChangeArrowheads="1"/>
            </p:cNvSpPr>
            <p:nvPr/>
          </p:nvSpPr>
          <p:spPr bwMode="auto">
            <a:xfrm>
              <a:off x="1818" y="1272"/>
              <a:ext cx="2344" cy="3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zh-CN" altLang="en-US" sz="2400" dirty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AutoCAD的安装及卸载</a:t>
              </a:r>
              <a:endParaRPr lang="zh-CN" altLang="en-US" sz="24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5" name="Text Box 10"/>
            <p:cNvSpPr txBox="1">
              <a:spLocks noChangeArrowheads="1"/>
            </p:cNvSpPr>
            <p:nvPr/>
          </p:nvSpPr>
          <p:spPr bwMode="gray">
            <a:xfrm>
              <a:off x="1275" y="1337"/>
              <a:ext cx="224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2400" b="1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9"/>
          <p:cNvSpPr>
            <a:spLocks noChangeArrowheads="1"/>
          </p:cNvSpPr>
          <p:nvPr/>
        </p:nvSpPr>
        <p:spPr bwMode="auto">
          <a:xfrm>
            <a:off x="539750" y="971550"/>
            <a:ext cx="7957185" cy="2145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/>
          <a:p>
            <a:pPr indent="342900" defTabSz="685800" eaLnBrk="0" hangingPunct="0">
              <a:lnSpc>
                <a:spcPct val="150000"/>
              </a:lnSpc>
              <a:buClr>
                <a:srgbClr val="00B050"/>
              </a:buClr>
            </a:pPr>
            <a:r>
              <a:rPr kumimoji="1"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AutoCAD广泛应用于各种行业，不同行业对软件的绘图环境要求和常用功能模块不同，因此，在使用软件前需要进行相应的设置。首先需要会安装和卸载不同版本的AutoCAD，安装时一般要进行注册。</a:t>
            </a:r>
            <a:endParaRPr kumimoji="1"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342900" defTabSz="685800" eaLnBrk="0" hangingPunct="0">
              <a:lnSpc>
                <a:spcPct val="150000"/>
              </a:lnSpc>
              <a:buClr>
                <a:srgbClr val="00B050"/>
              </a:buClr>
            </a:pPr>
            <a:r>
              <a:rPr kumimoji="1"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通过软件中的图层功能、工程师可以将复杂图形分解成几个简单的模块分别进行绘制，这样就可以快速、准确、有条不紊地完成复杂工程图纸的设计。</a:t>
            </a:r>
            <a:endParaRPr kumimoji="1"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0483" name="Rectangle 2"/>
          <p:cNvSpPr txBox="1">
            <a:spLocks noChangeArrowheads="1"/>
          </p:cNvSpPr>
          <p:nvPr/>
        </p:nvSpPr>
        <p:spPr bwMode="auto">
          <a:xfrm>
            <a:off x="457200" y="244475"/>
            <a:ext cx="822960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通信工程制图软件基本操作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5" name="Rectangle 5"/>
          <p:cNvSpPr>
            <a:spLocks noChangeArrowheads="1"/>
          </p:cNvSpPr>
          <p:nvPr/>
        </p:nvSpPr>
        <p:spPr bwMode="auto">
          <a:xfrm>
            <a:off x="827405" y="923290"/>
            <a:ext cx="5723890" cy="358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/>
          <a:p>
            <a:pPr indent="342900" defTabSz="6858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1600" b="1" dirty="0">
                <a:latin typeface="楷体" panose="02010609060101010101" pitchFamily="49" charset="-122"/>
                <a:ea typeface="楷体" panose="02010609060101010101" pitchFamily="49" charset="-122"/>
              </a:rPr>
              <a:t>1．AutoCAD的安装</a:t>
            </a:r>
            <a:endParaRPr kumimoji="1" lang="zh-CN" altLang="en-US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342900" defTabSz="6858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AutoCAD的安装过程基本可以自动完成，但在安装过程中需要输入序列号和密钥，在安装说明文件中可找到相应的值。AutoCAD安装完成后还需要进行激活，不激活的话只有30天的使用期限。</a:t>
            </a:r>
            <a:endParaRPr kumimoji="1" lang="zh-CN" altLang="en-US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342900" defTabSz="6858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安装好后，进入“AutoCAD 经典”工作空间，第一次使用时，请设置好向导初始对话框，之后使用时会便利很多。</a:t>
            </a:r>
            <a:endParaRPr kumimoji="1" lang="zh-CN" altLang="en-US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342900" defTabSz="6858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在使用AutoCAD设计图纸时，要养成良好的绘图习惯，并请在PC硬盘中建立一个专用于工程制图的文件夹。</a:t>
            </a:r>
            <a:endParaRPr kumimoji="1" lang="zh-CN" altLang="en-US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342900" defTabSz="6858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1600" b="1" dirty="0">
                <a:latin typeface="楷体" panose="02010609060101010101" pitchFamily="49" charset="-122"/>
                <a:ea typeface="楷体" panose="02010609060101010101" pitchFamily="49" charset="-122"/>
              </a:rPr>
              <a:t>2．AutoCAD的卸载</a:t>
            </a:r>
            <a:endParaRPr kumimoji="1" lang="zh-CN" altLang="en-US" sz="1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342900" defTabSz="6858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按照正常软件的卸载方式进行卸载。</a:t>
            </a:r>
            <a:endParaRPr kumimoji="1" lang="zh-CN" altLang="en-US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457200" y="244475"/>
            <a:ext cx="8229600" cy="695325"/>
          </a:xfrm>
        </p:spPr>
        <p:txBody>
          <a:bodyPr/>
          <a:lstStyle/>
          <a:p>
            <a:pPr eaLnBrk="1" hangingPunct="1"/>
            <a:r>
              <a:rPr lang="en-US" altLang="zh-CN" sz="32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32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zh-CN" altLang="en-US" sz="32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AutoCAD的安装及卸载</a:t>
            </a:r>
            <a:endParaRPr lang="zh-CN" altLang="en-US" sz="3200" dirty="0" smtClean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8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84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84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484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484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484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32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、AutoCAD的操作界面</a:t>
            </a:r>
            <a:endParaRPr lang="zh-CN" altLang="en-US" sz="3200" dirty="0" smtClean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97535" y="843915"/>
            <a:ext cx="794829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不同版本的AutoCAD的操作界面会有所不同，但功能和结构基本相同，主要由标题栏、菜单栏、工具栏、绘图区、命令栏、状态栏组成。</a:t>
            </a:r>
            <a:endParaRPr lang="zh-CN" altLang="en-US" sz="1600"/>
          </a:p>
          <a:p>
            <a:endParaRPr lang="zh-CN" altLang="en-US" sz="1600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407795" y="1386205"/>
            <a:ext cx="6329045" cy="375729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>
            <a:spLocks noChangeArrowheads="1"/>
          </p:cNvSpPr>
          <p:nvPr/>
        </p:nvSpPr>
        <p:spPr bwMode="auto">
          <a:xfrm>
            <a:off x="539750" y="123825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、基本操作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75110" name="Rectangle 6"/>
          <p:cNvSpPr>
            <a:spLocks noChangeArrowheads="1"/>
          </p:cNvSpPr>
          <p:nvPr/>
        </p:nvSpPr>
        <p:spPr bwMode="auto">
          <a:xfrm>
            <a:off x="467790" y="628057"/>
            <a:ext cx="8570913" cy="3448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sz="24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楷体" panose="02010609060101010101" pitchFamily="49" charset="-122"/>
                <a:ea typeface="楷体" panose="02010609060101010101" pitchFamily="49" charset="-122"/>
              </a:rPr>
              <a:t>1．鼠标指针的状态</a:t>
            </a:r>
            <a:endParaRPr kumimoji="1" sz="24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sz="1800" dirty="0">
                <a:latin typeface="楷体" panose="02010609060101010101" pitchFamily="49" charset="-122"/>
                <a:ea typeface="楷体" panose="02010609060101010101" pitchFamily="49" charset="-122"/>
              </a:rPr>
              <a:t>绘图区中的鼠标指针有两种状态，即自由状态和执行命令状态，如  图2</a:t>
            </a:r>
            <a:r>
              <a:rPr kumimoji="1" lang="en-US" sz="1800" dirty="0"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r>
              <a:rPr kumimoji="1" sz="1800" dirty="0">
                <a:latin typeface="楷体" panose="02010609060101010101" pitchFamily="49" charset="-122"/>
                <a:ea typeface="楷体" panose="02010609060101010101" pitchFamily="49" charset="-122"/>
              </a:rPr>
              <a:t>7所示。鼠标指针中间有小方格时，鼠标指针处于自由状态，可以执行下一个命令。鼠标指针中间没有小方格时，说明鼠标指针正在执行命令，此时可以根据命令栏的提示完成当前命令的操作。如果鼠标指针处于执行命令状态时想终止当前命令，可按Esc键退出当前命令，鼠标指针变为自由状态。在绘图时一定要注意观察鼠标指针的状态和命令栏的提示。</a:t>
            </a:r>
            <a:endParaRPr kumimoji="1" sz="1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endParaRPr kumimoji="1" sz="1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endParaRPr kumimoji="1" sz="1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965960" y="3332480"/>
            <a:ext cx="5212080" cy="1706880"/>
            <a:chOff x="3096" y="4958"/>
            <a:chExt cx="8208" cy="2688"/>
          </a:xfrm>
        </p:grpSpPr>
        <p:pic>
          <p:nvPicPr>
            <p:cNvPr id="2" name="图片 -2147482472" descr="2-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096" y="4958"/>
              <a:ext cx="8208" cy="197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" name="文本框 2"/>
            <p:cNvSpPr txBox="1"/>
            <p:nvPr/>
          </p:nvSpPr>
          <p:spPr>
            <a:xfrm>
              <a:off x="4446" y="6936"/>
              <a:ext cx="5508" cy="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indent="457200" algn="l" eaLnBrk="0" hangingPunct="0">
                <a:lnSpc>
                  <a:spcPct val="130000"/>
                </a:lnSpc>
                <a:buClr>
                  <a:srgbClr val="00B050"/>
                </a:buClr>
              </a:pPr>
              <a:r>
                <a:rPr kumimoji="1" dirty="0">
                  <a:latin typeface="楷体" panose="02010609060101010101" pitchFamily="49" charset="-122"/>
                  <a:ea typeface="楷体" panose="02010609060101010101" pitchFamily="49" charset="-122"/>
                  <a:sym typeface="+mn-ea"/>
                </a:rPr>
                <a:t>图2-7  鼠标指针的两种状态</a:t>
              </a:r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>
            <a:spLocks noChangeArrowheads="1"/>
          </p:cNvSpPr>
          <p:nvPr/>
        </p:nvSpPr>
        <p:spPr bwMode="auto">
          <a:xfrm>
            <a:off x="539750" y="123825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、基本操作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75110" name="Rectangle 6"/>
          <p:cNvSpPr>
            <a:spLocks noChangeArrowheads="1"/>
          </p:cNvSpPr>
          <p:nvPr/>
        </p:nvSpPr>
        <p:spPr bwMode="auto">
          <a:xfrm>
            <a:off x="467790" y="628057"/>
            <a:ext cx="8570913" cy="4168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sz="24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楷体" panose="02010609060101010101" pitchFamily="49" charset="-122"/>
                <a:ea typeface="楷体" panose="02010609060101010101" pitchFamily="49" charset="-122"/>
              </a:rPr>
              <a:t>2．鼠标的功能</a:t>
            </a:r>
            <a:endParaRPr kumimoji="1" sz="24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sz="1800" dirty="0">
                <a:latin typeface="楷体" panose="02010609060101010101" pitchFamily="49" charset="-122"/>
                <a:ea typeface="楷体" panose="02010609060101010101" pitchFamily="49" charset="-122"/>
              </a:rPr>
              <a:t>鼠标有左键、右键、滚轴3个按键，熟练掌握它们的功能可以快速绘图。</a:t>
            </a:r>
            <a:endParaRPr kumimoji="1" sz="1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sz="1800" dirty="0">
                <a:latin typeface="楷体" panose="02010609060101010101" pitchFamily="49" charset="-122"/>
                <a:ea typeface="楷体" panose="02010609060101010101" pitchFamily="49" charset="-122"/>
              </a:rPr>
              <a:t>左键：执行命令状态时有确定的功能，也有选择的功能。</a:t>
            </a:r>
            <a:endParaRPr kumimoji="1" sz="1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sz="1800" dirty="0">
                <a:latin typeface="楷体" panose="02010609060101010101" pitchFamily="49" charset="-122"/>
                <a:ea typeface="楷体" panose="02010609060101010101" pitchFamily="49" charset="-122"/>
              </a:rPr>
              <a:t>右键：鼠标指针为自由状态时，可直接进行重复上一次操作、复制粘贴、平移缩放等操作；鼠标指针为执行命令状态时，一般有取消的功能。</a:t>
            </a:r>
            <a:endParaRPr kumimoji="1" sz="1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sz="1800" dirty="0">
                <a:latin typeface="楷体" panose="02010609060101010101" pitchFamily="49" charset="-122"/>
                <a:ea typeface="楷体" panose="02010609060101010101" pitchFamily="49" charset="-122"/>
              </a:rPr>
              <a:t>滚轴：向上滚动有以鼠标所在点放大视图的功能；向下滚动有以鼠标所在点缩小视图的功能；将滚轴按住不动，绘图区的鼠标指针会变成小手的图标，此时可以平移绘图区的图形；双击滚轴可以最大化视图（将绘图区中的图形最大化在用户的视野中）。</a:t>
            </a:r>
            <a:endParaRPr kumimoji="1" sz="1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endParaRPr kumimoji="1" sz="1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endParaRPr kumimoji="1" sz="1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>
            <a:spLocks noChangeArrowheads="1"/>
          </p:cNvSpPr>
          <p:nvPr/>
        </p:nvSpPr>
        <p:spPr bwMode="auto">
          <a:xfrm>
            <a:off x="539750" y="123825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、基本操作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75110" name="Rectangle 6"/>
          <p:cNvSpPr>
            <a:spLocks noChangeArrowheads="1"/>
          </p:cNvSpPr>
          <p:nvPr/>
        </p:nvSpPr>
        <p:spPr bwMode="auto">
          <a:xfrm>
            <a:off x="467995" y="628015"/>
            <a:ext cx="8030845" cy="3448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sz="24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楷体" panose="02010609060101010101" pitchFamily="49" charset="-122"/>
                <a:ea typeface="楷体" panose="02010609060101010101" pitchFamily="49" charset="-122"/>
              </a:rPr>
              <a:t>3．键盘常用按键功能</a:t>
            </a:r>
            <a:endParaRPr kumimoji="1" sz="24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sz="1800" dirty="0">
                <a:latin typeface="楷体" panose="02010609060101010101" pitchFamily="49" charset="-122"/>
                <a:ea typeface="楷体" panose="02010609060101010101" pitchFamily="49" charset="-122"/>
              </a:rPr>
              <a:t>在制图中，一般右手控制鼠标，左手控制键盘。键盘中有几个按键有特殊的功能。</a:t>
            </a:r>
            <a:endParaRPr kumimoji="1" sz="1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sz="1800" dirty="0">
                <a:latin typeface="楷体" panose="02010609060101010101" pitchFamily="49" charset="-122"/>
                <a:ea typeface="楷体" panose="02010609060101010101" pitchFamily="49" charset="-122"/>
              </a:rPr>
              <a:t>Esc键：退出当前命令。</a:t>
            </a:r>
            <a:endParaRPr kumimoji="1" sz="1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sz="1800" dirty="0">
                <a:latin typeface="楷体" panose="02010609060101010101" pitchFamily="49" charset="-122"/>
                <a:ea typeface="楷体" panose="02010609060101010101" pitchFamily="49" charset="-122"/>
              </a:rPr>
              <a:t>Enter键：鼠标指针为自由状态时有重复上一次命令的功能。</a:t>
            </a:r>
            <a:endParaRPr kumimoji="1" sz="1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sz="1800" dirty="0">
                <a:latin typeface="楷体" panose="02010609060101010101" pitchFamily="49" charset="-122"/>
                <a:ea typeface="楷体" panose="02010609060101010101" pitchFamily="49" charset="-122"/>
              </a:rPr>
              <a:t>空格键：鼠标指针为自由状态时有重复上一次命令的功能（同Enter键）；鼠标指针为执行命令状态时有确定等功能。</a:t>
            </a:r>
            <a:endParaRPr kumimoji="1" sz="1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sz="1800" dirty="0">
                <a:latin typeface="楷体" panose="02010609060101010101" pitchFamily="49" charset="-122"/>
                <a:ea typeface="楷体" panose="02010609060101010101" pitchFamily="49" charset="-122"/>
              </a:rPr>
              <a:t>Delete键：删除键，需要先选中要删除的对象。</a:t>
            </a:r>
            <a:endParaRPr kumimoji="1" sz="1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endParaRPr kumimoji="1" sz="1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>
            <a:spLocks noChangeArrowheads="1"/>
          </p:cNvSpPr>
          <p:nvPr/>
        </p:nvSpPr>
        <p:spPr bwMode="auto">
          <a:xfrm>
            <a:off x="539750" y="123825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、基本操作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75110" name="Rectangle 6"/>
          <p:cNvSpPr>
            <a:spLocks noChangeArrowheads="1"/>
          </p:cNvSpPr>
          <p:nvPr/>
        </p:nvSpPr>
        <p:spPr bwMode="auto">
          <a:xfrm>
            <a:off x="467995" y="628015"/>
            <a:ext cx="8458835" cy="2369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sz="24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楷体" panose="02010609060101010101" pitchFamily="49" charset="-122"/>
                <a:ea typeface="楷体" panose="02010609060101010101" pitchFamily="49" charset="-122"/>
              </a:rPr>
              <a:t>4．命令的输入方法</a:t>
            </a:r>
            <a:endParaRPr kumimoji="1" sz="24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sz="1800" dirty="0">
                <a:latin typeface="楷体" panose="02010609060101010101" pitchFamily="49" charset="-122"/>
                <a:ea typeface="楷体" panose="02010609060101010101" pitchFamily="49" charset="-122"/>
              </a:rPr>
              <a:t>AutoCAD中的命令有3种输入方法，即命令行输入、工具栏输入和菜单栏输入。</a:t>
            </a:r>
            <a:endParaRPr kumimoji="1" sz="1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sz="1800" dirty="0">
                <a:latin typeface="楷体" panose="02010609060101010101" pitchFamily="49" charset="-122"/>
                <a:ea typeface="楷体" panose="02010609060101010101" pitchFamily="49" charset="-122"/>
              </a:rPr>
              <a:t>◆  命令行输入：从键盘输入快捷键或英文命令全称。</a:t>
            </a:r>
            <a:endParaRPr kumimoji="1" sz="1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sz="1800" dirty="0">
                <a:latin typeface="楷体" panose="02010609060101010101" pitchFamily="49" charset="-122"/>
                <a:ea typeface="楷体" panose="02010609060101010101" pitchFamily="49" charset="-122"/>
              </a:rPr>
              <a:t>◆  工具栏输入：工具栏上的命令按钮。</a:t>
            </a:r>
            <a:endParaRPr kumimoji="1" sz="1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sz="1800" dirty="0">
                <a:latin typeface="楷体" panose="02010609060101010101" pitchFamily="49" charset="-122"/>
                <a:ea typeface="楷体" panose="02010609060101010101" pitchFamily="49" charset="-122"/>
              </a:rPr>
              <a:t>◆  菜单栏输入：菜单中的命令。</a:t>
            </a:r>
            <a:endParaRPr kumimoji="1" sz="1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endParaRPr kumimoji="1" sz="1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>
            <a:spLocks noChangeArrowheads="1"/>
          </p:cNvSpPr>
          <p:nvPr/>
        </p:nvSpPr>
        <p:spPr bwMode="auto">
          <a:xfrm>
            <a:off x="539750" y="123825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、基本操作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75110" name="Rectangle 6"/>
          <p:cNvSpPr>
            <a:spLocks noChangeArrowheads="1"/>
          </p:cNvSpPr>
          <p:nvPr/>
        </p:nvSpPr>
        <p:spPr bwMode="auto">
          <a:xfrm>
            <a:off x="467995" y="628015"/>
            <a:ext cx="8030845" cy="2328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sz="24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5．文件的管理</a:t>
            </a:r>
            <a:endParaRPr kumimoji="1" sz="24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sz="1400" dirty="0">
                <a:latin typeface="楷体" panose="02010609060101010101" pitchFamily="49" charset="-122"/>
                <a:ea typeface="楷体" panose="02010609060101010101" pitchFamily="49" charset="-122"/>
              </a:rPr>
              <a:t>常用的文件类型有*.dwg（标准图形文件）、*.dwt（样板图形）、*.dwf（网络设计文件）、*.dxf（网络设计格式）、*.bak（备份文件）。</a:t>
            </a:r>
            <a:endParaRPr kumimoji="1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sz="1400" dirty="0">
                <a:latin typeface="楷体" panose="02010609060101010101" pitchFamily="49" charset="-122"/>
                <a:ea typeface="楷体" panose="02010609060101010101" pitchFamily="49" charset="-122"/>
              </a:rPr>
              <a:t>新建图形文件：选择样板文件（*.dwt），如图2</a:t>
            </a:r>
            <a:r>
              <a:rPr kumimoji="1" 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r>
              <a:rPr kumimoji="1" sz="1400" dirty="0">
                <a:latin typeface="楷体" panose="02010609060101010101" pitchFamily="49" charset="-122"/>
                <a:ea typeface="楷体" panose="02010609060101010101" pitchFamily="49" charset="-122"/>
              </a:rPr>
              <a:t>8所示。注意要确认是绘制二维图形还是三维图形，如果是绘制二维图形，可以选择acad.dwt和acadiso.dwt，不要选择样板文件名中带“3D”字样的样板。</a:t>
            </a:r>
            <a:endParaRPr kumimoji="1" sz="1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endParaRPr kumimoji="1" sz="1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842895" y="2284095"/>
            <a:ext cx="3457575" cy="2921245"/>
            <a:chOff x="3912" y="3597"/>
            <a:chExt cx="5866" cy="4763"/>
          </a:xfrm>
        </p:grpSpPr>
        <p:pic>
          <p:nvPicPr>
            <p:cNvPr id="2" name="图片 -214748258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912" y="3597"/>
              <a:ext cx="5866" cy="426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" name="文本框 3"/>
            <p:cNvSpPr txBox="1"/>
            <p:nvPr/>
          </p:nvSpPr>
          <p:spPr>
            <a:xfrm>
              <a:off x="6460" y="7860"/>
              <a:ext cx="770" cy="5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/>
                <a:t>2-8</a:t>
              </a:r>
              <a:endParaRPr lang="en-US" altLang="zh-CN" sz="14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>
            <a:spLocks noChangeArrowheads="1"/>
          </p:cNvSpPr>
          <p:nvPr/>
        </p:nvSpPr>
        <p:spPr bwMode="auto">
          <a:xfrm>
            <a:off x="539750" y="123825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、基本操作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75110" name="Rectangle 6"/>
          <p:cNvSpPr>
            <a:spLocks noChangeArrowheads="1"/>
          </p:cNvSpPr>
          <p:nvPr/>
        </p:nvSpPr>
        <p:spPr bwMode="auto">
          <a:xfrm>
            <a:off x="467995" y="628015"/>
            <a:ext cx="8030845" cy="308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sz="24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楷体" panose="02010609060101010101" pitchFamily="49" charset="-122"/>
                <a:ea typeface="楷体" panose="02010609060101010101" pitchFamily="49" charset="-122"/>
              </a:rPr>
              <a:t>6．对象的选择</a:t>
            </a:r>
            <a:endParaRPr kumimoji="1" sz="24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sz="1800" dirty="0">
                <a:latin typeface="楷体" panose="02010609060101010101" pitchFamily="49" charset="-122"/>
                <a:ea typeface="楷体" panose="02010609060101010101" pitchFamily="49" charset="-122"/>
              </a:rPr>
              <a:t>绘图区的每一个图形元素称为对象，对象的选择有以下3种常用方式。</a:t>
            </a:r>
            <a:endParaRPr kumimoji="1" sz="1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sz="1800" dirty="0">
                <a:latin typeface="楷体" panose="02010609060101010101" pitchFamily="49" charset="-122"/>
                <a:ea typeface="楷体" panose="02010609060101010101" pitchFamily="49" charset="-122"/>
              </a:rPr>
              <a:t>点选：鼠标左键单击需要选择的对象，可连续选择。</a:t>
            </a:r>
            <a:endParaRPr kumimoji="1" sz="1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sz="1800" dirty="0">
                <a:latin typeface="楷体" panose="02010609060101010101" pitchFamily="49" charset="-122"/>
                <a:ea typeface="楷体" panose="02010609060101010101" pitchFamily="49" charset="-122"/>
              </a:rPr>
              <a:t>框选：左右框选对象时，要将需要选中的对象全部包含在框中；右左框选为反选，只需要将对象的部分选中。</a:t>
            </a:r>
            <a:endParaRPr kumimoji="1" sz="1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sz="1800" dirty="0">
                <a:latin typeface="楷体" panose="02010609060101010101" pitchFamily="49" charset="-122"/>
                <a:ea typeface="楷体" panose="02010609060101010101" pitchFamily="49" charset="-122"/>
              </a:rPr>
              <a:t>全选：快捷键Ctrl+A。</a:t>
            </a:r>
            <a:endParaRPr kumimoji="1" sz="1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sz="1800" dirty="0">
                <a:latin typeface="楷体" panose="02010609060101010101" pitchFamily="49" charset="-122"/>
                <a:ea typeface="楷体" panose="02010609060101010101" pitchFamily="49" charset="-122"/>
              </a:rPr>
              <a:t>一般选择少数对象时用点选方式，选择某个区域中的多个对象时，采用框选方式。注意学会根据需要采用左右框选方式还是右左框选方式。</a:t>
            </a:r>
            <a:endParaRPr kumimoji="1" sz="1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>
            <a:spLocks noChangeArrowheads="1"/>
          </p:cNvSpPr>
          <p:nvPr/>
        </p:nvSpPr>
        <p:spPr bwMode="auto">
          <a:xfrm>
            <a:off x="539750" y="123825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、基本操作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75110" name="Rectangle 6"/>
          <p:cNvSpPr>
            <a:spLocks noChangeArrowheads="1"/>
          </p:cNvSpPr>
          <p:nvPr/>
        </p:nvSpPr>
        <p:spPr bwMode="auto">
          <a:xfrm>
            <a:off x="467995" y="628015"/>
            <a:ext cx="8030845" cy="332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sz="24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楷体" panose="02010609060101010101" pitchFamily="49" charset="-122"/>
                <a:ea typeface="楷体" panose="02010609060101010101" pitchFamily="49" charset="-122"/>
              </a:rPr>
              <a:t>7．绘图区视图显示</a:t>
            </a:r>
            <a:endParaRPr kumimoji="1" sz="24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sz="1800" dirty="0">
                <a:latin typeface="楷体" panose="02010609060101010101" pitchFamily="49" charset="-122"/>
                <a:ea typeface="楷体" panose="02010609060101010101" pitchFamily="49" charset="-122"/>
              </a:rPr>
              <a:t>绘图区视图显示可通过选择【视图】→【二维导航】命令来选择合适的缩放方式。也可通过视图的缩放命令（ZOOM）来实现。ZOOM命令的快捷键是Z，输入Z后，命令栏会有下面所示的提示选项。</a:t>
            </a:r>
            <a:endParaRPr kumimoji="1" sz="1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sz="1400" dirty="0">
                <a:latin typeface="楷体" panose="02010609060101010101" pitchFamily="49" charset="-122"/>
                <a:ea typeface="楷体" panose="02010609060101010101" pitchFamily="49" charset="-122"/>
              </a:rPr>
              <a:t>[全部(A)/中心(C)/动态(D)/范围(E)/上一个(P)/比例(S)/窗口(W)/对象(O)]</a:t>
            </a:r>
            <a:endParaRPr kumimoji="1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sz="1400" dirty="0">
                <a:latin typeface="楷体" panose="02010609060101010101" pitchFamily="49" charset="-122"/>
                <a:ea typeface="楷体" panose="02010609060101010101" pitchFamily="49" charset="-122"/>
              </a:rPr>
              <a:t>//全部(A)：显示当前视区中图形界线的全部图形。</a:t>
            </a:r>
            <a:endParaRPr kumimoji="1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sz="1400" dirty="0">
                <a:latin typeface="楷体" panose="02010609060101010101" pitchFamily="49" charset="-122"/>
                <a:ea typeface="楷体" panose="02010609060101010101" pitchFamily="49" charset="-122"/>
              </a:rPr>
              <a:t>//中心(C)：表示指定一个新的画面中心，然后输入缩放倍数，重新确定显示窗口的位置。</a:t>
            </a:r>
            <a:endParaRPr kumimoji="1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sz="1400" dirty="0">
                <a:latin typeface="楷体" panose="02010609060101010101" pitchFamily="49" charset="-122"/>
                <a:ea typeface="楷体" panose="02010609060101010101" pitchFamily="49" charset="-122"/>
              </a:rPr>
              <a:t>//动态(D)：进入动态缩放/平移方式，当前视区中显示出全部图形。</a:t>
            </a:r>
            <a:endParaRPr kumimoji="1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sz="1400" dirty="0">
                <a:latin typeface="楷体" panose="02010609060101010101" pitchFamily="49" charset="-122"/>
                <a:ea typeface="楷体" panose="02010609060101010101" pitchFamily="49" charset="-122"/>
              </a:rPr>
              <a:t>//上一个(P)：显示前一视图。</a:t>
            </a:r>
            <a:endParaRPr kumimoji="1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sz="1400" dirty="0">
                <a:latin typeface="楷体" panose="02010609060101010101" pitchFamily="49" charset="-122"/>
                <a:ea typeface="楷体" panose="02010609060101010101" pitchFamily="49" charset="-122"/>
              </a:rPr>
              <a:t>//窗口(W)：当要将图形的某一部分进行放大显示时，可利用窗口缩放视图方式来调整。</a:t>
            </a:r>
            <a:endParaRPr kumimoji="1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ChangeArrowheads="1"/>
          </p:cNvSpPr>
          <p:nvPr/>
        </p:nvSpPr>
        <p:spPr bwMode="auto">
          <a:xfrm>
            <a:off x="332740" y="800100"/>
            <a:ext cx="8495665" cy="409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sz="2000" dirty="0">
                <a:latin typeface="楷体" panose="02010609060101010101" pitchFamily="49" charset="-122"/>
                <a:ea typeface="楷体" panose="02010609060101010101" pitchFamily="49" charset="-122"/>
              </a:rPr>
              <a:t>1．绘图区的基本设置</a:t>
            </a:r>
            <a:endParaRPr kumimoji="1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sz="2000" dirty="0">
                <a:latin typeface="楷体" panose="02010609060101010101" pitchFamily="49" charset="-122"/>
                <a:ea typeface="楷体" panose="02010609060101010101" pitchFamily="49" charset="-122"/>
              </a:rPr>
              <a:t>AutoCAD的操作界面中心是绘图区，所有的绘图结果都反映在这个区域中。通常打开AutoCAD后的默认设置界面为模型空间，这是一个没有任何边界、无限大的多层区域。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kumimoji="1"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2．绘图单位（UNITS/UN）的设置</a:t>
            </a:r>
            <a:endParaRPr kumimoji="1"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AutoCAD提供了适合各种类型图样的绘图单位，在开始绘制一张新图之前，首先应该设置单位类型。</a:t>
            </a:r>
            <a:endParaRPr kumimoji="1"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3．选项命令（OPTIONS/OP）</a:t>
            </a:r>
            <a:endParaRPr kumimoji="1"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在命令栏中输入“OP”或鼠标指针为自由状态时用鼠标右键单击绘图区空白处，选择【选项】命令即可进入【选项】对话框</a:t>
            </a:r>
            <a:endParaRPr kumimoji="1"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499332" y="123478"/>
            <a:ext cx="8229600" cy="695325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sz="3200" kern="1200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4</a:t>
            </a:r>
            <a:r>
              <a:rPr lang="zh-CN" altLang="en-US" sz="3200" kern="1200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、设置绘图环境</a:t>
            </a:r>
            <a:endParaRPr lang="en-US" altLang="zh-CN" sz="3200" kern="1200" dirty="0"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4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66" grpId="0"/>
      <p:bldP spid="164866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9332" y="123478"/>
            <a:ext cx="8229600" cy="695325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sz="3200" kern="1200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5</a:t>
            </a:r>
            <a:r>
              <a:rPr lang="zh-CN" altLang="en-US" sz="3200" kern="1200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、坐标系统</a:t>
            </a:r>
            <a:endParaRPr lang="zh-CN" altLang="en-US" sz="3200" kern="1200" dirty="0"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9113" y="915566"/>
            <a:ext cx="8229600" cy="2226310"/>
          </a:xfrm>
          <a:noFill/>
          <a:ln>
            <a:noFill/>
          </a:ln>
        </p:spPr>
        <p:txBody>
          <a:bodyPr lIns="68580" tIns="34290" rIns="68580" bIns="34290">
            <a:spAutoFit/>
          </a:bodyPr>
          <a:lstStyle/>
          <a:p>
            <a:pPr indent="0" defTabSz="685800">
              <a:lnSpc>
                <a:spcPct val="130000"/>
              </a:lnSpc>
              <a:spcBef>
                <a:spcPct val="0"/>
              </a:spcBef>
              <a:buClr>
                <a:srgbClr val="00B050"/>
              </a:buClr>
              <a:buNone/>
            </a:pPr>
            <a:r>
              <a:rPr kumimoji="1" lang="zh-CN" altLang="en-US" sz="18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utoCAD中提供了多种坐标系统以便用户绘图，世界坐标系（WCS）是绘制和编辑图形过程中的基本坐标系统，也是进入软件后的默认坐标系统。WCS由正交于原点的x、y、z轴组成，WCS的坐标原点和坐标轴是固定的，不会随制图人员的操作而发生变化。</a:t>
            </a:r>
            <a:endParaRPr kumimoji="1" lang="zh-CN" altLang="en-US" sz="1800" kern="1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0" defTabSz="685800">
              <a:lnSpc>
                <a:spcPct val="130000"/>
              </a:lnSpc>
              <a:spcBef>
                <a:spcPct val="0"/>
              </a:spcBef>
              <a:buClr>
                <a:srgbClr val="00B050"/>
              </a:buClr>
              <a:buNone/>
            </a:pPr>
            <a:r>
              <a:rPr kumimoji="1" lang="zh-CN" altLang="en-US" sz="18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1．直角坐标：（x,y）</a:t>
            </a:r>
            <a:endParaRPr kumimoji="1" lang="zh-CN" altLang="en-US" sz="1800" kern="1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0" defTabSz="685800">
              <a:lnSpc>
                <a:spcPct val="130000"/>
              </a:lnSpc>
              <a:spcBef>
                <a:spcPct val="0"/>
              </a:spcBef>
              <a:buClr>
                <a:srgbClr val="00B050"/>
              </a:buClr>
              <a:buNone/>
            </a:pPr>
            <a:r>
              <a:rPr kumimoji="1" lang="zh-CN" altLang="en-US" sz="18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2．极坐标：（l&lt;α）</a:t>
            </a:r>
            <a:endParaRPr kumimoji="1" lang="zh-CN" altLang="en-US" sz="1800" kern="1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sz="3200" kern="1200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6</a:t>
            </a:r>
            <a:r>
              <a:rPr lang="zh-CN" altLang="en-US" sz="3200" kern="1200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、</a:t>
            </a:r>
            <a:r>
              <a:rPr sz="3200" kern="1200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直线命令（LINE/L）</a:t>
            </a:r>
            <a:endParaRPr sz="3200" kern="1200" dirty="0"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9430" y="915670"/>
            <a:ext cx="8475980" cy="2948305"/>
          </a:xfrm>
          <a:noFill/>
          <a:ln>
            <a:noFill/>
          </a:ln>
        </p:spPr>
        <p:txBody>
          <a:bodyPr wrap="square" lIns="68580" tIns="34290" rIns="68580" bIns="34290">
            <a:spAutoFit/>
          </a:bodyPr>
          <a:lstStyle/>
          <a:p>
            <a:pPr indent="0" defTabSz="685800">
              <a:lnSpc>
                <a:spcPct val="130000"/>
              </a:lnSpc>
              <a:spcBef>
                <a:spcPct val="0"/>
              </a:spcBef>
              <a:buClr>
                <a:srgbClr val="00B050"/>
              </a:buClr>
              <a:buNone/>
            </a:pPr>
            <a:r>
              <a:rPr kumimoji="1" lang="zh-CN" altLang="en-US" sz="16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直线画法简单，确定起点和终点即可。在直线命令学习过程中，注意熟练使用直角坐标和极坐标，相对坐标和绝对坐标。使用直线命令时，命令栏提示如下。</a:t>
            </a:r>
            <a:endParaRPr kumimoji="1" lang="zh-CN" altLang="en-US" sz="1600" kern="1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0" defTabSz="685800">
              <a:lnSpc>
                <a:spcPct val="130000"/>
              </a:lnSpc>
              <a:spcBef>
                <a:spcPct val="0"/>
              </a:spcBef>
              <a:buClr>
                <a:srgbClr val="00B050"/>
              </a:buClr>
              <a:buNone/>
            </a:pPr>
            <a:r>
              <a:rPr kumimoji="1" lang="zh-CN" altLang="en-US" sz="16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LINE 指定第一点:			</a:t>
            </a:r>
            <a:r>
              <a:rPr kumimoji="1" lang="en-US" altLang="zh-CN" sz="16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kumimoji="1" lang="zh-CN" altLang="en-US" sz="16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//单击确定起点</a:t>
            </a:r>
            <a:endParaRPr kumimoji="1" lang="zh-CN" altLang="en-US" sz="1600" kern="1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0" defTabSz="685800">
              <a:lnSpc>
                <a:spcPct val="130000"/>
              </a:lnSpc>
              <a:spcBef>
                <a:spcPct val="0"/>
              </a:spcBef>
              <a:buClr>
                <a:srgbClr val="00B050"/>
              </a:buClr>
              <a:buNone/>
            </a:pPr>
            <a:r>
              <a:rPr kumimoji="1" lang="zh-CN" altLang="en-US" sz="16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指定下一点或 [放弃(U)]:		</a:t>
            </a:r>
            <a:r>
              <a:rPr kumimoji="1" lang="en-US" altLang="zh-CN" sz="16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kumimoji="1" lang="zh-CN" altLang="en-US" sz="16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//单击确定终点，第一条直线绘制好了</a:t>
            </a:r>
            <a:endParaRPr kumimoji="1" lang="zh-CN" altLang="en-US" sz="1600" kern="1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0" defTabSz="685800">
              <a:lnSpc>
                <a:spcPct val="130000"/>
              </a:lnSpc>
              <a:spcBef>
                <a:spcPct val="0"/>
              </a:spcBef>
              <a:buClr>
                <a:srgbClr val="00B050"/>
              </a:buClr>
              <a:buNone/>
            </a:pPr>
            <a:r>
              <a:rPr kumimoji="1" lang="zh-CN" altLang="en-US" sz="16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指定下一点或 [放弃(U)]:		</a:t>
            </a:r>
            <a:r>
              <a:rPr kumimoji="1" lang="en-US" altLang="zh-CN" sz="16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kumimoji="1" lang="zh-CN" altLang="en-US" sz="16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//绘制第二条直线；[ ]里面的内容为可选项</a:t>
            </a:r>
            <a:endParaRPr kumimoji="1" lang="zh-CN" altLang="en-US" sz="1600" kern="1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0" defTabSz="685800">
              <a:lnSpc>
                <a:spcPct val="130000"/>
              </a:lnSpc>
              <a:spcBef>
                <a:spcPct val="0"/>
              </a:spcBef>
              <a:buClr>
                <a:srgbClr val="00B050"/>
              </a:buClr>
              <a:buNone/>
            </a:pPr>
            <a:r>
              <a:rPr kumimoji="1" lang="zh-CN" altLang="en-US" sz="16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指定下一点或 [闭合(C)/放弃(U)]:</a:t>
            </a:r>
            <a:r>
              <a:rPr kumimoji="1" lang="en-US" altLang="zh-CN" sz="16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kumimoji="1" lang="zh-CN" altLang="en-US" sz="16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//( )内为可选项命令的快捷键</a:t>
            </a:r>
            <a:endParaRPr kumimoji="1" lang="zh-CN" altLang="en-US" sz="1600" kern="1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0" defTabSz="685800">
              <a:lnSpc>
                <a:spcPct val="130000"/>
              </a:lnSpc>
              <a:spcBef>
                <a:spcPct val="0"/>
              </a:spcBef>
              <a:buClr>
                <a:srgbClr val="00B050"/>
              </a:buClr>
              <a:buNone/>
            </a:pPr>
            <a:r>
              <a:rPr kumimoji="1" lang="zh-CN" altLang="en-US" sz="16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指定下一点或 [闭合(C)/放弃(U)]:</a:t>
            </a:r>
            <a:r>
              <a:rPr kumimoji="1" lang="en-US" altLang="zh-CN" sz="16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kumimoji="1" lang="zh-CN" altLang="en-US" sz="16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//前一点绘制错误可输入U，然后按Enter键；</a:t>
            </a:r>
            <a:endParaRPr kumimoji="1" lang="zh-CN" altLang="en-US" sz="1600" kern="1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0" defTabSz="685800">
              <a:lnSpc>
                <a:spcPct val="130000"/>
              </a:lnSpc>
              <a:spcBef>
                <a:spcPct val="0"/>
              </a:spcBef>
              <a:buClr>
                <a:srgbClr val="00B050"/>
              </a:buClr>
              <a:buNone/>
            </a:pPr>
            <a:r>
              <a:rPr kumimoji="1" lang="zh-CN" altLang="en-US" sz="16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				</a:t>
            </a:r>
            <a:r>
              <a:rPr kumimoji="1" lang="en-US" altLang="zh-CN" sz="16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    </a:t>
            </a:r>
            <a:r>
              <a:rPr kumimoji="1" lang="zh-CN" altLang="en-US" sz="16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//与第一条直线的起点闭合，请输入快捷键C，</a:t>
            </a:r>
            <a:endParaRPr kumimoji="1" lang="zh-CN" altLang="en-US" sz="1600" kern="1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0" defTabSz="685800">
              <a:lnSpc>
                <a:spcPct val="130000"/>
              </a:lnSpc>
              <a:spcBef>
                <a:spcPct val="0"/>
              </a:spcBef>
              <a:buClr>
                <a:srgbClr val="00B050"/>
              </a:buClr>
              <a:buNone/>
            </a:pPr>
            <a:r>
              <a:rPr kumimoji="1" lang="zh-CN" altLang="en-US" sz="16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				</a:t>
            </a:r>
            <a:r>
              <a:rPr kumimoji="1" lang="en-US" altLang="zh-CN" sz="16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    </a:t>
            </a:r>
            <a:r>
              <a:rPr kumimoji="1" lang="zh-CN" altLang="en-US" sz="16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//然后按Enter键</a:t>
            </a:r>
            <a:endParaRPr kumimoji="1" lang="zh-CN" altLang="en-US" sz="1600" kern="1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6"/>
          <p:cNvSpPr txBox="1">
            <a:spLocks noChangeArrowheads="1"/>
          </p:cNvSpPr>
          <p:nvPr/>
        </p:nvSpPr>
        <p:spPr bwMode="auto">
          <a:xfrm>
            <a:off x="467995" y="267970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sz="3200" b="1" dirty="0" smtClean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r>
              <a:rPr lang="zh-CN" altLang="en-US" sz="3200" b="1" dirty="0" smtClean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、线型及属性修改</a:t>
            </a:r>
            <a:endParaRPr lang="zh-CN" altLang="en-US" sz="3200" b="1" dirty="0" smtClean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3850" y="915670"/>
            <a:ext cx="853249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261620"/>
            <a:r>
              <a:rPr lang="en-US" b="0">
                <a:solidFill>
                  <a:srgbClr val="000000"/>
                </a:solidFill>
                <a:latin typeface="Times New Roman" panose="02020603050405020304" pitchFamily="18" charset="0"/>
                <a:cs typeface="方正宋一简体" charset="0"/>
              </a:rPr>
              <a:t>AutoCAD</a:t>
            </a:r>
            <a:r>
              <a:rPr lang="zh-CN" b="0">
                <a:solidFill>
                  <a:srgbClr val="000000"/>
                </a:solidFill>
                <a:cs typeface="方正宋一简体" charset="0"/>
              </a:rPr>
              <a:t>提供了大量的非连续线型，如虚线、点划线等。在【特性】工具栏中可设置已绘制或将要绘制图线的颜色、类型及宽度，【特性】工具栏如图</a:t>
            </a:r>
            <a:r>
              <a:rPr lang="en-US" b="0">
                <a:solidFill>
                  <a:srgbClr val="000000"/>
                </a:solidFill>
                <a:latin typeface="Times New Roman" panose="02020603050405020304" pitchFamily="18" charset="0"/>
                <a:cs typeface="方正宋一简体" charset="0"/>
              </a:rPr>
              <a:t>2-15</a:t>
            </a:r>
            <a:r>
              <a:rPr lang="zh-CN" b="0">
                <a:solidFill>
                  <a:srgbClr val="000000"/>
                </a:solidFill>
                <a:cs typeface="方正宋一简体" charset="0"/>
              </a:rPr>
              <a:t>所示。</a:t>
            </a:r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3996055" y="1635760"/>
            <a:ext cx="2084070" cy="1600169"/>
            <a:chOff x="5726" y="2576"/>
            <a:chExt cx="3803" cy="2740"/>
          </a:xfrm>
        </p:grpSpPr>
        <p:pic>
          <p:nvPicPr>
            <p:cNvPr id="2" name="图片 -2147482573"/>
            <p:cNvPicPr>
              <a:picLocks noChangeAspect="1"/>
            </p:cNvPicPr>
            <p:nvPr/>
          </p:nvPicPr>
          <p:blipFill>
            <a:blip r:embed="rId1"/>
            <a:srcRect l="745" t="4103" r="1953" b="2403"/>
            <a:stretch>
              <a:fillRect/>
            </a:stretch>
          </p:blipFill>
          <p:spPr>
            <a:xfrm>
              <a:off x="5726" y="2576"/>
              <a:ext cx="3803" cy="229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" name="文本框 6"/>
            <p:cNvSpPr txBox="1"/>
            <p:nvPr/>
          </p:nvSpPr>
          <p:spPr>
            <a:xfrm>
              <a:off x="7124" y="4844"/>
              <a:ext cx="1008" cy="4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/>
                <a:t>2-15</a:t>
              </a:r>
              <a:endParaRPr lang="en-US" altLang="zh-CN" sz="1200"/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683895" y="3220085"/>
            <a:ext cx="8097520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261620"/>
            <a:r>
              <a:rPr lang="en-US" b="0">
                <a:solidFill>
                  <a:srgbClr val="000000"/>
                </a:solidFill>
                <a:latin typeface="Times New Roman" panose="02020603050405020304" pitchFamily="18" charset="0"/>
                <a:cs typeface="方正宋一简体" charset="0"/>
              </a:rPr>
              <a:t>AutoCAD</a:t>
            </a:r>
            <a:r>
              <a:rPr lang="zh-CN" b="0">
                <a:solidFill>
                  <a:srgbClr val="000000"/>
                </a:solidFill>
                <a:cs typeface="方正宋一简体" charset="0"/>
              </a:rPr>
              <a:t>中有多种线宽可选择，实际工程中会从</a:t>
            </a:r>
            <a:r>
              <a:rPr lang="en-US" b="0">
                <a:solidFill>
                  <a:srgbClr val="000000"/>
                </a:solidFill>
                <a:latin typeface="Times New Roman" panose="02020603050405020304" pitchFamily="18" charset="0"/>
                <a:cs typeface="方正宋一简体" charset="0"/>
              </a:rPr>
              <a:t>0.35</a:t>
            </a:r>
            <a:r>
              <a:rPr lang="zh-CN" b="0">
                <a:solidFill>
                  <a:srgbClr val="000000"/>
                </a:solidFill>
                <a:cs typeface="方正宋一简体" charset="0"/>
              </a:rPr>
              <a:t>、</a:t>
            </a:r>
            <a:r>
              <a:rPr lang="en-US" b="0">
                <a:solidFill>
                  <a:srgbClr val="000000"/>
                </a:solidFill>
                <a:latin typeface="Times New Roman" panose="02020603050405020304" pitchFamily="18" charset="0"/>
                <a:cs typeface="方正宋一简体" charset="0"/>
              </a:rPr>
              <a:t>0.4</a:t>
            </a:r>
            <a:r>
              <a:rPr lang="zh-CN" b="0">
                <a:solidFill>
                  <a:srgbClr val="000000"/>
                </a:solidFill>
                <a:cs typeface="方正宋一简体" charset="0"/>
              </a:rPr>
              <a:t>、</a:t>
            </a:r>
            <a:r>
              <a:rPr lang="en-US" b="0">
                <a:solidFill>
                  <a:srgbClr val="000000"/>
                </a:solidFill>
                <a:latin typeface="Times New Roman" panose="02020603050405020304" pitchFamily="18" charset="0"/>
                <a:cs typeface="方正宋一简体" charset="0"/>
              </a:rPr>
              <a:t>0.5</a:t>
            </a:r>
            <a:r>
              <a:rPr lang="zh-CN" b="0">
                <a:solidFill>
                  <a:srgbClr val="000000"/>
                </a:solidFill>
                <a:cs typeface="方正宋一简体" charset="0"/>
              </a:rPr>
              <a:t>这</a:t>
            </a:r>
            <a:r>
              <a:rPr lang="en-US" b="0">
                <a:solidFill>
                  <a:srgbClr val="000000"/>
                </a:solidFill>
                <a:latin typeface="Times New Roman" panose="02020603050405020304" pitchFamily="18" charset="0"/>
                <a:cs typeface="方正宋一简体" charset="0"/>
              </a:rPr>
              <a:t>3</a:t>
            </a:r>
            <a:r>
              <a:rPr lang="zh-CN" b="0">
                <a:solidFill>
                  <a:srgbClr val="000000"/>
                </a:solidFill>
                <a:cs typeface="方正宋一简体" charset="0"/>
              </a:rPr>
              <a:t>个中选一个。打开状态栏中的【线宽】按钮，显示实际线宽，如图</a:t>
            </a:r>
            <a:r>
              <a:rPr lang="en-US" b="0">
                <a:solidFill>
                  <a:srgbClr val="000000"/>
                </a:solidFill>
                <a:latin typeface="Times New Roman" panose="02020603050405020304" pitchFamily="18" charset="0"/>
                <a:cs typeface="方正宋一简体" charset="0"/>
              </a:rPr>
              <a:t>2-16</a:t>
            </a:r>
            <a:r>
              <a:rPr lang="zh-CN" b="0">
                <a:solidFill>
                  <a:srgbClr val="000000"/>
                </a:solidFill>
                <a:cs typeface="方正宋一简体" charset="0"/>
              </a:rPr>
              <a:t>所示。</a:t>
            </a:r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2771775" y="4011930"/>
            <a:ext cx="4563110" cy="738505"/>
            <a:chOff x="4365" y="6318"/>
            <a:chExt cx="7186" cy="1163"/>
          </a:xfrm>
        </p:grpSpPr>
        <p:pic>
          <p:nvPicPr>
            <p:cNvPr id="3" name="图片 -2147482567"/>
            <p:cNvPicPr>
              <a:picLocks noChangeAspect="1"/>
            </p:cNvPicPr>
            <p:nvPr/>
          </p:nvPicPr>
          <p:blipFill>
            <a:blip r:embed="rId2"/>
            <a:srcRect l="55186"/>
            <a:stretch>
              <a:fillRect/>
            </a:stretch>
          </p:blipFill>
          <p:spPr>
            <a:xfrm>
              <a:off x="4365" y="6318"/>
              <a:ext cx="7187" cy="62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" name="文本框 9"/>
            <p:cNvSpPr txBox="1"/>
            <p:nvPr/>
          </p:nvSpPr>
          <p:spPr>
            <a:xfrm>
              <a:off x="7476" y="6999"/>
              <a:ext cx="96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/>
                <a:t>2-16</a:t>
              </a:r>
              <a:endParaRPr lang="en-US" altLang="zh-CN" sz="1400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6"/>
          <p:cNvSpPr txBox="1">
            <a:spLocks noChangeArrowheads="1"/>
          </p:cNvSpPr>
          <p:nvPr/>
        </p:nvSpPr>
        <p:spPr bwMode="auto">
          <a:xfrm>
            <a:off x="467995" y="267970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sz="3200" b="1" dirty="0" smtClean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r>
              <a:rPr lang="zh-CN" altLang="en-US" sz="3200" b="1" dirty="0" smtClean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、线型及属性修改</a:t>
            </a:r>
            <a:endParaRPr lang="zh-CN" altLang="en-US" sz="3200" b="1" dirty="0" smtClean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3850" y="915670"/>
            <a:ext cx="8532495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261620"/>
            <a:r>
              <a:rPr b="0">
                <a:solidFill>
                  <a:srgbClr val="000000"/>
                </a:solidFill>
                <a:cs typeface="方正宋一简体" charset="0"/>
              </a:rPr>
              <a:t>如需直线外的线型，可单击【特性】工具栏中的【其他】选项，打开【线型管理器】对话框，如图2</a:t>
            </a:r>
            <a:r>
              <a:rPr lang="en-US" b="0">
                <a:solidFill>
                  <a:srgbClr val="000000"/>
                </a:solidFill>
                <a:cs typeface="方正宋一简体" charset="0"/>
              </a:rPr>
              <a:t>-</a:t>
            </a:r>
            <a:r>
              <a:rPr b="0">
                <a:solidFill>
                  <a:srgbClr val="000000"/>
                </a:solidFill>
                <a:cs typeface="方正宋一简体" charset="0"/>
              </a:rPr>
              <a:t>17和图2-18所示。【线型管理器】对话框可以用于加载所需的各种线型，修改线型比例。</a:t>
            </a:r>
            <a:endParaRPr b="0">
              <a:solidFill>
                <a:srgbClr val="000000"/>
              </a:solidFill>
              <a:cs typeface="方正宋一简体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691640" y="1924050"/>
            <a:ext cx="1619250" cy="2456180"/>
            <a:chOff x="2664" y="3030"/>
            <a:chExt cx="2550" cy="3868"/>
          </a:xfrm>
        </p:grpSpPr>
        <p:pic>
          <p:nvPicPr>
            <p:cNvPr id="2" name="图片 2699"/>
            <p:cNvPicPr>
              <a:picLocks noChangeAspect="1"/>
            </p:cNvPicPr>
            <p:nvPr/>
          </p:nvPicPr>
          <p:blipFill>
            <a:blip r:embed="rId1"/>
            <a:srcRect l="69545" t="5020" r="19072" b="72026"/>
            <a:stretch>
              <a:fillRect/>
            </a:stretch>
          </p:blipFill>
          <p:spPr>
            <a:xfrm>
              <a:off x="2664" y="3030"/>
              <a:ext cx="2551" cy="319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" name="文本框 3"/>
            <p:cNvSpPr txBox="1"/>
            <p:nvPr/>
          </p:nvSpPr>
          <p:spPr>
            <a:xfrm>
              <a:off x="3423" y="6318"/>
              <a:ext cx="103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2-17</a:t>
              </a:r>
              <a:endParaRPr lang="en-US" altLang="zh-CN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500245" y="1708150"/>
            <a:ext cx="3266440" cy="2672080"/>
            <a:chOff x="7087" y="2690"/>
            <a:chExt cx="5144" cy="4208"/>
          </a:xfrm>
        </p:grpSpPr>
        <p:pic>
          <p:nvPicPr>
            <p:cNvPr id="3" name="图片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87" y="2690"/>
              <a:ext cx="5144" cy="350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3" name="文本框 12"/>
            <p:cNvSpPr txBox="1"/>
            <p:nvPr/>
          </p:nvSpPr>
          <p:spPr>
            <a:xfrm>
              <a:off x="9136" y="6318"/>
              <a:ext cx="104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2-18</a:t>
              </a:r>
              <a:endParaRPr lang="en-US" altLang="zh-CN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6"/>
          <p:cNvSpPr txBox="1">
            <a:spLocks noChangeArrowheads="1"/>
          </p:cNvSpPr>
          <p:nvPr/>
        </p:nvSpPr>
        <p:spPr bwMode="auto">
          <a:xfrm>
            <a:off x="467995" y="267970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sz="3200" b="1" dirty="0" smtClean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r>
              <a:rPr lang="zh-CN" altLang="en-US" sz="3200" b="1" dirty="0" smtClean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、线型及属性修改</a:t>
            </a:r>
            <a:endParaRPr lang="zh-CN" altLang="en-US" sz="3200" b="1" dirty="0" smtClean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06070" y="771525"/>
            <a:ext cx="8532495" cy="1476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261620"/>
            <a:r>
              <a:rPr b="0">
                <a:solidFill>
                  <a:srgbClr val="000000"/>
                </a:solidFill>
                <a:cs typeface="方正宋一简体" charset="0"/>
              </a:rPr>
              <a:t>如线型比例不合适，可单击【显示细节(D)】按钮，弹出图2</a:t>
            </a:r>
            <a:r>
              <a:rPr lang="en-US" b="0">
                <a:solidFill>
                  <a:srgbClr val="000000"/>
                </a:solidFill>
                <a:cs typeface="方正宋一简体" charset="0"/>
              </a:rPr>
              <a:t>-</a:t>
            </a:r>
            <a:r>
              <a:rPr b="0">
                <a:solidFill>
                  <a:srgbClr val="000000"/>
                </a:solidFill>
                <a:cs typeface="方正宋一简体" charset="0"/>
              </a:rPr>
              <a:t>19所示的显示详细信息的【线型管理器】对话框。右下边的【全局比例因子(G)】文本框显示所有线型的全局比例因子，可设置构成线型的长短及间隔的放大与缩小。【当前对象缩放比例(O)】文本框显示当前对象的线型比例因子。在工程制图中，线型的加载和比例调整是难点，一定要熟练掌握。</a:t>
            </a:r>
            <a:endParaRPr b="0">
              <a:solidFill>
                <a:srgbClr val="000000"/>
              </a:solidFill>
              <a:cs typeface="方正宋一简体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347720" y="1924050"/>
            <a:ext cx="3986530" cy="3079750"/>
            <a:chOff x="5272" y="3030"/>
            <a:chExt cx="6278" cy="4850"/>
          </a:xfrm>
        </p:grpSpPr>
        <p:pic>
          <p:nvPicPr>
            <p:cNvPr id="2" name="图片 -214748170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272" y="3030"/>
              <a:ext cx="6279" cy="427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" name="文本框 6"/>
            <p:cNvSpPr txBox="1"/>
            <p:nvPr/>
          </p:nvSpPr>
          <p:spPr>
            <a:xfrm>
              <a:off x="7861" y="7300"/>
              <a:ext cx="110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2-19</a:t>
              </a:r>
              <a:endParaRPr lang="en-US" altLang="zh-CN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PLACING_PICTURE_USER_VIEWPORT" val="{&quot;height&quot;:4065,&quot;width&quot;:6848}"/>
</p:tagLst>
</file>

<file path=ppt/tags/tag2.xml><?xml version="1.0" encoding="utf-8"?>
<p:tagLst xmlns:p="http://schemas.openxmlformats.org/presentationml/2006/main">
  <p:tag name="COMMONDATA" val="eyJoZGlkIjoiZjQ2OWYxY2Y3NTJjNjQ4ZTBiZGY4NDBmYWM3YjRjNWUifQ=="/>
  <p:tag name="KSO_WPP_MARK_KEY" val="fa5e0bb3-9817-40fe-90c0-1c8a015c61ca"/>
  <p:tag name="commondata" val="eyJoZGlkIjoiYmQ3NjQxYmZmN2ZkODIxYWNiNTEzMzQyMTZmNzQ1MmMifQ=="/>
</p:tagLst>
</file>

<file path=ppt/theme/theme1.xml><?xml version="1.0" encoding="utf-8"?>
<a:theme xmlns:a="http://schemas.openxmlformats.org/drawingml/2006/main" name="chrome">
  <a:themeElements>
    <a:clrScheme name="Default Design 1">
      <a:dk1>
        <a:srgbClr val="000000"/>
      </a:dk1>
      <a:lt1>
        <a:srgbClr val="FDF58D"/>
      </a:lt1>
      <a:dk2>
        <a:srgbClr val="CC3300"/>
      </a:dk2>
      <a:lt2>
        <a:srgbClr val="808080"/>
      </a:lt2>
      <a:accent1>
        <a:srgbClr val="FF6161"/>
      </a:accent1>
      <a:accent2>
        <a:srgbClr val="FFC319"/>
      </a:accent2>
      <a:accent3>
        <a:srgbClr val="FEF9C5"/>
      </a:accent3>
      <a:accent4>
        <a:srgbClr val="000000"/>
      </a:accent4>
      <a:accent5>
        <a:srgbClr val="FFB7B7"/>
      </a:accent5>
      <a:accent6>
        <a:srgbClr val="E7B016"/>
      </a:accent6>
      <a:hlink>
        <a:srgbClr val="A8D02A"/>
      </a:hlink>
      <a:folHlink>
        <a:srgbClr val="5CB1FE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DF58D"/>
        </a:lt1>
        <a:dk2>
          <a:srgbClr val="CC3300"/>
        </a:dk2>
        <a:lt2>
          <a:srgbClr val="808080"/>
        </a:lt2>
        <a:accent1>
          <a:srgbClr val="FF6161"/>
        </a:accent1>
        <a:accent2>
          <a:srgbClr val="FFC319"/>
        </a:accent2>
        <a:accent3>
          <a:srgbClr val="FEF9C5"/>
        </a:accent3>
        <a:accent4>
          <a:srgbClr val="000000"/>
        </a:accent4>
        <a:accent5>
          <a:srgbClr val="FFB7B7"/>
        </a:accent5>
        <a:accent6>
          <a:srgbClr val="E7B016"/>
        </a:accent6>
        <a:hlink>
          <a:srgbClr val="A8D02A"/>
        </a:hlink>
        <a:folHlink>
          <a:srgbClr val="5CB1F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E1F4D8"/>
        </a:lt1>
        <a:dk2>
          <a:srgbClr val="003366"/>
        </a:dk2>
        <a:lt2>
          <a:srgbClr val="808080"/>
        </a:lt2>
        <a:accent1>
          <a:srgbClr val="FFC319"/>
        </a:accent1>
        <a:accent2>
          <a:srgbClr val="A8D02A"/>
        </a:accent2>
        <a:accent3>
          <a:srgbClr val="EEF8E9"/>
        </a:accent3>
        <a:accent4>
          <a:srgbClr val="000000"/>
        </a:accent4>
        <a:accent5>
          <a:srgbClr val="FFDEAB"/>
        </a:accent5>
        <a:accent6>
          <a:srgbClr val="98BC25"/>
        </a:accent6>
        <a:hlink>
          <a:srgbClr val="5CB1FE"/>
        </a:hlink>
        <a:folHlink>
          <a:srgbClr val="FF616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EE9DE"/>
        </a:lt1>
        <a:dk2>
          <a:srgbClr val="000066"/>
        </a:dk2>
        <a:lt2>
          <a:srgbClr val="808080"/>
        </a:lt2>
        <a:accent1>
          <a:srgbClr val="5CB1FE"/>
        </a:accent1>
        <a:accent2>
          <a:srgbClr val="FF7575"/>
        </a:accent2>
        <a:accent3>
          <a:srgbClr val="FEF2EC"/>
        </a:accent3>
        <a:accent4>
          <a:srgbClr val="000000"/>
        </a:accent4>
        <a:accent5>
          <a:srgbClr val="B5D5FE"/>
        </a:accent5>
        <a:accent6>
          <a:srgbClr val="E76969"/>
        </a:accent6>
        <a:hlink>
          <a:srgbClr val="FFC319"/>
        </a:hlink>
        <a:folHlink>
          <a:srgbClr val="A8D02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292TGp_silent night_light</Template>
  <TotalTime>0</TotalTime>
  <Words>3195</Words>
  <Application>WPS 演示</Application>
  <PresentationFormat>全屏显示(16:9)</PresentationFormat>
  <Paragraphs>168</Paragraphs>
  <Slides>18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1" baseType="lpstr">
      <vt:lpstr>Arial</vt:lpstr>
      <vt:lpstr>宋体</vt:lpstr>
      <vt:lpstr>Wingdings</vt:lpstr>
      <vt:lpstr>Arial Black</vt:lpstr>
      <vt:lpstr>Times New Roman</vt:lpstr>
      <vt:lpstr>华文楷体</vt:lpstr>
      <vt:lpstr>微软雅黑</vt:lpstr>
      <vt:lpstr>华文新魏</vt:lpstr>
      <vt:lpstr>楷体</vt:lpstr>
      <vt:lpstr>方正宋一简体</vt:lpstr>
      <vt:lpstr>Arial Unicode MS</vt:lpstr>
      <vt:lpstr>Calibri</vt:lpstr>
      <vt:lpstr>chrome</vt:lpstr>
      <vt:lpstr>PowerPoint 演示文稿</vt:lpstr>
      <vt:lpstr>通信工程制图软件基本操作</vt:lpstr>
      <vt:lpstr>PowerPoint 演示文稿</vt:lpstr>
      <vt:lpstr>1、AutoCAD的安装及卸载</vt:lpstr>
      <vt:lpstr>2、AutoCAD的操作界面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4、设置绘图环境</vt:lpstr>
      <vt:lpstr>5、坐标系统</vt:lpstr>
      <vt:lpstr>6、直线命令（LINE/L）</vt:lpstr>
      <vt:lpstr>PowerPoint 演示文稿</vt:lpstr>
      <vt:lpstr>PowerPoint 演示文稿</vt:lpstr>
      <vt:lpstr>PowerPoint 演示文稿</vt:lpstr>
    </vt:vector>
  </TitlesOfParts>
  <Company>chances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ThemeGallery  Power Template</dc:title>
  <dc:creator>j</dc:creator>
  <cp:lastModifiedBy>批注</cp:lastModifiedBy>
  <cp:revision>97</cp:revision>
  <dcterms:created xsi:type="dcterms:W3CDTF">2007-07-24T14:55:00Z</dcterms:created>
  <dcterms:modified xsi:type="dcterms:W3CDTF">2024-09-24T08:01:50Z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B83BE5F391554E45B91E9CDAA35F1AF5</vt:lpwstr>
  </property>
  <property fmtid="{D5CDD505-2E9C-101B-9397-08002B2CF9AE}" pid="3" name="KSOProductBuildVer">
    <vt:lpwstr>2052-12.1.0.16729</vt:lpwstr>
  </property>
</Properties>
</file>