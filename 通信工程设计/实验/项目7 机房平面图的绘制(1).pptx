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665" r:id="rId3"/>
    <p:sldId id="714" r:id="rId5"/>
    <p:sldId id="681" r:id="rId6"/>
    <p:sldId id="735" r:id="rId7"/>
    <p:sldId id="713" r:id="rId8"/>
    <p:sldId id="730" r:id="rId9"/>
    <p:sldId id="715" r:id="rId10"/>
    <p:sldId id="745" r:id="rId11"/>
    <p:sldId id="732" r:id="rId12"/>
    <p:sldId id="746" r:id="rId13"/>
    <p:sldId id="747" r:id="rId14"/>
    <p:sldId id="748" r:id="rId15"/>
    <p:sldId id="716" r:id="rId16"/>
    <p:sldId id="717" r:id="rId17"/>
    <p:sldId id="718" r:id="rId18"/>
    <p:sldId id="734" r:id="rId19"/>
  </p:sldIdLst>
  <p:sldSz cx="9144000" cy="5143500" type="screen16x9"/>
  <p:notesSz cx="6858000" cy="9144000"/>
  <p:custDataLst>
    <p:tags r:id="rId23"/>
  </p:custDataLst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94" userDrawn="1">
          <p15:clr>
            <a:srgbClr val="A4A3A4"/>
          </p15:clr>
        </p15:guide>
        <p15:guide id="3" pos="547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8F8F8"/>
    <a:srgbClr val="B2D2A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289" autoAdjust="0"/>
    <p:restoredTop sz="96133" autoAdjust="0"/>
  </p:normalViewPr>
  <p:slideViewPr>
    <p:cSldViewPr showGuides="1">
      <p:cViewPr varScale="1">
        <p:scale>
          <a:sx n="86" d="100"/>
          <a:sy n="86" d="100"/>
        </p:scale>
        <p:origin x="-504" y="-372"/>
      </p:cViewPr>
      <p:guideLst>
        <p:guide orient="horz" pos="1620"/>
        <p:guide pos="294"/>
        <p:guide pos="5472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4" d="100"/>
        <a:sy n="64" d="100"/>
      </p:scale>
      <p:origin x="0" y="2952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3" Type="http://schemas.openxmlformats.org/officeDocument/2006/relationships/tags" Target="tags/tag2.xml"/><Relationship Id="rId22" Type="http://schemas.openxmlformats.org/officeDocument/2006/relationships/tableStyles" Target="tableStyles.xml"/><Relationship Id="rId21" Type="http://schemas.openxmlformats.org/officeDocument/2006/relationships/viewProps" Target="viewProps.xml"/><Relationship Id="rId20" Type="http://schemas.openxmlformats.org/officeDocument/2006/relationships/presProps" Target="presProps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EA87550A-199E-42E0-B585-690E6C86E0DD}" type="datetimeFigureOut">
              <a:rPr lang="zh-CN" altLang="en-US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 smtClean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noProof="0" smtClean="0"/>
              <a:t>单击此处编辑母版文本样式</a:t>
            </a:r>
            <a:endParaRPr lang="zh-CN" altLang="en-US" noProof="0" smtClean="0"/>
          </a:p>
          <a:p>
            <a:pPr lvl="1"/>
            <a:r>
              <a:rPr lang="zh-CN" altLang="en-US" noProof="0" smtClean="0"/>
              <a:t>第二级</a:t>
            </a:r>
            <a:endParaRPr lang="zh-CN" altLang="en-US" noProof="0" smtClean="0"/>
          </a:p>
          <a:p>
            <a:pPr lvl="2"/>
            <a:r>
              <a:rPr lang="zh-CN" altLang="en-US" noProof="0" smtClean="0"/>
              <a:t>第三级</a:t>
            </a:r>
            <a:endParaRPr lang="zh-CN" altLang="en-US" noProof="0" smtClean="0"/>
          </a:p>
          <a:p>
            <a:pPr lvl="3"/>
            <a:r>
              <a:rPr lang="zh-CN" altLang="en-US" noProof="0" smtClean="0"/>
              <a:t>第四级</a:t>
            </a:r>
            <a:endParaRPr lang="zh-CN" altLang="en-US" noProof="0" smtClean="0"/>
          </a:p>
          <a:p>
            <a:pPr lvl="4"/>
            <a:r>
              <a:rPr lang="zh-CN" altLang="en-US" noProof="0" smtClean="0"/>
              <a:t>第五级</a:t>
            </a:r>
            <a:endParaRPr lang="zh-CN" altLang="en-US" noProof="0" smtClean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A31C1387-779F-4F38-A916-09BAC98A989E}" type="slidenum">
              <a:rPr lang="zh-CN" altLang="en-US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098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0BA1CCFC-D8A8-4C82-A7ED-6685B60DEEA3}" type="slidenum">
              <a:rPr lang="en-US" altLang="zh-CN" smtClean="0">
                <a:solidFill>
                  <a:srgbClr val="000000"/>
                </a:solidFill>
              </a:rPr>
            </a:fld>
            <a:endParaRPr lang="en-US" altLang="zh-CN" smtClean="0">
              <a:solidFill>
                <a:srgbClr val="000000"/>
              </a:solidFill>
            </a:endParaRPr>
          </a:p>
        </p:txBody>
      </p:sp>
      <p:sp>
        <p:nvSpPr>
          <p:cNvPr id="2600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60100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endParaRPr lang="zh-CN" altLang="en-US" dirty="0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57175" indent="-257175" defTabSz="685800" eaLnBrk="0" hangingPunct="0">
              <a:lnSpc>
                <a:spcPct val="200000"/>
              </a:lnSpc>
              <a:buClr>
                <a:srgbClr val="00B050"/>
              </a:buClr>
              <a:buFont typeface="Wingdings" panose="05000000000000000000" pitchFamily="2" charset="2"/>
              <a:buChar char="u"/>
            </a:pPr>
            <a:r>
              <a:rPr kumimoji="1" lang="zh-CN" altLang="en-US" dirty="0" smtClean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理解和掌握通信工程制图的</a:t>
            </a:r>
            <a:r>
              <a:rPr kumimoji="1" lang="zh-CN" altLang="en-US" dirty="0" smtClean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总体要求和统一</a:t>
            </a:r>
            <a:r>
              <a:rPr kumimoji="1" lang="zh-CN" altLang="en-US" dirty="0" smtClean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规定。</a:t>
            </a:r>
            <a:endParaRPr kumimoji="1" lang="zh-CN" altLang="en-US" dirty="0" smtClean="0">
              <a:solidFill>
                <a:srgbClr val="00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257175" indent="-257175" defTabSz="685800" eaLnBrk="0" hangingPunct="0">
              <a:lnSpc>
                <a:spcPct val="200000"/>
              </a:lnSpc>
              <a:buClr>
                <a:srgbClr val="00B050"/>
              </a:buClr>
              <a:buFont typeface="Wingdings" panose="05000000000000000000" pitchFamily="2" charset="2"/>
              <a:buChar char="u"/>
            </a:pPr>
            <a:r>
              <a:rPr kumimoji="1" lang="zh-CN" altLang="en-US" dirty="0" smtClean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掌握通信工程制图中的常用</a:t>
            </a:r>
            <a:r>
              <a:rPr kumimoji="1" lang="zh-CN" altLang="en-US" dirty="0" smtClean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图例</a:t>
            </a:r>
            <a:r>
              <a:rPr kumimoji="1" lang="zh-CN" altLang="en-US" dirty="0" smtClean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及含义。</a:t>
            </a:r>
            <a:endParaRPr kumimoji="1" lang="zh-CN" altLang="en-US" dirty="0" smtClean="0">
              <a:solidFill>
                <a:srgbClr val="00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31C1387-779F-4F38-A916-09BAC98A989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PhAnim="0" showMasterSp="0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40"/>
          <p:cNvSpPr/>
          <p:nvPr/>
        </p:nvSpPr>
        <p:spPr bwMode="gray">
          <a:xfrm>
            <a:off x="0" y="4537075"/>
            <a:ext cx="2762250" cy="606425"/>
          </a:xfrm>
          <a:custGeom>
            <a:avLst/>
            <a:gdLst>
              <a:gd name="T0" fmla="*/ 0 w 1740"/>
              <a:gd name="T1" fmla="*/ 0 h 510"/>
              <a:gd name="T2" fmla="*/ 0 w 1740"/>
              <a:gd name="T3" fmla="*/ 606425 h 510"/>
              <a:gd name="T4" fmla="*/ 2762250 w 1740"/>
              <a:gd name="T5" fmla="*/ 606425 h 510"/>
              <a:gd name="T6" fmla="*/ 2532063 w 1740"/>
              <a:gd name="T7" fmla="*/ 35672 h 510"/>
              <a:gd name="T8" fmla="*/ 0 w 1740"/>
              <a:gd name="T9" fmla="*/ 0 h 51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740" h="510">
                <a:moveTo>
                  <a:pt x="0" y="0"/>
                </a:moveTo>
                <a:lnTo>
                  <a:pt x="0" y="510"/>
                </a:lnTo>
                <a:cubicBezTo>
                  <a:pt x="0" y="510"/>
                  <a:pt x="870" y="510"/>
                  <a:pt x="1740" y="510"/>
                </a:cubicBezTo>
                <a:cubicBezTo>
                  <a:pt x="1650" y="258"/>
                  <a:pt x="1595" y="30"/>
                  <a:pt x="1595" y="30"/>
                </a:cubicBezTo>
                <a:cubicBezTo>
                  <a:pt x="798" y="54"/>
                  <a:pt x="0" y="0"/>
                  <a:pt x="0" y="0"/>
                </a:cubicBezTo>
                <a:close/>
              </a:path>
            </a:pathLst>
          </a:cu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" name="Freeform 41"/>
          <p:cNvSpPr/>
          <p:nvPr/>
        </p:nvSpPr>
        <p:spPr bwMode="gray">
          <a:xfrm>
            <a:off x="2590800" y="3529013"/>
            <a:ext cx="6400800" cy="1614487"/>
          </a:xfrm>
          <a:custGeom>
            <a:avLst/>
            <a:gdLst>
              <a:gd name="T0" fmla="*/ 1771650 w 4032"/>
              <a:gd name="T1" fmla="*/ 0 h 1356"/>
              <a:gd name="T2" fmla="*/ 6096000 w 4032"/>
              <a:gd name="T3" fmla="*/ 757237 h 1356"/>
              <a:gd name="T4" fmla="*/ 6400800 w 4032"/>
              <a:gd name="T5" fmla="*/ 1614487 h 1356"/>
              <a:gd name="T6" fmla="*/ 457200 w 4032"/>
              <a:gd name="T7" fmla="*/ 1614487 h 1356"/>
              <a:gd name="T8" fmla="*/ 0 w 4032"/>
              <a:gd name="T9" fmla="*/ 985837 h 1356"/>
              <a:gd name="T10" fmla="*/ 1771650 w 4032"/>
              <a:gd name="T11" fmla="*/ 0 h 1356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4032" h="1356">
                <a:moveTo>
                  <a:pt x="1116" y="0"/>
                </a:moveTo>
                <a:cubicBezTo>
                  <a:pt x="2370" y="1254"/>
                  <a:pt x="3840" y="636"/>
                  <a:pt x="3840" y="636"/>
                </a:cubicBezTo>
                <a:cubicBezTo>
                  <a:pt x="4032" y="966"/>
                  <a:pt x="4032" y="1356"/>
                  <a:pt x="4032" y="1356"/>
                </a:cubicBezTo>
                <a:cubicBezTo>
                  <a:pt x="4032" y="1356"/>
                  <a:pt x="2160" y="1356"/>
                  <a:pt x="288" y="1356"/>
                </a:cubicBezTo>
                <a:cubicBezTo>
                  <a:pt x="120" y="1140"/>
                  <a:pt x="0" y="828"/>
                  <a:pt x="0" y="828"/>
                </a:cubicBezTo>
                <a:lnTo>
                  <a:pt x="1116" y="0"/>
                </a:lnTo>
                <a:close/>
              </a:path>
            </a:pathLst>
          </a:custGeom>
          <a:solidFill>
            <a:schemeClr val="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" name="Freeform 42"/>
          <p:cNvSpPr/>
          <p:nvPr/>
        </p:nvSpPr>
        <p:spPr bwMode="gray">
          <a:xfrm>
            <a:off x="4400550" y="585788"/>
            <a:ext cx="4743450" cy="3786187"/>
          </a:xfrm>
          <a:custGeom>
            <a:avLst/>
            <a:gdLst>
              <a:gd name="T0" fmla="*/ 809625 w 2988"/>
              <a:gd name="T1" fmla="*/ 1307306 h 3180"/>
              <a:gd name="T2" fmla="*/ 3619500 w 2988"/>
              <a:gd name="T3" fmla="*/ 0 h 3180"/>
              <a:gd name="T4" fmla="*/ 4743450 w 2988"/>
              <a:gd name="T5" fmla="*/ 407194 h 3180"/>
              <a:gd name="T6" fmla="*/ 4743450 w 2988"/>
              <a:gd name="T7" fmla="*/ 3300412 h 3180"/>
              <a:gd name="T8" fmla="*/ 2305050 w 2988"/>
              <a:gd name="T9" fmla="*/ 3643312 h 3180"/>
              <a:gd name="T10" fmla="*/ 0 w 2988"/>
              <a:gd name="T11" fmla="*/ 2864643 h 3180"/>
              <a:gd name="T12" fmla="*/ 809625 w 2988"/>
              <a:gd name="T13" fmla="*/ 1307306 h 3180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2988" h="3180">
                <a:moveTo>
                  <a:pt x="510" y="1098"/>
                </a:moveTo>
                <a:cubicBezTo>
                  <a:pt x="1710" y="840"/>
                  <a:pt x="2280" y="0"/>
                  <a:pt x="2280" y="0"/>
                </a:cubicBezTo>
                <a:cubicBezTo>
                  <a:pt x="2700" y="96"/>
                  <a:pt x="2988" y="342"/>
                  <a:pt x="2988" y="342"/>
                </a:cubicBezTo>
                <a:lnTo>
                  <a:pt x="2988" y="2772"/>
                </a:lnTo>
                <a:cubicBezTo>
                  <a:pt x="2988" y="2772"/>
                  <a:pt x="2202" y="3180"/>
                  <a:pt x="1452" y="3060"/>
                </a:cubicBezTo>
                <a:cubicBezTo>
                  <a:pt x="636" y="2940"/>
                  <a:pt x="0" y="2406"/>
                  <a:pt x="0" y="2406"/>
                </a:cubicBezTo>
                <a:lnTo>
                  <a:pt x="510" y="1098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" name="Freeform 43"/>
          <p:cNvSpPr/>
          <p:nvPr/>
        </p:nvSpPr>
        <p:spPr bwMode="gray">
          <a:xfrm>
            <a:off x="4800600" y="0"/>
            <a:ext cx="3276600" cy="1808163"/>
          </a:xfrm>
          <a:custGeom>
            <a:avLst/>
            <a:gdLst>
              <a:gd name="T0" fmla="*/ 0 w 2064"/>
              <a:gd name="T1" fmla="*/ 0 h 1518"/>
              <a:gd name="T2" fmla="*/ 438150 w 2064"/>
              <a:gd name="T3" fmla="*/ 1808163 h 1518"/>
              <a:gd name="T4" fmla="*/ 3276600 w 2064"/>
              <a:gd name="T5" fmla="*/ 0 h 1518"/>
              <a:gd name="T6" fmla="*/ 0 w 2064"/>
              <a:gd name="T7" fmla="*/ 0 h 1518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2064" h="1518">
                <a:moveTo>
                  <a:pt x="0" y="0"/>
                </a:moveTo>
                <a:cubicBezTo>
                  <a:pt x="0" y="0"/>
                  <a:pt x="138" y="759"/>
                  <a:pt x="276" y="1518"/>
                </a:cubicBezTo>
                <a:cubicBezTo>
                  <a:pt x="1518" y="1194"/>
                  <a:pt x="2064" y="0"/>
                  <a:pt x="2064" y="0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" name="Freeform 79"/>
          <p:cNvSpPr/>
          <p:nvPr/>
        </p:nvSpPr>
        <p:spPr bwMode="gray">
          <a:xfrm>
            <a:off x="0" y="0"/>
            <a:ext cx="6583363" cy="5451475"/>
          </a:xfrm>
          <a:custGeom>
            <a:avLst/>
            <a:gdLst>
              <a:gd name="T0" fmla="*/ 0 w 4014"/>
              <a:gd name="T1" fmla="*/ 0 h 4455"/>
              <a:gd name="T2" fmla="*/ 5924043 w 4014"/>
              <a:gd name="T3" fmla="*/ 0 h 4455"/>
              <a:gd name="T4" fmla="*/ 5284403 w 4014"/>
              <a:gd name="T5" fmla="*/ 3722421 h 4455"/>
              <a:gd name="T6" fmla="*/ 0 w 4014"/>
              <a:gd name="T7" fmla="*/ 4581442 h 4455"/>
              <a:gd name="T8" fmla="*/ 0 w 4014"/>
              <a:gd name="T9" fmla="*/ 0 h 445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4014" h="4455">
                <a:moveTo>
                  <a:pt x="0" y="0"/>
                </a:moveTo>
                <a:lnTo>
                  <a:pt x="3612" y="0"/>
                </a:lnTo>
                <a:cubicBezTo>
                  <a:pt x="4014" y="984"/>
                  <a:pt x="3812" y="2307"/>
                  <a:pt x="3222" y="3042"/>
                </a:cubicBezTo>
                <a:cubicBezTo>
                  <a:pt x="1988" y="4455"/>
                  <a:pt x="0" y="3744"/>
                  <a:pt x="0" y="3744"/>
                </a:cubicBez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" name="Freeform 45"/>
          <p:cNvSpPr/>
          <p:nvPr/>
        </p:nvSpPr>
        <p:spPr bwMode="gray">
          <a:xfrm>
            <a:off x="0" y="0"/>
            <a:ext cx="6372225" cy="5303838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3612" y="0"/>
              </a:cxn>
              <a:cxn ang="0">
                <a:pos x="3222" y="3042"/>
              </a:cxn>
              <a:cxn ang="0">
                <a:pos x="0" y="3744"/>
              </a:cxn>
              <a:cxn ang="0">
                <a:pos x="0" y="0"/>
              </a:cxn>
            </a:cxnLst>
            <a:rect l="0" t="0" r="r" b="b"/>
            <a:pathLst>
              <a:path w="4014" h="4455">
                <a:moveTo>
                  <a:pt x="0" y="0"/>
                </a:moveTo>
                <a:lnTo>
                  <a:pt x="3612" y="0"/>
                </a:lnTo>
                <a:cubicBezTo>
                  <a:pt x="4014" y="984"/>
                  <a:pt x="3812" y="2307"/>
                  <a:pt x="3222" y="3042"/>
                </a:cubicBezTo>
                <a:cubicBezTo>
                  <a:pt x="1988" y="4455"/>
                  <a:pt x="0" y="3744"/>
                  <a:pt x="0" y="3744"/>
                </a:cubicBezTo>
                <a:lnTo>
                  <a:pt x="0" y="0"/>
                </a:lnTo>
                <a:close/>
              </a:path>
            </a:pathLst>
          </a:custGeom>
          <a:gradFill rotWithShape="1">
            <a:gsLst>
              <a:gs pos="0">
                <a:schemeClr val="bg1">
                  <a:gamma/>
                  <a:tint val="25490"/>
                  <a:invGamma/>
                </a:schemeClr>
              </a:gs>
              <a:gs pos="100000">
                <a:schemeClr val="bg1"/>
              </a:gs>
            </a:gsLst>
            <a:lin ang="2700000" scaled="1"/>
          </a:gradFill>
          <a:ln w="9525">
            <a:noFill/>
            <a:round/>
          </a:ln>
          <a:effectLst/>
        </p:spPr>
        <p:txBody>
          <a:bodyPr/>
          <a:lstStyle/>
          <a:p>
            <a:pPr>
              <a:defRPr/>
            </a:pPr>
            <a:endParaRPr lang="zh-CN" altLang="en-US"/>
          </a:p>
        </p:txBody>
      </p:sp>
      <p:sp>
        <p:nvSpPr>
          <p:cNvPr id="10" name="Line 47"/>
          <p:cNvSpPr>
            <a:spLocks noChangeShapeType="1"/>
          </p:cNvSpPr>
          <p:nvPr/>
        </p:nvSpPr>
        <p:spPr bwMode="gray">
          <a:xfrm>
            <a:off x="250825" y="1588"/>
            <a:ext cx="0" cy="4511675"/>
          </a:xfrm>
          <a:prstGeom prst="line">
            <a:avLst/>
          </a:prstGeom>
          <a:noFill/>
          <a:ln w="9525">
            <a:solidFill>
              <a:srgbClr val="FFFFFF"/>
            </a:solidFill>
            <a:round/>
          </a:ln>
          <a:effectLst>
            <a:outerShdw dist="17961" dir="2700000" algn="ctr" rotWithShape="0">
              <a:schemeClr val="accent2">
                <a:alpha val="50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" name="Line 48"/>
          <p:cNvSpPr>
            <a:spLocks noChangeShapeType="1"/>
          </p:cNvSpPr>
          <p:nvPr/>
        </p:nvSpPr>
        <p:spPr bwMode="gray">
          <a:xfrm>
            <a:off x="1293813" y="1588"/>
            <a:ext cx="0" cy="4654550"/>
          </a:xfrm>
          <a:prstGeom prst="line">
            <a:avLst/>
          </a:prstGeom>
          <a:noFill/>
          <a:ln w="9525">
            <a:solidFill>
              <a:srgbClr val="FFFFFF"/>
            </a:solidFill>
            <a:round/>
          </a:ln>
          <a:effectLst>
            <a:outerShdw dist="17961" dir="2700000" algn="ctr" rotWithShape="0">
              <a:schemeClr val="accent2">
                <a:alpha val="50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" name="Line 49"/>
          <p:cNvSpPr>
            <a:spLocks noChangeShapeType="1"/>
          </p:cNvSpPr>
          <p:nvPr/>
        </p:nvSpPr>
        <p:spPr bwMode="gray">
          <a:xfrm>
            <a:off x="2338388" y="1588"/>
            <a:ext cx="0" cy="4637087"/>
          </a:xfrm>
          <a:prstGeom prst="line">
            <a:avLst/>
          </a:prstGeom>
          <a:noFill/>
          <a:ln w="9525">
            <a:solidFill>
              <a:srgbClr val="FFFFFF"/>
            </a:solidFill>
            <a:round/>
          </a:ln>
          <a:effectLst>
            <a:outerShdw dist="17961" dir="2700000" algn="ctr" rotWithShape="0">
              <a:schemeClr val="accent2">
                <a:alpha val="50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3" name="Line 50"/>
          <p:cNvSpPr>
            <a:spLocks noChangeShapeType="1"/>
          </p:cNvSpPr>
          <p:nvPr/>
        </p:nvSpPr>
        <p:spPr bwMode="gray">
          <a:xfrm>
            <a:off x="3382963" y="1588"/>
            <a:ext cx="0" cy="4478337"/>
          </a:xfrm>
          <a:prstGeom prst="line">
            <a:avLst/>
          </a:prstGeom>
          <a:noFill/>
          <a:ln w="9525">
            <a:solidFill>
              <a:srgbClr val="FFFFFF"/>
            </a:solidFill>
            <a:round/>
          </a:ln>
          <a:effectLst>
            <a:outerShdw dist="17961" dir="2700000" algn="ctr" rotWithShape="0">
              <a:schemeClr val="accent2">
                <a:alpha val="50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" name="Line 51"/>
          <p:cNvSpPr>
            <a:spLocks noChangeShapeType="1"/>
          </p:cNvSpPr>
          <p:nvPr/>
        </p:nvSpPr>
        <p:spPr bwMode="gray">
          <a:xfrm>
            <a:off x="4427538" y="1588"/>
            <a:ext cx="0" cy="4087812"/>
          </a:xfrm>
          <a:prstGeom prst="line">
            <a:avLst/>
          </a:prstGeom>
          <a:noFill/>
          <a:ln w="9525">
            <a:solidFill>
              <a:srgbClr val="FFFFFF"/>
            </a:solidFill>
            <a:round/>
          </a:ln>
          <a:effectLst>
            <a:outerShdw dist="17961" dir="2700000" algn="ctr" rotWithShape="0">
              <a:schemeClr val="accent2">
                <a:alpha val="50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5" name="Line 53"/>
          <p:cNvSpPr>
            <a:spLocks noChangeShapeType="1"/>
          </p:cNvSpPr>
          <p:nvPr/>
        </p:nvSpPr>
        <p:spPr bwMode="gray">
          <a:xfrm rot="5400000">
            <a:off x="2913063" y="-2717800"/>
            <a:ext cx="0" cy="5813425"/>
          </a:xfrm>
          <a:prstGeom prst="line">
            <a:avLst/>
          </a:prstGeom>
          <a:noFill/>
          <a:ln w="9525">
            <a:solidFill>
              <a:srgbClr val="FFFFFF"/>
            </a:solidFill>
            <a:round/>
          </a:ln>
          <a:effectLst>
            <a:outerShdw dist="17961" dir="2700000" algn="ctr" rotWithShape="0">
              <a:schemeClr val="accent2">
                <a:alpha val="50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6" name="Line 54"/>
          <p:cNvSpPr>
            <a:spLocks noChangeShapeType="1"/>
          </p:cNvSpPr>
          <p:nvPr/>
        </p:nvSpPr>
        <p:spPr bwMode="gray">
          <a:xfrm rot="5400000">
            <a:off x="3006725" y="-2011362"/>
            <a:ext cx="0" cy="6000750"/>
          </a:xfrm>
          <a:prstGeom prst="line">
            <a:avLst/>
          </a:prstGeom>
          <a:noFill/>
          <a:ln w="9525">
            <a:solidFill>
              <a:srgbClr val="FFFFFF"/>
            </a:solidFill>
            <a:round/>
          </a:ln>
          <a:effectLst>
            <a:outerShdw dist="17961" dir="2700000" algn="ctr" rotWithShape="0">
              <a:schemeClr val="accent2">
                <a:alpha val="50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7" name="Line 55"/>
          <p:cNvSpPr>
            <a:spLocks noChangeShapeType="1"/>
          </p:cNvSpPr>
          <p:nvPr/>
        </p:nvSpPr>
        <p:spPr bwMode="gray">
          <a:xfrm rot="5400000">
            <a:off x="3011488" y="-1217613"/>
            <a:ext cx="0" cy="6010275"/>
          </a:xfrm>
          <a:prstGeom prst="line">
            <a:avLst/>
          </a:prstGeom>
          <a:noFill/>
          <a:ln w="9525">
            <a:solidFill>
              <a:srgbClr val="FFFFFF"/>
            </a:solidFill>
            <a:round/>
          </a:ln>
          <a:effectLst>
            <a:outerShdw dist="17961" dir="2700000" algn="ctr" rotWithShape="0">
              <a:schemeClr val="accent2">
                <a:alpha val="50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8" name="Line 56"/>
          <p:cNvSpPr>
            <a:spLocks noChangeShapeType="1"/>
          </p:cNvSpPr>
          <p:nvPr/>
        </p:nvSpPr>
        <p:spPr bwMode="gray">
          <a:xfrm rot="5400000">
            <a:off x="2907507" y="-313532"/>
            <a:ext cx="0" cy="5802313"/>
          </a:xfrm>
          <a:prstGeom prst="line">
            <a:avLst/>
          </a:prstGeom>
          <a:noFill/>
          <a:ln w="9525">
            <a:solidFill>
              <a:srgbClr val="FFFFFF"/>
            </a:solidFill>
            <a:round/>
          </a:ln>
          <a:effectLst>
            <a:outerShdw dist="17961" dir="2700000" algn="ctr" rotWithShape="0">
              <a:schemeClr val="accent2">
                <a:alpha val="50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9" name="Line 57"/>
          <p:cNvSpPr>
            <a:spLocks noChangeShapeType="1"/>
          </p:cNvSpPr>
          <p:nvPr/>
        </p:nvSpPr>
        <p:spPr bwMode="gray">
          <a:xfrm rot="5400000">
            <a:off x="2666207" y="726281"/>
            <a:ext cx="0" cy="5319713"/>
          </a:xfrm>
          <a:prstGeom prst="line">
            <a:avLst/>
          </a:prstGeom>
          <a:noFill/>
          <a:ln w="9525">
            <a:solidFill>
              <a:srgbClr val="FFFFFF"/>
            </a:solidFill>
            <a:round/>
          </a:ln>
          <a:effectLst>
            <a:outerShdw dist="17961" dir="2700000" algn="ctr" rotWithShape="0">
              <a:schemeClr val="accent2">
                <a:alpha val="50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0" name="Line 58"/>
          <p:cNvSpPr>
            <a:spLocks noChangeShapeType="1"/>
          </p:cNvSpPr>
          <p:nvPr/>
        </p:nvSpPr>
        <p:spPr bwMode="gray">
          <a:xfrm rot="5400000">
            <a:off x="2115344" y="2077244"/>
            <a:ext cx="0" cy="4217988"/>
          </a:xfrm>
          <a:prstGeom prst="line">
            <a:avLst/>
          </a:prstGeom>
          <a:noFill/>
          <a:ln w="9525">
            <a:solidFill>
              <a:srgbClr val="FFFFFF"/>
            </a:solidFill>
            <a:round/>
          </a:ln>
          <a:effectLst>
            <a:outerShdw dist="17961" dir="2700000" algn="ctr" rotWithShape="0">
              <a:schemeClr val="accent2">
                <a:alpha val="50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1" name="Rectangle 59"/>
          <p:cNvSpPr>
            <a:spLocks noChangeArrowheads="1"/>
          </p:cNvSpPr>
          <p:nvPr/>
        </p:nvSpPr>
        <p:spPr bwMode="gray">
          <a:xfrm>
            <a:off x="2362200" y="207963"/>
            <a:ext cx="1012825" cy="769937"/>
          </a:xfrm>
          <a:prstGeom prst="rect">
            <a:avLst/>
          </a:prstGeom>
          <a:solidFill>
            <a:srgbClr val="FFFFFF">
              <a:alpha val="50195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" name="Rectangle 60"/>
          <p:cNvSpPr>
            <a:spLocks noChangeArrowheads="1"/>
          </p:cNvSpPr>
          <p:nvPr/>
        </p:nvSpPr>
        <p:spPr bwMode="gray">
          <a:xfrm>
            <a:off x="285750" y="1820863"/>
            <a:ext cx="1012825" cy="768350"/>
          </a:xfrm>
          <a:prstGeom prst="rect">
            <a:avLst/>
          </a:prstGeom>
          <a:solidFill>
            <a:srgbClr val="FFFFFF">
              <a:alpha val="3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3" name="Rectangle 61"/>
          <p:cNvSpPr>
            <a:spLocks noChangeArrowheads="1"/>
          </p:cNvSpPr>
          <p:nvPr/>
        </p:nvSpPr>
        <p:spPr bwMode="gray">
          <a:xfrm>
            <a:off x="0" y="203200"/>
            <a:ext cx="250825" cy="769938"/>
          </a:xfrm>
          <a:prstGeom prst="rect">
            <a:avLst/>
          </a:prstGeom>
          <a:solidFill>
            <a:srgbClr val="FFFFFF">
              <a:alpha val="3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4" name="Rectangle 62"/>
          <p:cNvSpPr>
            <a:spLocks noChangeArrowheads="1"/>
          </p:cNvSpPr>
          <p:nvPr/>
        </p:nvSpPr>
        <p:spPr bwMode="gray">
          <a:xfrm>
            <a:off x="1331913" y="1588"/>
            <a:ext cx="1012825" cy="176212"/>
          </a:xfrm>
          <a:prstGeom prst="rect">
            <a:avLst/>
          </a:prstGeom>
          <a:solidFill>
            <a:srgbClr val="FFFFFF">
              <a:alpha val="50195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5" name="Freeform 64"/>
          <p:cNvSpPr/>
          <p:nvPr/>
        </p:nvSpPr>
        <p:spPr bwMode="gray">
          <a:xfrm>
            <a:off x="2365375" y="3406775"/>
            <a:ext cx="1009650" cy="774700"/>
          </a:xfrm>
          <a:custGeom>
            <a:avLst/>
            <a:gdLst>
              <a:gd name="T0" fmla="*/ 0 w 636"/>
              <a:gd name="T1" fmla="*/ 0 h 651"/>
              <a:gd name="T2" fmla="*/ 0 w 636"/>
              <a:gd name="T3" fmla="*/ 767560 h 651"/>
              <a:gd name="T4" fmla="*/ 1009650 w 636"/>
              <a:gd name="T5" fmla="*/ 774700 h 651"/>
              <a:gd name="T6" fmla="*/ 1003300 w 636"/>
              <a:gd name="T7" fmla="*/ 0 h 651"/>
              <a:gd name="T8" fmla="*/ 0 w 636"/>
              <a:gd name="T9" fmla="*/ 0 h 651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636" h="651">
                <a:moveTo>
                  <a:pt x="0" y="0"/>
                </a:moveTo>
                <a:lnTo>
                  <a:pt x="0" y="645"/>
                </a:lnTo>
                <a:lnTo>
                  <a:pt x="636" y="651"/>
                </a:lnTo>
                <a:lnTo>
                  <a:pt x="632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3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6" name="Rectangle 31"/>
          <p:cNvSpPr>
            <a:spLocks noChangeArrowheads="1"/>
          </p:cNvSpPr>
          <p:nvPr/>
        </p:nvSpPr>
        <p:spPr bwMode="gray">
          <a:xfrm>
            <a:off x="285750" y="1827213"/>
            <a:ext cx="1012825" cy="768350"/>
          </a:xfrm>
          <a:prstGeom prst="rect">
            <a:avLst/>
          </a:prstGeom>
          <a:solidFill>
            <a:srgbClr val="FFFFFF">
              <a:alpha val="30196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7" name="Text Box 38"/>
          <p:cNvSpPr txBox="1">
            <a:spLocks noChangeArrowheads="1"/>
          </p:cNvSpPr>
          <p:nvPr/>
        </p:nvSpPr>
        <p:spPr bwMode="gray">
          <a:xfrm>
            <a:off x="333375" y="3535363"/>
            <a:ext cx="1314450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en-US" altLang="zh-CN" sz="2200" smtClean="0">
                <a:latin typeface="Arial Black" panose="020B0A04020102020204" pitchFamily="34" charset="0"/>
              </a:rPr>
              <a:t>L/O/G/O</a:t>
            </a:r>
            <a:endParaRPr lang="en-US" altLang="zh-CN" sz="2200" smtClean="0">
              <a:latin typeface="Arial Black" panose="020B0A04020102020204" pitchFamily="34" charset="0"/>
            </a:endParaRPr>
          </a:p>
        </p:txBody>
      </p:sp>
      <p:grpSp>
        <p:nvGrpSpPr>
          <p:cNvPr id="28" name="Group 71"/>
          <p:cNvGrpSpPr/>
          <p:nvPr/>
        </p:nvGrpSpPr>
        <p:grpSpPr bwMode="auto">
          <a:xfrm>
            <a:off x="8077200" y="0"/>
            <a:ext cx="1076325" cy="5143500"/>
            <a:chOff x="5088" y="0"/>
            <a:chExt cx="678" cy="4320"/>
          </a:xfrm>
        </p:grpSpPr>
        <p:sp>
          <p:nvSpPr>
            <p:cNvPr id="29" name="Freeform 66"/>
            <p:cNvSpPr/>
            <p:nvPr userDrawn="1"/>
          </p:nvSpPr>
          <p:spPr bwMode="gray">
            <a:xfrm>
              <a:off x="5088" y="0"/>
              <a:ext cx="672" cy="702"/>
            </a:xfrm>
            <a:custGeom>
              <a:avLst/>
              <a:gdLst>
                <a:gd name="T0" fmla="*/ 0 w 672"/>
                <a:gd name="T1" fmla="*/ 421 h 720"/>
                <a:gd name="T2" fmla="*/ 288 w 672"/>
                <a:gd name="T3" fmla="*/ 0 h 720"/>
                <a:gd name="T4" fmla="*/ 672 w 672"/>
                <a:gd name="T5" fmla="*/ 0 h 720"/>
                <a:gd name="T6" fmla="*/ 672 w 672"/>
                <a:gd name="T7" fmla="*/ 702 h 720"/>
                <a:gd name="T8" fmla="*/ 0 w 672"/>
                <a:gd name="T9" fmla="*/ 421 h 72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72" h="720">
                  <a:moveTo>
                    <a:pt x="0" y="432"/>
                  </a:moveTo>
                  <a:cubicBezTo>
                    <a:pt x="186" y="216"/>
                    <a:pt x="288" y="0"/>
                    <a:pt x="288" y="0"/>
                  </a:cubicBezTo>
                  <a:lnTo>
                    <a:pt x="672" y="0"/>
                  </a:lnTo>
                  <a:lnTo>
                    <a:pt x="672" y="720"/>
                  </a:lnTo>
                  <a:cubicBezTo>
                    <a:pt x="672" y="720"/>
                    <a:pt x="384" y="516"/>
                    <a:pt x="0" y="432"/>
                  </a:cubicBezTo>
                  <a:close/>
                </a:path>
              </a:pathLst>
            </a:custGeom>
            <a:solidFill>
              <a:srgbClr val="E8E8E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" name="Freeform 67"/>
            <p:cNvSpPr/>
            <p:nvPr userDrawn="1"/>
          </p:nvSpPr>
          <p:spPr bwMode="gray">
            <a:xfrm>
              <a:off x="5602" y="3496"/>
              <a:ext cx="164" cy="824"/>
            </a:xfrm>
            <a:custGeom>
              <a:avLst/>
              <a:gdLst>
                <a:gd name="T0" fmla="*/ 159 w 212"/>
                <a:gd name="T1" fmla="*/ 0 h 824"/>
                <a:gd name="T2" fmla="*/ 0 w 212"/>
                <a:gd name="T3" fmla="*/ 82 h 824"/>
                <a:gd name="T4" fmla="*/ 130 w 212"/>
                <a:gd name="T5" fmla="*/ 824 h 824"/>
                <a:gd name="T6" fmla="*/ 164 w 212"/>
                <a:gd name="T7" fmla="*/ 822 h 824"/>
                <a:gd name="T8" fmla="*/ 159 w 212"/>
                <a:gd name="T9" fmla="*/ 0 h 8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12" h="824">
                  <a:moveTo>
                    <a:pt x="206" y="0"/>
                  </a:moveTo>
                  <a:cubicBezTo>
                    <a:pt x="104" y="54"/>
                    <a:pt x="0" y="82"/>
                    <a:pt x="0" y="82"/>
                  </a:cubicBezTo>
                  <a:cubicBezTo>
                    <a:pt x="0" y="82"/>
                    <a:pt x="148" y="378"/>
                    <a:pt x="168" y="824"/>
                  </a:cubicBezTo>
                  <a:lnTo>
                    <a:pt x="212" y="822"/>
                  </a:lnTo>
                  <a:cubicBezTo>
                    <a:pt x="212" y="822"/>
                    <a:pt x="209" y="411"/>
                    <a:pt x="206" y="0"/>
                  </a:cubicBezTo>
                  <a:close/>
                </a:path>
              </a:pathLst>
            </a:custGeom>
            <a:solidFill>
              <a:srgbClr val="E8E8E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31" name="Rectangle 80"/>
          <p:cNvSpPr>
            <a:spLocks noChangeArrowheads="1"/>
          </p:cNvSpPr>
          <p:nvPr/>
        </p:nvSpPr>
        <p:spPr bwMode="gray">
          <a:xfrm>
            <a:off x="5495925" y="1000125"/>
            <a:ext cx="660400" cy="769938"/>
          </a:xfrm>
          <a:prstGeom prst="rect">
            <a:avLst/>
          </a:prstGeom>
          <a:solidFill>
            <a:srgbClr val="FFFFFF">
              <a:alpha val="3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2" name="Line 81"/>
          <p:cNvSpPr>
            <a:spLocks noChangeShapeType="1"/>
          </p:cNvSpPr>
          <p:nvPr/>
        </p:nvSpPr>
        <p:spPr bwMode="gray">
          <a:xfrm>
            <a:off x="5480050" y="1588"/>
            <a:ext cx="0" cy="3178175"/>
          </a:xfrm>
          <a:prstGeom prst="line">
            <a:avLst/>
          </a:prstGeom>
          <a:noFill/>
          <a:ln w="9525">
            <a:solidFill>
              <a:srgbClr val="FFFFFF"/>
            </a:solidFill>
            <a:round/>
          </a:ln>
          <a:effectLst>
            <a:outerShdw dist="17961" dir="2700000" algn="ctr" rotWithShape="0">
              <a:schemeClr val="accent2">
                <a:alpha val="50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3" name="Rectangle 82"/>
          <p:cNvSpPr>
            <a:spLocks noChangeArrowheads="1"/>
          </p:cNvSpPr>
          <p:nvPr/>
        </p:nvSpPr>
        <p:spPr bwMode="gray">
          <a:xfrm>
            <a:off x="4457700" y="2620963"/>
            <a:ext cx="1012825" cy="769937"/>
          </a:xfrm>
          <a:prstGeom prst="rect">
            <a:avLst/>
          </a:prstGeom>
          <a:solidFill>
            <a:srgbClr val="FFFFFF">
              <a:alpha val="30196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pic>
        <p:nvPicPr>
          <p:cNvPr id="34" name="Picture 83" descr="water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409" t="16374" b="27486"/>
          <a:stretch>
            <a:fillRect/>
          </a:stretch>
        </p:blipFill>
        <p:spPr bwMode="gray">
          <a:xfrm rot="393398">
            <a:off x="2667000" y="457200"/>
            <a:ext cx="2663825" cy="1647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333375" y="3813572"/>
            <a:ext cx="6400800" cy="342900"/>
          </a:xfrm>
        </p:spPr>
        <p:txBody>
          <a:bodyPr/>
          <a:lstStyle>
            <a:lvl1pPr marL="0" indent="0">
              <a:buFontTx/>
              <a:buNone/>
              <a:defRPr sz="1600">
                <a:latin typeface="Times New Roman" panose="02020603050405020304" pitchFamily="18" charset="0"/>
              </a:defRPr>
            </a:lvl1pPr>
          </a:lstStyle>
          <a:p>
            <a:r>
              <a:rPr lang="zh-CN" altLang="en-US" smtClean="0"/>
              <a:t>单击此处编辑母版副标题样式</a:t>
            </a:r>
            <a:endParaRPr lang="en-US" altLang="zh-CN"/>
          </a:p>
        </p:txBody>
      </p:sp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 bwMode="gray">
          <a:xfrm>
            <a:off x="333375" y="1413273"/>
            <a:ext cx="8229600" cy="1102519"/>
          </a:xfrm>
          <a:effectLst/>
        </p:spPr>
        <p:txBody>
          <a:bodyPr/>
          <a:lstStyle>
            <a:lvl1pPr>
              <a:defRPr sz="4800"/>
            </a:lvl1pPr>
          </a:lstStyle>
          <a:p>
            <a:r>
              <a:rPr lang="zh-CN" altLang="en-US" smtClean="0"/>
              <a:t>单击此处编辑母版标题样式</a:t>
            </a:r>
            <a:endParaRPr lang="en-US" altLang="zh-CN"/>
          </a:p>
        </p:txBody>
      </p:sp>
      <p:sp>
        <p:nvSpPr>
          <p:cNvPr id="35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4805363"/>
            <a:ext cx="2133600" cy="236537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A2D36FF-A46C-4327-8AFC-8F8CA4A9DA15}" type="datetimeFigureOut">
              <a:rPr lang="zh-CN" altLang="en-US"/>
            </a:fld>
            <a:endParaRPr lang="zh-CN" altLang="en-US"/>
          </a:p>
        </p:txBody>
      </p:sp>
      <p:sp>
        <p:nvSpPr>
          <p:cNvPr id="36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4805363"/>
            <a:ext cx="2895600" cy="236537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7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4805363"/>
            <a:ext cx="2133600" cy="236537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D040C1A-D003-4E5C-A006-F82E32A5D951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" dur="2000" tmFilter="0, 0; .2, .5; .8, .5; 1, 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0" dur="1000" autoRev="1" fill="hold"/>
                                        <p:tgtEl>
                                          <p:spTgt spid="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21" presetID="26" presetClass="emph" presetSubtype="0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" dur="2000" tmFilter="0, 0; .2, .5; .8, .5; 1, 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3" dur="1000" autoRev="1" fill="hold"/>
                                        <p:tgtEl>
                                          <p:spTgt spid="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24" presetID="26" presetClass="emph" presetSubtype="0" fill="hold" grpId="1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5" dur="2000" tmFilter="0, 0; .2, .5; .8, .5; 1, 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6" dur="1000" autoRev="1" fill="hold"/>
                                        <p:tgtEl>
                                          <p:spTgt spid="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27" presetID="26" presetClass="emph" presetSubtype="0" fill="hold" grpId="1" nodeType="withEffect">
                                  <p:stCondLst>
                                    <p:cond delay="16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8" dur="2000" tmFilter="0, 0; .2, .5; .8, .5; 1, 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9" dur="1000" autoRev="1" fill="hold"/>
                                        <p:tgtEl>
                                          <p:spTgt spid="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4" grpId="1" animBg="1"/>
      <p:bldP spid="5" grpId="0" animBg="1"/>
      <p:bldP spid="5" grpId="1" animBg="1"/>
      <p:bldP spid="6" grpId="0" animBg="1"/>
      <p:bldP spid="6" grpId="1" animBg="1"/>
      <p:bldP spid="7" grpId="0" animBg="1"/>
      <p:bldP spid="7" grpId="1" animBg="1"/>
    </p:bld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F3B303A-EB72-400E-B3EF-8F0316D7A345}" type="datetimeFigureOut">
              <a:rPr lang="zh-CN" altLang="en-US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9E7E7D4-3E25-417E-82DA-BA547F68252B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C1D0A2E-5D0A-4FBC-A5F4-42EB5A5BBBBB}" type="datetimeFigureOut">
              <a:rPr lang="zh-CN" altLang="en-US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FEC09FC-EBAE-412D-A6F5-439F4DBE8792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D1512C5-0FF1-4BE0-A529-90E42A40E1F4}" type="datetimeFigureOut">
              <a:rPr lang="zh-CN" altLang="en-US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414B60F-6867-45BC-87D6-C90DD4B1C6AD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78AF3D3-1853-4BE4-9C7B-7E2E53B5C00E}" type="datetimeFigureOut">
              <a:rPr lang="zh-CN" altLang="en-US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A06CEB9-BF2B-4A8E-8C05-06A5DB985C5D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048DE47-2E99-4237-9D5B-74CE382D5DF3}" type="datetimeFigureOut">
              <a:rPr lang="zh-CN" altLang="en-US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7EA3765-03C0-49BB-B83A-F33C8D3C348A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F9D3A27-8E7F-4CF2-A595-51D6FFD877B7}" type="datetimeFigureOut">
              <a:rPr lang="zh-CN" altLang="en-US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09140AC-4248-41FA-BF5B-A11768E8A9D3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973FCC1-315F-47CD-8FDA-D9273C6CAF4C}" type="datetimeFigureOut">
              <a:rPr lang="zh-CN" altLang="en-US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7515E3C-BF78-482C-B2C0-21EE9C8F9F98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CN" altLang="en-US" noProof="0" smtClean="0"/>
              <a:t>单击图标添加图片</a:t>
            </a:r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3977210-F562-4E52-B9A2-711C704FBE5A}" type="datetimeFigureOut">
              <a:rPr lang="zh-CN" altLang="en-US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CF2BBC5-FA14-42FC-A063-4AC83DC1DD67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2ED5D84-95B7-4995-B7A1-544EBA3459EF}" type="datetimeFigureOut">
              <a:rPr lang="zh-CN" altLang="en-US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8E36A07-30CB-4E4B-BA9B-DD249FB1B36A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44079"/>
            <a:ext cx="2057400" cy="4350544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44079"/>
            <a:ext cx="6019800" cy="4350544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F41641D-12FF-4823-9BD1-5AC178CD60F3}" type="datetimeFigureOut">
              <a:rPr lang="zh-CN" altLang="en-US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6BAEF94-9603-4039-ABA7-1D4B5F274CA4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44079"/>
            <a:ext cx="8229600" cy="6953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8127BE0-CD63-447D-A0E3-18BE2EEFB3C6}" type="datetimeFigureOut">
              <a:rPr lang="zh-CN" altLang="en-US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www.themegallery.com</a:t>
            </a:r>
            <a:endParaRPr lang="en-US" altLang="zh-CN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9F4190F-F75B-40AC-8AFE-9FBDE9D0D0A4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  <p:hf sldNum="0" hd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OverObj" preserve="1">
  <p:cSld name="标题和文本在内容之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44079"/>
            <a:ext cx="8229600" cy="6953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57200" y="1200150"/>
            <a:ext cx="8229600" cy="1639491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953942"/>
            <a:ext cx="8229600" cy="1640681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1E98E7F-FF63-49ED-B65D-56B26A604FC2}" type="datetimeFigureOut">
              <a:rPr lang="zh-CN" altLang="en-US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www.themegallery.com</a:t>
            </a:r>
            <a:endParaRPr lang="en-US" altLang="zh-CN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2210B80-91FE-4377-B4B9-E828399D2EC8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  <p:hf sldNum="0" hd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44079"/>
            <a:ext cx="8229600" cy="6953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表格占位符 2"/>
          <p:cNvSpPr>
            <a:spLocks noGrp="1"/>
          </p:cNvSpPr>
          <p:nvPr>
            <p:ph type="tbl" idx="1" hasCustomPrompt="1"/>
          </p:nvPr>
        </p:nvSpPr>
        <p:spPr>
          <a:xfrm>
            <a:off x="457200" y="1200151"/>
            <a:ext cx="8229600" cy="3394472"/>
          </a:xfrm>
        </p:spPr>
        <p:txBody>
          <a:bodyPr/>
          <a:lstStyle/>
          <a:p>
            <a:pPr lvl="0"/>
            <a:r>
              <a:rPr lang="zh-CN" altLang="en-US" noProof="0" smtClean="0"/>
              <a:t>单击图标添加表格</a:t>
            </a:r>
            <a:endParaRPr lang="zh-CN" altLang="en-US" noProof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415E03F-9046-4BC9-91FC-3DB117B901DE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chart" preserve="1">
  <p:cSld name="标题和图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44079"/>
            <a:ext cx="8229600" cy="6953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表占位符 2"/>
          <p:cNvSpPr>
            <a:spLocks noGrp="1"/>
          </p:cNvSpPr>
          <p:nvPr>
            <p:ph type="chart" idx="1" hasCustomPrompt="1"/>
          </p:nvPr>
        </p:nvSpPr>
        <p:spPr>
          <a:xfrm>
            <a:off x="457200" y="1200151"/>
            <a:ext cx="8229600" cy="3394472"/>
          </a:xfrm>
        </p:spPr>
        <p:txBody>
          <a:bodyPr/>
          <a:lstStyle/>
          <a:p>
            <a:pPr lvl="0"/>
            <a:r>
              <a:rPr lang="zh-CN" altLang="en-US" noProof="0" smtClean="0"/>
              <a:t>单击图标添加图表</a:t>
            </a:r>
            <a:endParaRPr lang="zh-CN" altLang="en-US" noProof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4D280C2-FD1A-42B6-81BF-808414EBDACF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dgm" preserve="1">
  <p:cSld name="标题和图示或组织结构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44079"/>
            <a:ext cx="8229600" cy="6953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SmartArt 占位符 2"/>
          <p:cNvSpPr>
            <a:spLocks noGrp="1"/>
          </p:cNvSpPr>
          <p:nvPr>
            <p:ph type="pic" idx="1" hasCustomPrompt="1"/>
          </p:nvPr>
        </p:nvSpPr>
        <p:spPr>
          <a:xfrm>
            <a:off x="457200" y="1200151"/>
            <a:ext cx="8229600" cy="3394472"/>
          </a:xfrm>
        </p:spPr>
        <p:txBody>
          <a:bodyPr/>
          <a:lstStyle/>
          <a:p>
            <a:pPr lvl="0"/>
            <a:r>
              <a:rPr lang="zh-CN" altLang="en-US" noProof="0" smtClean="0"/>
              <a:t>单击图标添加 </a:t>
            </a:r>
            <a:r>
              <a:rPr lang="en-US" altLang="zh-CN" noProof="0" smtClean="0"/>
              <a:t>SmartArt </a:t>
            </a:r>
            <a:r>
              <a:rPr lang="zh-CN" altLang="en-US" noProof="0" smtClean="0"/>
              <a:t>图形</a:t>
            </a:r>
            <a:endParaRPr lang="zh-CN" altLang="en-US" noProof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E5105B9-EBC0-45AB-ACE3-60C8D4F09A6E}" type="datetimeFigureOut">
              <a:rPr lang="zh-CN" altLang="en-US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www.themegallery.com</a:t>
            </a:r>
            <a:endParaRPr lang="en-US" altLang="zh-CN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2392B56-4AF0-48F3-A189-7C4D46BD7402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  <p:hf sldNum="0" hdr="0" dt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9" Type="http://schemas.openxmlformats.org/officeDocument/2006/relationships/theme" Target="../theme/theme1.xml"/><Relationship Id="rId18" Type="http://schemas.openxmlformats.org/officeDocument/2006/relationships/image" Target="../media/image2.png"/><Relationship Id="rId17" Type="http://schemas.openxmlformats.org/officeDocument/2006/relationships/image" Target="../media/image1.png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1" name="Freeform 7"/>
          <p:cNvSpPr/>
          <p:nvPr/>
        </p:nvSpPr>
        <p:spPr bwMode="gray">
          <a:xfrm>
            <a:off x="-9525" y="-7938"/>
            <a:ext cx="9156700" cy="5154613"/>
          </a:xfrm>
          <a:custGeom>
            <a:avLst/>
            <a:gdLst/>
            <a:ahLst/>
            <a:cxnLst>
              <a:cxn ang="0">
                <a:pos x="5766" y="605"/>
              </a:cxn>
              <a:cxn ang="0">
                <a:pos x="5768" y="4325"/>
              </a:cxn>
              <a:cxn ang="0">
                <a:pos x="1082" y="4329"/>
              </a:cxn>
              <a:cxn ang="0">
                <a:pos x="13" y="3351"/>
              </a:cxn>
              <a:cxn ang="0">
                <a:pos x="0" y="0"/>
              </a:cxn>
              <a:cxn ang="0">
                <a:pos x="2428" y="7"/>
              </a:cxn>
              <a:cxn ang="0">
                <a:pos x="5766" y="605"/>
              </a:cxn>
            </a:cxnLst>
            <a:rect l="0" t="0" r="r" b="b"/>
            <a:pathLst>
              <a:path w="5768" h="4329">
                <a:moveTo>
                  <a:pt x="5766" y="605"/>
                </a:moveTo>
                <a:cubicBezTo>
                  <a:pt x="5767" y="2464"/>
                  <a:pt x="5768" y="4325"/>
                  <a:pt x="5768" y="4325"/>
                </a:cubicBezTo>
                <a:lnTo>
                  <a:pt x="1082" y="4329"/>
                </a:lnTo>
                <a:cubicBezTo>
                  <a:pt x="318" y="3809"/>
                  <a:pt x="9" y="3349"/>
                  <a:pt x="13" y="3351"/>
                </a:cubicBezTo>
                <a:lnTo>
                  <a:pt x="0" y="0"/>
                </a:lnTo>
                <a:lnTo>
                  <a:pt x="2428" y="7"/>
                </a:lnTo>
                <a:cubicBezTo>
                  <a:pt x="2428" y="12"/>
                  <a:pt x="3096" y="401"/>
                  <a:pt x="5766" y="605"/>
                </a:cubicBezTo>
                <a:close/>
              </a:path>
            </a:pathLst>
          </a:custGeom>
          <a:gradFill rotWithShape="1">
            <a:gsLst>
              <a:gs pos="0">
                <a:schemeClr val="bg1">
                  <a:gamma/>
                  <a:tint val="3137"/>
                  <a:invGamma/>
                </a:schemeClr>
              </a:gs>
              <a:gs pos="100000">
                <a:schemeClr val="bg1">
                  <a:alpha val="70000"/>
                </a:schemeClr>
              </a:gs>
            </a:gsLst>
            <a:lin ang="2700000" scaled="1"/>
          </a:gradFill>
          <a:ln w="9525">
            <a:noFill/>
            <a:round/>
          </a:ln>
          <a:effectLst/>
        </p:spPr>
        <p:txBody>
          <a:bodyPr/>
          <a:lstStyle/>
          <a:p>
            <a:pPr>
              <a:defRPr/>
            </a:pPr>
            <a:endParaRPr lang="zh-CN" altLang="en-US"/>
          </a:p>
        </p:txBody>
      </p:sp>
      <p:sp>
        <p:nvSpPr>
          <p:cNvPr id="1033" name="Freeform 9"/>
          <p:cNvSpPr/>
          <p:nvPr/>
        </p:nvSpPr>
        <p:spPr bwMode="gray">
          <a:xfrm>
            <a:off x="-4763" y="4125913"/>
            <a:ext cx="1441451" cy="1019175"/>
          </a:xfrm>
          <a:custGeom>
            <a:avLst/>
            <a:gdLst>
              <a:gd name="T0" fmla="*/ 0 w 1089"/>
              <a:gd name="T1" fmla="*/ 0 h 1100"/>
              <a:gd name="T2" fmla="*/ 0 w 1089"/>
              <a:gd name="T3" fmla="*/ 1019175 h 1100"/>
              <a:gd name="T4" fmla="*/ 1441451 w 1089"/>
              <a:gd name="T5" fmla="*/ 1019175 h 1100"/>
              <a:gd name="T6" fmla="*/ 0 w 1089"/>
              <a:gd name="T7" fmla="*/ 0 h 1100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1089" h="1100">
                <a:moveTo>
                  <a:pt x="0" y="0"/>
                </a:moveTo>
                <a:cubicBezTo>
                  <a:pt x="0" y="550"/>
                  <a:pt x="0" y="1100"/>
                  <a:pt x="0" y="1100"/>
                </a:cubicBezTo>
                <a:lnTo>
                  <a:pt x="1089" y="1100"/>
                </a:lnTo>
                <a:cubicBezTo>
                  <a:pt x="1089" y="1100"/>
                  <a:pt x="596" y="865"/>
                  <a:pt x="0" y="0"/>
                </a:cubicBezTo>
                <a:close/>
              </a:path>
            </a:pathLst>
          </a:cu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28" name="Line 13"/>
          <p:cNvSpPr>
            <a:spLocks noChangeShapeType="1"/>
          </p:cNvSpPr>
          <p:nvPr/>
        </p:nvSpPr>
        <p:spPr bwMode="gray">
          <a:xfrm>
            <a:off x="527050" y="0"/>
            <a:ext cx="0" cy="4432300"/>
          </a:xfrm>
          <a:prstGeom prst="line">
            <a:avLst/>
          </a:prstGeom>
          <a:noFill/>
          <a:ln w="9525">
            <a:solidFill>
              <a:srgbClr val="FFFFFF">
                <a:alpha val="50195"/>
              </a:srgbClr>
            </a:solidFill>
            <a:round/>
          </a:ln>
          <a:effectLst>
            <a:outerShdw dist="17961" dir="2700000" algn="ctr" rotWithShape="0">
              <a:schemeClr val="accent2">
                <a:alpha val="35001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29" name="Line 14"/>
          <p:cNvSpPr>
            <a:spLocks noChangeShapeType="1"/>
          </p:cNvSpPr>
          <p:nvPr/>
        </p:nvSpPr>
        <p:spPr bwMode="gray">
          <a:xfrm>
            <a:off x="1677988" y="0"/>
            <a:ext cx="0" cy="5124450"/>
          </a:xfrm>
          <a:prstGeom prst="line">
            <a:avLst/>
          </a:prstGeom>
          <a:noFill/>
          <a:ln w="9525">
            <a:solidFill>
              <a:srgbClr val="FFFFFF">
                <a:alpha val="50195"/>
              </a:srgbClr>
            </a:solidFill>
            <a:round/>
          </a:ln>
          <a:effectLst>
            <a:outerShdw dist="17961" dir="2700000" algn="ctr" rotWithShape="0">
              <a:schemeClr val="accent2">
                <a:alpha val="35001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30" name="Line 15"/>
          <p:cNvSpPr>
            <a:spLocks noChangeShapeType="1"/>
          </p:cNvSpPr>
          <p:nvPr/>
        </p:nvSpPr>
        <p:spPr bwMode="gray">
          <a:xfrm>
            <a:off x="2830513" y="0"/>
            <a:ext cx="0" cy="5146675"/>
          </a:xfrm>
          <a:prstGeom prst="line">
            <a:avLst/>
          </a:prstGeom>
          <a:noFill/>
          <a:ln w="9525">
            <a:solidFill>
              <a:srgbClr val="FFFFFF">
                <a:alpha val="50195"/>
              </a:srgbClr>
            </a:solidFill>
            <a:round/>
          </a:ln>
          <a:effectLst>
            <a:outerShdw dist="17961" dir="2700000" algn="ctr" rotWithShape="0">
              <a:schemeClr val="accent2">
                <a:alpha val="35001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" name="Line 16"/>
          <p:cNvSpPr>
            <a:spLocks noChangeShapeType="1"/>
          </p:cNvSpPr>
          <p:nvPr/>
        </p:nvSpPr>
        <p:spPr bwMode="gray">
          <a:xfrm>
            <a:off x="3983038" y="0"/>
            <a:ext cx="0" cy="5156200"/>
          </a:xfrm>
          <a:prstGeom prst="line">
            <a:avLst/>
          </a:prstGeom>
          <a:noFill/>
          <a:ln w="9525">
            <a:solidFill>
              <a:srgbClr val="FFFFFF">
                <a:alpha val="50195"/>
              </a:srgbClr>
            </a:solidFill>
            <a:round/>
          </a:ln>
          <a:effectLst>
            <a:outerShdw dist="17961" dir="2700000" algn="ctr" rotWithShape="0">
              <a:schemeClr val="accent2">
                <a:alpha val="35001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32" name="Line 17"/>
          <p:cNvSpPr>
            <a:spLocks noChangeShapeType="1"/>
          </p:cNvSpPr>
          <p:nvPr/>
        </p:nvSpPr>
        <p:spPr bwMode="gray">
          <a:xfrm>
            <a:off x="5133975" y="292100"/>
            <a:ext cx="0" cy="4864100"/>
          </a:xfrm>
          <a:prstGeom prst="line">
            <a:avLst/>
          </a:prstGeom>
          <a:noFill/>
          <a:ln w="9525">
            <a:solidFill>
              <a:srgbClr val="FFFFFF">
                <a:alpha val="50195"/>
              </a:srgbClr>
            </a:solidFill>
            <a:round/>
          </a:ln>
          <a:effectLst>
            <a:outerShdw dist="17961" dir="2700000" algn="ctr" rotWithShape="0">
              <a:schemeClr val="accent2">
                <a:alpha val="35001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" name="Line 18"/>
          <p:cNvSpPr>
            <a:spLocks noChangeShapeType="1"/>
          </p:cNvSpPr>
          <p:nvPr/>
        </p:nvSpPr>
        <p:spPr bwMode="gray">
          <a:xfrm>
            <a:off x="6286500" y="465138"/>
            <a:ext cx="0" cy="4691062"/>
          </a:xfrm>
          <a:prstGeom prst="line">
            <a:avLst/>
          </a:prstGeom>
          <a:noFill/>
          <a:ln w="9525">
            <a:solidFill>
              <a:srgbClr val="FFFFFF">
                <a:alpha val="50195"/>
              </a:srgbClr>
            </a:solidFill>
            <a:round/>
          </a:ln>
          <a:effectLst>
            <a:outerShdw dist="17961" dir="2700000" algn="ctr" rotWithShape="0">
              <a:schemeClr val="accent2">
                <a:alpha val="35001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34" name="Line 19"/>
          <p:cNvSpPr>
            <a:spLocks noChangeShapeType="1"/>
          </p:cNvSpPr>
          <p:nvPr/>
        </p:nvSpPr>
        <p:spPr bwMode="gray">
          <a:xfrm>
            <a:off x="7439025" y="579438"/>
            <a:ext cx="0" cy="4576762"/>
          </a:xfrm>
          <a:prstGeom prst="line">
            <a:avLst/>
          </a:prstGeom>
          <a:noFill/>
          <a:ln w="9525">
            <a:solidFill>
              <a:srgbClr val="FFFFFF">
                <a:alpha val="50195"/>
              </a:srgbClr>
            </a:solidFill>
            <a:round/>
          </a:ln>
          <a:effectLst>
            <a:outerShdw dist="17961" dir="2700000" algn="ctr" rotWithShape="0">
              <a:schemeClr val="accent2">
                <a:alpha val="35001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35" name="Line 20"/>
          <p:cNvSpPr>
            <a:spLocks noChangeShapeType="1"/>
          </p:cNvSpPr>
          <p:nvPr/>
        </p:nvSpPr>
        <p:spPr bwMode="gray">
          <a:xfrm>
            <a:off x="8591550" y="674688"/>
            <a:ext cx="0" cy="4481512"/>
          </a:xfrm>
          <a:prstGeom prst="line">
            <a:avLst/>
          </a:prstGeom>
          <a:noFill/>
          <a:ln w="9525">
            <a:solidFill>
              <a:srgbClr val="FFFFFF">
                <a:alpha val="50195"/>
              </a:srgbClr>
            </a:solidFill>
            <a:round/>
          </a:ln>
          <a:effectLst>
            <a:outerShdw dist="17961" dir="2700000" algn="ctr" rotWithShape="0">
              <a:schemeClr val="accent2">
                <a:alpha val="35001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36" name="Line 22"/>
          <p:cNvSpPr>
            <a:spLocks noChangeShapeType="1"/>
          </p:cNvSpPr>
          <p:nvPr/>
        </p:nvSpPr>
        <p:spPr bwMode="gray">
          <a:xfrm rot="5400000">
            <a:off x="2595563" y="-2281238"/>
            <a:ext cx="0" cy="5191125"/>
          </a:xfrm>
          <a:prstGeom prst="line">
            <a:avLst/>
          </a:prstGeom>
          <a:noFill/>
          <a:ln w="9525">
            <a:solidFill>
              <a:srgbClr val="FFFFFF">
                <a:alpha val="50195"/>
              </a:srgbClr>
            </a:solidFill>
            <a:round/>
          </a:ln>
          <a:effectLst>
            <a:outerShdw dist="17961" dir="2700000" algn="ctr" rotWithShape="0">
              <a:schemeClr val="accent2">
                <a:alpha val="35001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37" name="Line 23"/>
          <p:cNvSpPr>
            <a:spLocks noChangeShapeType="1"/>
          </p:cNvSpPr>
          <p:nvPr/>
        </p:nvSpPr>
        <p:spPr bwMode="gray">
          <a:xfrm rot="5400000">
            <a:off x="4578350" y="-3422650"/>
            <a:ext cx="0" cy="9156700"/>
          </a:xfrm>
          <a:prstGeom prst="line">
            <a:avLst/>
          </a:prstGeom>
          <a:noFill/>
          <a:ln w="9525">
            <a:solidFill>
              <a:srgbClr val="FFFFFF">
                <a:alpha val="50195"/>
              </a:srgbClr>
            </a:solidFill>
            <a:round/>
          </a:ln>
          <a:effectLst>
            <a:outerShdw dist="17961" dir="2700000" algn="ctr" rotWithShape="0">
              <a:schemeClr val="accent2">
                <a:alpha val="35001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38" name="Line 24"/>
          <p:cNvSpPr>
            <a:spLocks noChangeShapeType="1"/>
          </p:cNvSpPr>
          <p:nvPr/>
        </p:nvSpPr>
        <p:spPr bwMode="gray">
          <a:xfrm rot="5400000">
            <a:off x="4578350" y="-2579687"/>
            <a:ext cx="0" cy="9156700"/>
          </a:xfrm>
          <a:prstGeom prst="line">
            <a:avLst/>
          </a:prstGeom>
          <a:noFill/>
          <a:ln w="9525">
            <a:solidFill>
              <a:srgbClr val="FFFFFF">
                <a:alpha val="50195"/>
              </a:srgbClr>
            </a:solidFill>
            <a:round/>
          </a:ln>
          <a:effectLst>
            <a:outerShdw dist="17961" dir="2700000" algn="ctr" rotWithShape="0">
              <a:schemeClr val="accent2">
                <a:alpha val="35001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39" name="Line 25"/>
          <p:cNvSpPr>
            <a:spLocks noChangeShapeType="1"/>
          </p:cNvSpPr>
          <p:nvPr/>
        </p:nvSpPr>
        <p:spPr bwMode="gray">
          <a:xfrm rot="5400000">
            <a:off x="4579938" y="-1735138"/>
            <a:ext cx="0" cy="9153525"/>
          </a:xfrm>
          <a:prstGeom prst="line">
            <a:avLst/>
          </a:prstGeom>
          <a:noFill/>
          <a:ln w="9525">
            <a:solidFill>
              <a:srgbClr val="FFFFFF">
                <a:alpha val="50195"/>
              </a:srgbClr>
            </a:solidFill>
            <a:round/>
          </a:ln>
          <a:effectLst>
            <a:outerShdw dist="17961" dir="2700000" algn="ctr" rotWithShape="0">
              <a:schemeClr val="accent2">
                <a:alpha val="35001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40" name="Line 26"/>
          <p:cNvSpPr>
            <a:spLocks noChangeShapeType="1"/>
          </p:cNvSpPr>
          <p:nvPr/>
        </p:nvSpPr>
        <p:spPr bwMode="gray">
          <a:xfrm rot="5400000">
            <a:off x="4579938" y="-892175"/>
            <a:ext cx="0" cy="9153525"/>
          </a:xfrm>
          <a:prstGeom prst="line">
            <a:avLst/>
          </a:prstGeom>
          <a:noFill/>
          <a:ln w="9525">
            <a:solidFill>
              <a:srgbClr val="FFFFFF">
                <a:alpha val="50195"/>
              </a:srgbClr>
            </a:solidFill>
            <a:round/>
          </a:ln>
          <a:effectLst>
            <a:outerShdw dist="17961" dir="2700000" algn="ctr" rotWithShape="0">
              <a:schemeClr val="accent2">
                <a:alpha val="35001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41" name="Line 27"/>
          <p:cNvSpPr>
            <a:spLocks noChangeShapeType="1"/>
          </p:cNvSpPr>
          <p:nvPr/>
        </p:nvSpPr>
        <p:spPr bwMode="gray">
          <a:xfrm rot="5400000">
            <a:off x="4905376" y="315912"/>
            <a:ext cx="0" cy="8423275"/>
          </a:xfrm>
          <a:prstGeom prst="line">
            <a:avLst/>
          </a:prstGeom>
          <a:noFill/>
          <a:ln w="9525">
            <a:solidFill>
              <a:srgbClr val="FFFFFF">
                <a:alpha val="50195"/>
              </a:srgbClr>
            </a:solidFill>
            <a:round/>
          </a:ln>
          <a:effectLst>
            <a:outerShdw dist="17961" dir="2700000" algn="ctr" rotWithShape="0">
              <a:schemeClr val="accent2">
                <a:alpha val="35001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42" name="Rectangle 28"/>
          <p:cNvSpPr>
            <a:spLocks noChangeArrowheads="1"/>
          </p:cNvSpPr>
          <p:nvPr/>
        </p:nvSpPr>
        <p:spPr bwMode="gray">
          <a:xfrm>
            <a:off x="4005263" y="2019300"/>
            <a:ext cx="1128712" cy="809625"/>
          </a:xfrm>
          <a:prstGeom prst="rect">
            <a:avLst/>
          </a:prstGeom>
          <a:solidFill>
            <a:srgbClr val="FFFFFF">
              <a:alpha val="25098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43" name="Rectangle 29"/>
          <p:cNvSpPr>
            <a:spLocks noChangeArrowheads="1"/>
          </p:cNvSpPr>
          <p:nvPr/>
        </p:nvSpPr>
        <p:spPr bwMode="gray">
          <a:xfrm>
            <a:off x="7459663" y="3703638"/>
            <a:ext cx="1120775" cy="809625"/>
          </a:xfrm>
          <a:prstGeom prst="rect">
            <a:avLst/>
          </a:prstGeom>
          <a:solidFill>
            <a:srgbClr val="FFFFFF">
              <a:alpha val="30196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44" name="Rectangle 30"/>
          <p:cNvSpPr>
            <a:spLocks noChangeArrowheads="1"/>
          </p:cNvSpPr>
          <p:nvPr/>
        </p:nvSpPr>
        <p:spPr bwMode="gray">
          <a:xfrm>
            <a:off x="549275" y="2855913"/>
            <a:ext cx="1128713" cy="809625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45" name="Rectangle 31"/>
          <p:cNvSpPr>
            <a:spLocks noChangeArrowheads="1"/>
          </p:cNvSpPr>
          <p:nvPr/>
        </p:nvSpPr>
        <p:spPr bwMode="gray">
          <a:xfrm>
            <a:off x="6307138" y="4548188"/>
            <a:ext cx="1128712" cy="598487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46" name="Rectangle 32"/>
          <p:cNvSpPr>
            <a:spLocks noChangeArrowheads="1"/>
          </p:cNvSpPr>
          <p:nvPr/>
        </p:nvSpPr>
        <p:spPr bwMode="gray">
          <a:xfrm>
            <a:off x="2846388" y="0"/>
            <a:ext cx="1128712" cy="303213"/>
          </a:xfrm>
          <a:prstGeom prst="rect">
            <a:avLst/>
          </a:prstGeom>
          <a:solidFill>
            <a:srgbClr val="FFFFFF">
              <a:alpha val="3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47" name="Rectangle 33"/>
          <p:cNvSpPr>
            <a:spLocks noChangeArrowheads="1"/>
          </p:cNvSpPr>
          <p:nvPr/>
        </p:nvSpPr>
        <p:spPr bwMode="gray">
          <a:xfrm>
            <a:off x="2852738" y="3703638"/>
            <a:ext cx="1120775" cy="809625"/>
          </a:xfrm>
          <a:prstGeom prst="rect">
            <a:avLst/>
          </a:prstGeom>
          <a:solidFill>
            <a:srgbClr val="FFFFFF">
              <a:alpha val="30196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48" name="Rectangle 34"/>
          <p:cNvSpPr>
            <a:spLocks noChangeArrowheads="1"/>
          </p:cNvSpPr>
          <p:nvPr/>
        </p:nvSpPr>
        <p:spPr bwMode="gray">
          <a:xfrm>
            <a:off x="6300788" y="1174750"/>
            <a:ext cx="1120775" cy="809625"/>
          </a:xfrm>
          <a:prstGeom prst="rect">
            <a:avLst/>
          </a:prstGeom>
          <a:solidFill>
            <a:srgbClr val="FFFFFF">
              <a:alpha val="30196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49" name="Rectangle 3"/>
          <p:cNvSpPr>
            <a:spLocks noGrp="1" noChangeArrowheads="1"/>
          </p:cNvSpPr>
          <p:nvPr>
            <p:ph type="body" idx="1"/>
          </p:nvPr>
        </p:nvSpPr>
        <p:spPr bwMode="gray">
          <a:xfrm>
            <a:off x="457200" y="1200150"/>
            <a:ext cx="8229600" cy="3394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 altLang="zh-CN" smtClean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2"/>
          </p:nvPr>
        </p:nvSpPr>
        <p:spPr bwMode="gray">
          <a:xfrm>
            <a:off x="457200" y="4684713"/>
            <a:ext cx="2133600" cy="35718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l">
              <a:defRPr sz="1400"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3"/>
          </p:nvPr>
        </p:nvSpPr>
        <p:spPr bwMode="gray">
          <a:xfrm>
            <a:off x="3124200" y="4684713"/>
            <a:ext cx="2895600" cy="35718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 sz="1400">
                <a:ea typeface="宋体" panose="02010600030101010101" pitchFamily="2" charset="-122"/>
              </a:defRPr>
            </a:lvl1pPr>
          </a:lstStyle>
          <a:p>
            <a:pPr>
              <a:defRPr/>
            </a:pPr>
            <a:r>
              <a:rPr lang="en-US" altLang="zh-CN"/>
              <a:t>www.themegallery.com</a:t>
            </a:r>
            <a:endParaRPr lang="en-US" altLang="zh-CN" dirty="0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4"/>
          </p:nvPr>
        </p:nvSpPr>
        <p:spPr bwMode="gray">
          <a:xfrm>
            <a:off x="6553200" y="4684713"/>
            <a:ext cx="2133600" cy="35718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03FECE39-8918-40C1-8D92-AA0F5C63804D}" type="slidenum">
              <a:rPr lang="zh-CN" altLang="en-US"/>
            </a:fld>
            <a:endParaRPr lang="en-US" altLang="zh-CN"/>
          </a:p>
        </p:txBody>
      </p:sp>
      <p:sp>
        <p:nvSpPr>
          <p:cNvPr id="1060" name="Freeform 36"/>
          <p:cNvSpPr/>
          <p:nvPr/>
        </p:nvSpPr>
        <p:spPr bwMode="gray">
          <a:xfrm>
            <a:off x="4041775" y="0"/>
            <a:ext cx="5105400" cy="555625"/>
          </a:xfrm>
          <a:custGeom>
            <a:avLst/>
            <a:gdLst>
              <a:gd name="T0" fmla="*/ 5105400 w 3130"/>
              <a:gd name="T1" fmla="*/ 555625 h 453"/>
              <a:gd name="T2" fmla="*/ 5105400 w 3130"/>
              <a:gd name="T3" fmla="*/ 0 h 453"/>
              <a:gd name="T4" fmla="*/ 0 w 3130"/>
              <a:gd name="T5" fmla="*/ 0 h 453"/>
              <a:gd name="T6" fmla="*/ 5105400 w 3130"/>
              <a:gd name="T7" fmla="*/ 555625 h 453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3130" h="453">
                <a:moveTo>
                  <a:pt x="3130" y="453"/>
                </a:moveTo>
                <a:cubicBezTo>
                  <a:pt x="3130" y="226"/>
                  <a:pt x="3130" y="0"/>
                  <a:pt x="3130" y="0"/>
                </a:cubicBezTo>
                <a:lnTo>
                  <a:pt x="0" y="0"/>
                </a:lnTo>
                <a:cubicBezTo>
                  <a:pt x="0" y="0"/>
                  <a:pt x="1298" y="389"/>
                  <a:pt x="3130" y="453"/>
                </a:cubicBezTo>
                <a:close/>
              </a:path>
            </a:pathLst>
          </a:custGeom>
          <a:solidFill>
            <a:schemeClr val="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black">
          <a:xfrm>
            <a:off x="457200" y="244475"/>
            <a:ext cx="8229600" cy="695325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rgbClr val="FFFFFF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 smtClean="0"/>
              <a:t>单击此处编辑母版标题样式</a:t>
            </a:r>
            <a:endParaRPr lang="en-US" altLang="zh-CN" smtClean="0"/>
          </a:p>
        </p:txBody>
      </p:sp>
      <p:pic>
        <p:nvPicPr>
          <p:cNvPr id="1055" name="Picture 37" descr="water"/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409" t="16374" b="27486"/>
          <a:stretch>
            <a:fillRect/>
          </a:stretch>
        </p:blipFill>
        <p:spPr bwMode="gray">
          <a:xfrm rot="786797">
            <a:off x="6629400" y="-285750"/>
            <a:ext cx="2417763" cy="1497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56" name="Picture 38" descr="3"/>
          <p:cNvPicPr>
            <a:picLocks noChangeAspect="1" noChangeArrowheads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gray">
          <a:xfrm rot="20740733" flipH="1">
            <a:off x="49213" y="4294188"/>
            <a:ext cx="1223962" cy="1028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9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10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10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500"/>
                            </p:stCondLst>
                            <p:childTnLst>
                              <p:par>
                                <p:cTn id="18" presetID="1" presetClass="emph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9" dur="1000" fill="hold"/>
                                        <p:tgtEl>
                                          <p:spTgt spid="106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folHlink"/>
                                      </p:to>
                                    </p:animClr>
                                    <p:set>
                                      <p:cBhvr>
                                        <p:cTn id="20" dur="1000" fill="hold"/>
                                        <p:tgtEl>
                                          <p:spTgt spid="106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1" dur="1000" fill="hold"/>
                                        <p:tgtEl>
                                          <p:spTgt spid="106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mph" presetSubtype="2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animClr clrSpc="rgb" dir="cw">
                                      <p:cBhvr>
                                        <p:cTn id="23" dur="1000" fill="hold"/>
                                        <p:tgtEl>
                                          <p:spTgt spid="103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1"/>
                                      </p:to>
                                    </p:animClr>
                                    <p:set>
                                      <p:cBhvr>
                                        <p:cTn id="24" dur="1000" fill="hold"/>
                                        <p:tgtEl>
                                          <p:spTgt spid="103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5" dur="1000" fill="hold"/>
                                        <p:tgtEl>
                                          <p:spTgt spid="103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33" grpId="0" animBg="1"/>
      <p:bldP spid="1060" grpId="0" animBg="1"/>
      <p:bldP spid="1026" grpId="0"/>
    </p:bldLst>
  </p:timing>
  <p:hf sldNum="0"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panose="020B0604020202020204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panose="020B0604020202020204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panose="020B0604020202020204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panose="020B0604020202020204" pitchFamily="34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panose="020B0604020202020204" pitchFamily="34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panose="020B0604020202020204" pitchFamily="34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panose="020B0604020202020204" pitchFamily="34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1" Type="http://schemas.openxmlformats.org/officeDocument/2006/relationships/tags" Target="../tags/tag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image" Target="../media/image14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7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61" name="Rectangle 17"/>
          <p:cNvSpPr>
            <a:spLocks noChangeArrowheads="1"/>
          </p:cNvSpPr>
          <p:nvPr/>
        </p:nvSpPr>
        <p:spPr bwMode="auto">
          <a:xfrm>
            <a:off x="1066800" y="1275606"/>
            <a:ext cx="7042150" cy="9002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68580" tIns="34290" rIns="68580" bIns="34290">
            <a:spAutoFit/>
          </a:bodyPr>
          <a:lstStyle/>
          <a:p>
            <a:pPr algn="ctr" defTabSz="685800">
              <a:defRPr/>
            </a:pPr>
            <a:r>
              <a:rPr lang="zh-CN" altLang="en-US" sz="5400" dirty="0">
                <a:solidFill>
                  <a:srgbClr val="00B05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通信工程制图</a:t>
            </a:r>
            <a:endParaRPr lang="zh-CN" altLang="en-US" sz="5400" dirty="0">
              <a:solidFill>
                <a:srgbClr val="00B05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</p:cSld>
  <p:clrMapOvr>
    <a:masterClrMapping/>
  </p:clrMapOvr>
  <p:transition advTm="2515"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pPr eaLnBrk="1" hangingPunct="1"/>
            <a:r>
              <a:rPr lang="zh-CN" altLang="en-US" sz="3200" dirty="0" smtClean="0"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机房平面图的绘制</a:t>
            </a:r>
            <a:endParaRPr lang="zh-CN" altLang="en-US" sz="3200" dirty="0" smtClean="0">
              <a:latin typeface="华文新魏" panose="02010800040101010101" pitchFamily="2" charset="-122"/>
              <a:ea typeface="华文新魏" panose="02010800040101010101" pitchFamily="2" charset="-122"/>
              <a:sym typeface="+mn-ea"/>
            </a:endParaRPr>
          </a:p>
        </p:txBody>
      </p:sp>
      <p:sp>
        <p:nvSpPr>
          <p:cNvPr id="18439" name="Text Box 35"/>
          <p:cNvSpPr txBox="1">
            <a:spLocks noChangeArrowheads="1"/>
          </p:cNvSpPr>
          <p:nvPr/>
        </p:nvSpPr>
        <p:spPr bwMode="auto">
          <a:xfrm>
            <a:off x="1660525" y="541338"/>
            <a:ext cx="18415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pSp>
        <p:nvGrpSpPr>
          <p:cNvPr id="37" name="组合 36"/>
          <p:cNvGrpSpPr/>
          <p:nvPr/>
        </p:nvGrpSpPr>
        <p:grpSpPr>
          <a:xfrm>
            <a:off x="2124075" y="1203960"/>
            <a:ext cx="4830445" cy="3591082"/>
            <a:chOff x="3345" y="2009"/>
            <a:chExt cx="7607" cy="5655"/>
          </a:xfrm>
        </p:grpSpPr>
        <p:grpSp>
          <p:nvGrpSpPr>
            <p:cNvPr id="18435" name="Group 3"/>
            <p:cNvGrpSpPr/>
            <p:nvPr/>
          </p:nvGrpSpPr>
          <p:grpSpPr bwMode="auto">
            <a:xfrm rot="0">
              <a:off x="3381" y="5195"/>
              <a:ext cx="7545" cy="846"/>
              <a:chOff x="1152" y="1272"/>
              <a:chExt cx="3408" cy="451"/>
            </a:xfrm>
          </p:grpSpPr>
          <p:grpSp>
            <p:nvGrpSpPr>
              <p:cNvPr id="18462" name="Group 4"/>
              <p:cNvGrpSpPr/>
              <p:nvPr/>
            </p:nvGrpSpPr>
            <p:grpSpPr bwMode="auto">
              <a:xfrm>
                <a:off x="1152" y="1275"/>
                <a:ext cx="480" cy="419"/>
                <a:chOff x="1110" y="2656"/>
                <a:chExt cx="1549" cy="1351"/>
              </a:xfrm>
            </p:grpSpPr>
            <p:sp>
              <p:nvSpPr>
                <p:cNvPr id="18466" name="AutoShape 5"/>
                <p:cNvSpPr>
                  <a:spLocks noChangeArrowheads="1"/>
                </p:cNvSpPr>
                <p:nvPr/>
              </p:nvSpPr>
              <p:spPr bwMode="gray">
                <a:xfrm>
                  <a:off x="1123" y="2679"/>
                  <a:ext cx="1536" cy="1328"/>
                </a:xfrm>
                <a:prstGeom prst="hexagon">
                  <a:avLst>
                    <a:gd name="adj" fmla="val 28916"/>
                    <a:gd name="vf" fmla="val 115470"/>
                  </a:avLst>
                </a:prstGeom>
                <a:solidFill>
                  <a:srgbClr val="80808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zh-CN" altLang="en-US">
                    <a:latin typeface="华文新魏" panose="02010800040101010101" pitchFamily="2" charset="-122"/>
                    <a:ea typeface="华文新魏" panose="02010800040101010101" pitchFamily="2" charset="-122"/>
                  </a:endParaRPr>
                </a:p>
              </p:txBody>
            </p:sp>
            <p:sp>
              <p:nvSpPr>
                <p:cNvPr id="18467" name="AutoShape 6"/>
                <p:cNvSpPr>
                  <a:spLocks noChangeArrowheads="1"/>
                </p:cNvSpPr>
                <p:nvPr/>
              </p:nvSpPr>
              <p:spPr bwMode="gray">
                <a:xfrm>
                  <a:off x="1110" y="2656"/>
                  <a:ext cx="1536" cy="1328"/>
                </a:xfrm>
                <a:prstGeom prst="hexagon">
                  <a:avLst>
                    <a:gd name="adj" fmla="val 28916"/>
                    <a:gd name="vf" fmla="val 115470"/>
                  </a:avLst>
                </a:prstGeom>
                <a:gradFill rotWithShape="1">
                  <a:gsLst>
                    <a:gs pos="0">
                      <a:srgbClr val="E6E6E6"/>
                    </a:gs>
                    <a:gs pos="7500">
                      <a:srgbClr val="7D8496"/>
                    </a:gs>
                    <a:gs pos="26500">
                      <a:srgbClr val="E6E6E6"/>
                    </a:gs>
                    <a:gs pos="34000">
                      <a:srgbClr val="7D8496"/>
                    </a:gs>
                    <a:gs pos="46500">
                      <a:srgbClr val="E6E6E6"/>
                    </a:gs>
                    <a:gs pos="50000">
                      <a:srgbClr val="FFFFFF"/>
                    </a:gs>
                    <a:gs pos="53500">
                      <a:srgbClr val="E6E6E6"/>
                    </a:gs>
                    <a:gs pos="66000">
                      <a:srgbClr val="7D8496"/>
                    </a:gs>
                    <a:gs pos="73500">
                      <a:srgbClr val="E6E6E6"/>
                    </a:gs>
                    <a:gs pos="92500">
                      <a:srgbClr val="7D8496"/>
                    </a:gs>
                    <a:gs pos="100000">
                      <a:srgbClr val="E6E6E6"/>
                    </a:gs>
                  </a:gsLst>
                  <a:lin ang="2700000" scaled="1"/>
                </a:gradFill>
                <a:ln w="9525">
                  <a:solidFill>
                    <a:srgbClr val="C0C0C0"/>
                  </a:solidFill>
                  <a:miter lim="800000"/>
                </a:ln>
              </p:spPr>
              <p:txBody>
                <a:bodyPr wrap="none" anchor="ctr"/>
                <a:lstStyle/>
                <a:p>
                  <a:endParaRPr lang="zh-CN" altLang="en-US">
                    <a:latin typeface="华文新魏" panose="02010800040101010101" pitchFamily="2" charset="-122"/>
                    <a:ea typeface="华文新魏" panose="02010800040101010101" pitchFamily="2" charset="-122"/>
                  </a:endParaRPr>
                </a:p>
              </p:txBody>
            </p:sp>
            <p:sp>
              <p:nvSpPr>
                <p:cNvPr id="46087" name="AutoShape 7"/>
                <p:cNvSpPr>
                  <a:spLocks noChangeArrowheads="1"/>
                </p:cNvSpPr>
                <p:nvPr/>
              </p:nvSpPr>
              <p:spPr bwMode="gray">
                <a:xfrm>
                  <a:off x="1201" y="2737"/>
                  <a:ext cx="1348" cy="1169"/>
                </a:xfrm>
                <a:prstGeom prst="hexagon">
                  <a:avLst>
                    <a:gd name="adj" fmla="val 28896"/>
                    <a:gd name="vf" fmla="val 115470"/>
                  </a:avLst>
                </a:prstGeom>
                <a:gradFill rotWithShape="1">
                  <a:gsLst>
                    <a:gs pos="0">
                      <a:schemeClr val="hlink">
                        <a:gamma/>
                        <a:shade val="46275"/>
                        <a:invGamma/>
                      </a:schemeClr>
                    </a:gs>
                    <a:gs pos="100000">
                      <a:schemeClr val="hlink"/>
                    </a:gs>
                  </a:gsLst>
                  <a:lin ang="2700000" scaled="1"/>
                </a:gradFill>
                <a:ln w="9525">
                  <a:solidFill>
                    <a:schemeClr val="tx1"/>
                  </a:solidFill>
                  <a:miter lim="800000"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zh-CN" altLang="en-US">
                    <a:latin typeface="华文新魏" panose="02010800040101010101" pitchFamily="2" charset="-122"/>
                    <a:ea typeface="华文新魏" panose="02010800040101010101" pitchFamily="2" charset="-122"/>
                  </a:endParaRPr>
                </a:p>
              </p:txBody>
            </p:sp>
          </p:grpSp>
          <p:sp>
            <p:nvSpPr>
              <p:cNvPr id="18463" name="Line 8"/>
              <p:cNvSpPr>
                <a:spLocks noChangeShapeType="1"/>
              </p:cNvSpPr>
              <p:nvPr/>
            </p:nvSpPr>
            <p:spPr bwMode="auto">
              <a:xfrm>
                <a:off x="1536" y="1659"/>
                <a:ext cx="3024" cy="0"/>
              </a:xfrm>
              <a:prstGeom prst="line">
                <a:avLst/>
              </a:prstGeom>
              <a:noFill/>
              <a:ln w="25400">
                <a:solidFill>
                  <a:schemeClr val="tx2"/>
                </a:solidFill>
                <a:prstDash val="sysDot"/>
                <a:round/>
                <a:tailEnd type="oval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8464" name="Text Box 9"/>
              <p:cNvSpPr txBox="1">
                <a:spLocks noChangeArrowheads="1"/>
              </p:cNvSpPr>
              <p:nvPr/>
            </p:nvSpPr>
            <p:spPr bwMode="auto">
              <a:xfrm>
                <a:off x="1818" y="1272"/>
                <a:ext cx="1648" cy="38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l"/>
                <a:r>
                  <a:rPr lang="zh-CN" altLang="en-US" sz="2400">
                    <a:solidFill>
                      <a:schemeClr val="tx2"/>
                    </a:solidFill>
                    <a:latin typeface="华文新魏" panose="02010800040101010101" pitchFamily="2" charset="-122"/>
                    <a:ea typeface="华文新魏" panose="02010800040101010101" pitchFamily="2" charset="-122"/>
                    <a:sym typeface="+mn-ea"/>
                  </a:rPr>
                  <a:t>机房墙体的绘制</a:t>
                </a:r>
                <a:endParaRPr lang="zh-CN" altLang="en-US" sz="2400">
                  <a:solidFill>
                    <a:schemeClr val="tx2"/>
                  </a:solidFill>
                  <a:latin typeface="华文新魏" panose="02010800040101010101" pitchFamily="2" charset="-122"/>
                  <a:ea typeface="华文新魏" panose="02010800040101010101" pitchFamily="2" charset="-122"/>
                  <a:sym typeface="+mn-ea"/>
                </a:endParaRPr>
              </a:p>
            </p:txBody>
          </p:sp>
          <p:sp>
            <p:nvSpPr>
              <p:cNvPr id="18465" name="Text Box 10"/>
              <p:cNvSpPr txBox="1">
                <a:spLocks noChangeArrowheads="1"/>
              </p:cNvSpPr>
              <p:nvPr/>
            </p:nvSpPr>
            <p:spPr bwMode="gray">
              <a:xfrm>
                <a:off x="1260" y="1337"/>
                <a:ext cx="254" cy="38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/>
                <a:r>
                  <a:rPr lang="en-US" altLang="zh-CN" sz="2400" b="1">
                    <a:solidFill>
                      <a:schemeClr val="bg1"/>
                    </a:solidFill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5</a:t>
                </a:r>
                <a:endParaRPr lang="en-US" altLang="zh-CN" sz="2400" b="1">
                  <a:solidFill>
                    <a:schemeClr val="bg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</p:txBody>
          </p:sp>
        </p:grpSp>
        <p:grpSp>
          <p:nvGrpSpPr>
            <p:cNvPr id="18436" name="Group 11"/>
            <p:cNvGrpSpPr/>
            <p:nvPr/>
          </p:nvGrpSpPr>
          <p:grpSpPr bwMode="auto">
            <a:xfrm rot="0">
              <a:off x="3348" y="2768"/>
              <a:ext cx="7545" cy="875"/>
              <a:chOff x="1152" y="1834"/>
              <a:chExt cx="3408" cy="466"/>
            </a:xfrm>
          </p:grpSpPr>
          <p:grpSp>
            <p:nvGrpSpPr>
              <p:cNvPr id="18455" name="Group 12"/>
              <p:cNvGrpSpPr/>
              <p:nvPr/>
            </p:nvGrpSpPr>
            <p:grpSpPr bwMode="auto">
              <a:xfrm>
                <a:off x="1152" y="1851"/>
                <a:ext cx="480" cy="419"/>
                <a:chOff x="3174" y="2656"/>
                <a:chExt cx="1549" cy="1351"/>
              </a:xfrm>
            </p:grpSpPr>
            <p:sp>
              <p:nvSpPr>
                <p:cNvPr id="18459" name="AutoShape 13"/>
                <p:cNvSpPr>
                  <a:spLocks noChangeArrowheads="1"/>
                </p:cNvSpPr>
                <p:nvPr/>
              </p:nvSpPr>
              <p:spPr bwMode="gray">
                <a:xfrm>
                  <a:off x="3187" y="2679"/>
                  <a:ext cx="1536" cy="1328"/>
                </a:xfrm>
                <a:prstGeom prst="hexagon">
                  <a:avLst>
                    <a:gd name="adj" fmla="val 28916"/>
                    <a:gd name="vf" fmla="val 115470"/>
                  </a:avLst>
                </a:prstGeom>
                <a:solidFill>
                  <a:srgbClr val="80808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zh-CN" altLang="en-US">
                    <a:latin typeface="华文新魏" panose="02010800040101010101" pitchFamily="2" charset="-122"/>
                    <a:ea typeface="华文新魏" panose="02010800040101010101" pitchFamily="2" charset="-122"/>
                  </a:endParaRPr>
                </a:p>
              </p:txBody>
            </p:sp>
            <p:sp>
              <p:nvSpPr>
                <p:cNvPr id="18460" name="AutoShape 14"/>
                <p:cNvSpPr>
                  <a:spLocks noChangeArrowheads="1"/>
                </p:cNvSpPr>
                <p:nvPr/>
              </p:nvSpPr>
              <p:spPr bwMode="gray">
                <a:xfrm>
                  <a:off x="3174" y="2656"/>
                  <a:ext cx="1536" cy="1328"/>
                </a:xfrm>
                <a:prstGeom prst="hexagon">
                  <a:avLst>
                    <a:gd name="adj" fmla="val 28916"/>
                    <a:gd name="vf" fmla="val 115470"/>
                  </a:avLst>
                </a:prstGeom>
                <a:gradFill rotWithShape="1">
                  <a:gsLst>
                    <a:gs pos="0">
                      <a:srgbClr val="E6E6E6"/>
                    </a:gs>
                    <a:gs pos="7500">
                      <a:srgbClr val="7D8496"/>
                    </a:gs>
                    <a:gs pos="26500">
                      <a:srgbClr val="E6E6E6"/>
                    </a:gs>
                    <a:gs pos="34000">
                      <a:srgbClr val="7D8496"/>
                    </a:gs>
                    <a:gs pos="46500">
                      <a:srgbClr val="E6E6E6"/>
                    </a:gs>
                    <a:gs pos="50000">
                      <a:srgbClr val="FFFFFF"/>
                    </a:gs>
                    <a:gs pos="53500">
                      <a:srgbClr val="E6E6E6"/>
                    </a:gs>
                    <a:gs pos="66000">
                      <a:srgbClr val="7D8496"/>
                    </a:gs>
                    <a:gs pos="73500">
                      <a:srgbClr val="E6E6E6"/>
                    </a:gs>
                    <a:gs pos="92500">
                      <a:srgbClr val="7D8496"/>
                    </a:gs>
                    <a:gs pos="100000">
                      <a:srgbClr val="E6E6E6"/>
                    </a:gs>
                  </a:gsLst>
                  <a:lin ang="2700000" scaled="1"/>
                </a:gradFill>
                <a:ln w="9525">
                  <a:solidFill>
                    <a:srgbClr val="C0C0C0"/>
                  </a:solidFill>
                  <a:miter lim="800000"/>
                </a:ln>
              </p:spPr>
              <p:txBody>
                <a:bodyPr wrap="none" anchor="ctr"/>
                <a:lstStyle/>
                <a:p>
                  <a:endParaRPr lang="zh-CN" altLang="en-US">
                    <a:latin typeface="华文新魏" panose="02010800040101010101" pitchFamily="2" charset="-122"/>
                    <a:ea typeface="华文新魏" panose="02010800040101010101" pitchFamily="2" charset="-122"/>
                  </a:endParaRPr>
                </a:p>
              </p:txBody>
            </p:sp>
            <p:sp>
              <p:nvSpPr>
                <p:cNvPr id="46095" name="AutoShape 15"/>
                <p:cNvSpPr>
                  <a:spLocks noChangeArrowheads="1"/>
                </p:cNvSpPr>
                <p:nvPr/>
              </p:nvSpPr>
              <p:spPr bwMode="gray">
                <a:xfrm>
                  <a:off x="3265" y="2739"/>
                  <a:ext cx="1348" cy="1168"/>
                </a:xfrm>
                <a:prstGeom prst="hexagon">
                  <a:avLst>
                    <a:gd name="adj" fmla="val 28896"/>
                    <a:gd name="vf" fmla="val 115470"/>
                  </a:avLst>
                </a:prstGeom>
                <a:gradFill rotWithShape="1">
                  <a:gsLst>
                    <a:gs pos="0">
                      <a:schemeClr val="accent1">
                        <a:gamma/>
                        <a:shade val="46275"/>
                        <a:invGamma/>
                      </a:schemeClr>
                    </a:gs>
                    <a:gs pos="100000">
                      <a:schemeClr val="accent1"/>
                    </a:gs>
                  </a:gsLst>
                  <a:lin ang="2700000" scaled="1"/>
                </a:gradFill>
                <a:ln w="9525">
                  <a:solidFill>
                    <a:schemeClr val="tx1"/>
                  </a:solidFill>
                  <a:miter lim="800000"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zh-CN" altLang="en-US">
                    <a:latin typeface="华文新魏" panose="02010800040101010101" pitchFamily="2" charset="-122"/>
                    <a:ea typeface="华文新魏" panose="02010800040101010101" pitchFamily="2" charset="-122"/>
                  </a:endParaRPr>
                </a:p>
              </p:txBody>
            </p:sp>
          </p:grpSp>
          <p:sp>
            <p:nvSpPr>
              <p:cNvPr id="18456" name="Line 16"/>
              <p:cNvSpPr>
                <a:spLocks noChangeShapeType="1"/>
              </p:cNvSpPr>
              <p:nvPr/>
            </p:nvSpPr>
            <p:spPr bwMode="auto">
              <a:xfrm>
                <a:off x="1536" y="2235"/>
                <a:ext cx="3024" cy="0"/>
              </a:xfrm>
              <a:prstGeom prst="line">
                <a:avLst/>
              </a:prstGeom>
              <a:noFill/>
              <a:ln w="25400">
                <a:solidFill>
                  <a:schemeClr val="tx2"/>
                </a:solidFill>
                <a:prstDash val="sysDot"/>
                <a:round/>
                <a:tailEnd type="oval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8457" name="Text Box 17"/>
              <p:cNvSpPr txBox="1">
                <a:spLocks noChangeArrowheads="1"/>
              </p:cNvSpPr>
              <p:nvPr/>
            </p:nvSpPr>
            <p:spPr bwMode="auto">
              <a:xfrm>
                <a:off x="1793" y="1834"/>
                <a:ext cx="2081" cy="38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l"/>
                <a:r>
                  <a:rPr lang="zh-CN" altLang="en-US" sz="2400" dirty="0">
                    <a:solidFill>
                      <a:schemeClr val="tx2"/>
                    </a:solidFill>
                    <a:latin typeface="华文新魏" panose="02010800040101010101" pitchFamily="2" charset="-122"/>
                    <a:ea typeface="华文新魏" panose="02010800040101010101" pitchFamily="2" charset="-122"/>
                    <a:sym typeface="+mn-ea"/>
                  </a:rPr>
                  <a:t>偏移命令和分解命令</a:t>
                </a:r>
                <a:endParaRPr lang="zh-CN" altLang="en-US" sz="2400" dirty="0">
                  <a:solidFill>
                    <a:schemeClr val="tx2"/>
                  </a:solidFill>
                  <a:latin typeface="华文新魏" panose="02010800040101010101" pitchFamily="2" charset="-122"/>
                  <a:ea typeface="华文新魏" panose="02010800040101010101" pitchFamily="2" charset="-122"/>
                  <a:sym typeface="+mn-ea"/>
                </a:endParaRPr>
              </a:p>
            </p:txBody>
          </p:sp>
          <p:sp>
            <p:nvSpPr>
              <p:cNvPr id="18458" name="Text Box 18"/>
              <p:cNvSpPr txBox="1">
                <a:spLocks noChangeArrowheads="1"/>
              </p:cNvSpPr>
              <p:nvPr/>
            </p:nvSpPr>
            <p:spPr bwMode="gray">
              <a:xfrm>
                <a:off x="1259" y="1913"/>
                <a:ext cx="256" cy="38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/>
                <a:r>
                  <a:rPr lang="en-US" altLang="zh-CN" sz="2400" b="1">
                    <a:solidFill>
                      <a:schemeClr val="bg1"/>
                    </a:solidFill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2</a:t>
                </a:r>
                <a:endParaRPr lang="en-US" altLang="zh-CN" sz="2400" b="1">
                  <a:solidFill>
                    <a:schemeClr val="bg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</p:txBody>
          </p:sp>
        </p:grpSp>
        <p:grpSp>
          <p:nvGrpSpPr>
            <p:cNvPr id="18437" name="Group 19"/>
            <p:cNvGrpSpPr/>
            <p:nvPr/>
          </p:nvGrpSpPr>
          <p:grpSpPr bwMode="auto">
            <a:xfrm rot="0">
              <a:off x="3373" y="3594"/>
              <a:ext cx="7545" cy="850"/>
              <a:chOff x="1152" y="2409"/>
              <a:chExt cx="3408" cy="454"/>
            </a:xfrm>
          </p:grpSpPr>
          <p:grpSp>
            <p:nvGrpSpPr>
              <p:cNvPr id="18448" name="Group 20"/>
              <p:cNvGrpSpPr/>
              <p:nvPr/>
            </p:nvGrpSpPr>
            <p:grpSpPr bwMode="auto">
              <a:xfrm>
                <a:off x="1152" y="2413"/>
                <a:ext cx="480" cy="419"/>
                <a:chOff x="1110" y="2656"/>
                <a:chExt cx="1549" cy="1351"/>
              </a:xfrm>
            </p:grpSpPr>
            <p:sp>
              <p:nvSpPr>
                <p:cNvPr id="18452" name="AutoShape 21"/>
                <p:cNvSpPr>
                  <a:spLocks noChangeArrowheads="1"/>
                </p:cNvSpPr>
                <p:nvPr/>
              </p:nvSpPr>
              <p:spPr bwMode="gray">
                <a:xfrm>
                  <a:off x="1123" y="2679"/>
                  <a:ext cx="1536" cy="1328"/>
                </a:xfrm>
                <a:prstGeom prst="hexagon">
                  <a:avLst>
                    <a:gd name="adj" fmla="val 28916"/>
                    <a:gd name="vf" fmla="val 115470"/>
                  </a:avLst>
                </a:prstGeom>
                <a:solidFill>
                  <a:srgbClr val="80808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zh-CN" altLang="en-US">
                    <a:latin typeface="华文新魏" panose="02010800040101010101" pitchFamily="2" charset="-122"/>
                    <a:ea typeface="华文新魏" panose="02010800040101010101" pitchFamily="2" charset="-122"/>
                  </a:endParaRPr>
                </a:p>
              </p:txBody>
            </p:sp>
            <p:sp>
              <p:nvSpPr>
                <p:cNvPr id="18453" name="AutoShape 22"/>
                <p:cNvSpPr>
                  <a:spLocks noChangeArrowheads="1"/>
                </p:cNvSpPr>
                <p:nvPr/>
              </p:nvSpPr>
              <p:spPr bwMode="gray">
                <a:xfrm>
                  <a:off x="1110" y="2656"/>
                  <a:ext cx="1536" cy="1328"/>
                </a:xfrm>
                <a:prstGeom prst="hexagon">
                  <a:avLst>
                    <a:gd name="adj" fmla="val 28916"/>
                    <a:gd name="vf" fmla="val 115470"/>
                  </a:avLst>
                </a:prstGeom>
                <a:gradFill rotWithShape="1">
                  <a:gsLst>
                    <a:gs pos="0">
                      <a:srgbClr val="E6E6E6"/>
                    </a:gs>
                    <a:gs pos="7500">
                      <a:srgbClr val="7D8496"/>
                    </a:gs>
                    <a:gs pos="26500">
                      <a:srgbClr val="E6E6E6"/>
                    </a:gs>
                    <a:gs pos="34000">
                      <a:srgbClr val="7D8496"/>
                    </a:gs>
                    <a:gs pos="46500">
                      <a:srgbClr val="E6E6E6"/>
                    </a:gs>
                    <a:gs pos="50000">
                      <a:srgbClr val="FFFFFF"/>
                    </a:gs>
                    <a:gs pos="53500">
                      <a:srgbClr val="E6E6E6"/>
                    </a:gs>
                    <a:gs pos="66000">
                      <a:srgbClr val="7D8496"/>
                    </a:gs>
                    <a:gs pos="73500">
                      <a:srgbClr val="E6E6E6"/>
                    </a:gs>
                    <a:gs pos="92500">
                      <a:srgbClr val="7D8496"/>
                    </a:gs>
                    <a:gs pos="100000">
                      <a:srgbClr val="E6E6E6"/>
                    </a:gs>
                  </a:gsLst>
                  <a:lin ang="2700000" scaled="1"/>
                </a:gradFill>
                <a:ln w="9525">
                  <a:solidFill>
                    <a:srgbClr val="C0C0C0"/>
                  </a:solidFill>
                  <a:miter lim="800000"/>
                </a:ln>
              </p:spPr>
              <p:txBody>
                <a:bodyPr wrap="none" anchor="ctr"/>
                <a:lstStyle/>
                <a:p>
                  <a:endParaRPr lang="zh-CN" altLang="en-US">
                    <a:latin typeface="华文新魏" panose="02010800040101010101" pitchFamily="2" charset="-122"/>
                    <a:ea typeface="华文新魏" panose="02010800040101010101" pitchFamily="2" charset="-122"/>
                  </a:endParaRPr>
                </a:p>
              </p:txBody>
            </p:sp>
            <p:sp>
              <p:nvSpPr>
                <p:cNvPr id="46103" name="AutoShape 23"/>
                <p:cNvSpPr>
                  <a:spLocks noChangeArrowheads="1"/>
                </p:cNvSpPr>
                <p:nvPr/>
              </p:nvSpPr>
              <p:spPr bwMode="gray">
                <a:xfrm>
                  <a:off x="1201" y="2738"/>
                  <a:ext cx="1348" cy="1167"/>
                </a:xfrm>
                <a:prstGeom prst="hexagon">
                  <a:avLst>
                    <a:gd name="adj" fmla="val 28896"/>
                    <a:gd name="vf" fmla="val 115470"/>
                  </a:avLst>
                </a:prstGeom>
                <a:gradFill rotWithShape="1">
                  <a:gsLst>
                    <a:gs pos="0">
                      <a:schemeClr val="hlink">
                        <a:gamma/>
                        <a:shade val="46275"/>
                        <a:invGamma/>
                      </a:schemeClr>
                    </a:gs>
                    <a:gs pos="100000">
                      <a:schemeClr val="hlink"/>
                    </a:gs>
                  </a:gsLst>
                  <a:lin ang="2700000" scaled="1"/>
                </a:gradFill>
                <a:ln w="9525">
                  <a:solidFill>
                    <a:schemeClr val="tx1"/>
                  </a:solidFill>
                  <a:miter lim="800000"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zh-CN" altLang="en-US">
                    <a:latin typeface="华文新魏" panose="02010800040101010101" pitchFamily="2" charset="-122"/>
                    <a:ea typeface="华文新魏" panose="02010800040101010101" pitchFamily="2" charset="-122"/>
                  </a:endParaRPr>
                </a:p>
              </p:txBody>
            </p:sp>
          </p:grpSp>
          <p:sp>
            <p:nvSpPr>
              <p:cNvPr id="18449" name="Line 24"/>
              <p:cNvSpPr>
                <a:spLocks noChangeShapeType="1"/>
              </p:cNvSpPr>
              <p:nvPr/>
            </p:nvSpPr>
            <p:spPr bwMode="auto">
              <a:xfrm>
                <a:off x="1536" y="2797"/>
                <a:ext cx="3024" cy="0"/>
              </a:xfrm>
              <a:prstGeom prst="line">
                <a:avLst/>
              </a:prstGeom>
              <a:noFill/>
              <a:ln w="25400">
                <a:solidFill>
                  <a:schemeClr val="tx2"/>
                </a:solidFill>
                <a:prstDash val="sysDot"/>
                <a:round/>
                <a:tailEnd type="oval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8450" name="Text Box 25"/>
              <p:cNvSpPr txBox="1">
                <a:spLocks noChangeArrowheads="1"/>
              </p:cNvSpPr>
              <p:nvPr/>
            </p:nvSpPr>
            <p:spPr bwMode="auto">
              <a:xfrm>
                <a:off x="1818" y="2409"/>
                <a:ext cx="1431" cy="38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l"/>
                <a:r>
                  <a:rPr lang="zh-CN" altLang="en-US" sz="2400">
                    <a:solidFill>
                      <a:schemeClr val="tx2"/>
                    </a:solidFill>
                    <a:latin typeface="华文新魏" panose="02010800040101010101" pitchFamily="2" charset="-122"/>
                    <a:ea typeface="华文新魏" panose="02010800040101010101" pitchFamily="2" charset="-122"/>
                    <a:sym typeface="+mn-ea"/>
                  </a:rPr>
                  <a:t>标注样式命令</a:t>
                </a:r>
                <a:endParaRPr lang="zh-CN" altLang="en-US" sz="2400">
                  <a:solidFill>
                    <a:schemeClr val="tx2"/>
                  </a:solidFill>
                  <a:latin typeface="华文新魏" panose="02010800040101010101" pitchFamily="2" charset="-122"/>
                  <a:ea typeface="华文新魏" panose="02010800040101010101" pitchFamily="2" charset="-122"/>
                  <a:sym typeface="+mn-ea"/>
                </a:endParaRPr>
              </a:p>
            </p:txBody>
          </p:sp>
          <p:sp>
            <p:nvSpPr>
              <p:cNvPr id="18451" name="Text Box 26"/>
              <p:cNvSpPr txBox="1">
                <a:spLocks noChangeArrowheads="1"/>
              </p:cNvSpPr>
              <p:nvPr/>
            </p:nvSpPr>
            <p:spPr bwMode="gray">
              <a:xfrm>
                <a:off x="1259" y="2475"/>
                <a:ext cx="256" cy="3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/>
                <a:r>
                  <a:rPr lang="en-US" altLang="zh-CN" sz="2400" b="1">
                    <a:solidFill>
                      <a:schemeClr val="bg1"/>
                    </a:solidFill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3</a:t>
                </a:r>
                <a:endParaRPr lang="en-US" altLang="zh-CN" sz="2400" b="1">
                  <a:solidFill>
                    <a:schemeClr val="bg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</p:txBody>
          </p:sp>
        </p:grpSp>
        <p:grpSp>
          <p:nvGrpSpPr>
            <p:cNvPr id="18438" name="Group 27"/>
            <p:cNvGrpSpPr/>
            <p:nvPr/>
          </p:nvGrpSpPr>
          <p:grpSpPr bwMode="auto">
            <a:xfrm rot="0">
              <a:off x="3381" y="5986"/>
              <a:ext cx="7545" cy="866"/>
              <a:chOff x="1152" y="2976"/>
              <a:chExt cx="3408" cy="462"/>
            </a:xfrm>
          </p:grpSpPr>
          <p:grpSp>
            <p:nvGrpSpPr>
              <p:cNvPr id="18441" name="Group 28"/>
              <p:cNvGrpSpPr/>
              <p:nvPr/>
            </p:nvGrpSpPr>
            <p:grpSpPr bwMode="auto">
              <a:xfrm>
                <a:off x="1152" y="2989"/>
                <a:ext cx="480" cy="419"/>
                <a:chOff x="3174" y="2656"/>
                <a:chExt cx="1549" cy="1351"/>
              </a:xfrm>
            </p:grpSpPr>
            <p:sp>
              <p:nvSpPr>
                <p:cNvPr id="18445" name="AutoShape 29"/>
                <p:cNvSpPr>
                  <a:spLocks noChangeArrowheads="1"/>
                </p:cNvSpPr>
                <p:nvPr/>
              </p:nvSpPr>
              <p:spPr bwMode="gray">
                <a:xfrm>
                  <a:off x="3187" y="2679"/>
                  <a:ext cx="1536" cy="1328"/>
                </a:xfrm>
                <a:prstGeom prst="hexagon">
                  <a:avLst>
                    <a:gd name="adj" fmla="val 28916"/>
                    <a:gd name="vf" fmla="val 115470"/>
                  </a:avLst>
                </a:prstGeom>
                <a:solidFill>
                  <a:srgbClr val="80808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zh-CN" altLang="en-US">
                    <a:latin typeface="华文新魏" panose="02010800040101010101" pitchFamily="2" charset="-122"/>
                    <a:ea typeface="华文新魏" panose="02010800040101010101" pitchFamily="2" charset="-122"/>
                  </a:endParaRPr>
                </a:p>
              </p:txBody>
            </p:sp>
            <p:sp>
              <p:nvSpPr>
                <p:cNvPr id="18446" name="AutoShape 30"/>
                <p:cNvSpPr>
                  <a:spLocks noChangeArrowheads="1"/>
                </p:cNvSpPr>
                <p:nvPr/>
              </p:nvSpPr>
              <p:spPr bwMode="gray">
                <a:xfrm>
                  <a:off x="3174" y="2656"/>
                  <a:ext cx="1536" cy="1328"/>
                </a:xfrm>
                <a:prstGeom prst="hexagon">
                  <a:avLst>
                    <a:gd name="adj" fmla="val 28916"/>
                    <a:gd name="vf" fmla="val 115470"/>
                  </a:avLst>
                </a:prstGeom>
                <a:gradFill rotWithShape="1">
                  <a:gsLst>
                    <a:gs pos="0">
                      <a:srgbClr val="E6E6E6"/>
                    </a:gs>
                    <a:gs pos="7500">
                      <a:srgbClr val="7D8496"/>
                    </a:gs>
                    <a:gs pos="26500">
                      <a:srgbClr val="E6E6E6"/>
                    </a:gs>
                    <a:gs pos="34000">
                      <a:srgbClr val="7D8496"/>
                    </a:gs>
                    <a:gs pos="46500">
                      <a:srgbClr val="E6E6E6"/>
                    </a:gs>
                    <a:gs pos="50000">
                      <a:srgbClr val="FFFFFF"/>
                    </a:gs>
                    <a:gs pos="53500">
                      <a:srgbClr val="E6E6E6"/>
                    </a:gs>
                    <a:gs pos="66000">
                      <a:srgbClr val="7D8496"/>
                    </a:gs>
                    <a:gs pos="73500">
                      <a:srgbClr val="E6E6E6"/>
                    </a:gs>
                    <a:gs pos="92500">
                      <a:srgbClr val="7D8496"/>
                    </a:gs>
                    <a:gs pos="100000">
                      <a:srgbClr val="E6E6E6"/>
                    </a:gs>
                  </a:gsLst>
                  <a:lin ang="2700000" scaled="1"/>
                </a:gradFill>
                <a:ln w="9525">
                  <a:solidFill>
                    <a:srgbClr val="C0C0C0"/>
                  </a:solidFill>
                  <a:miter lim="800000"/>
                </a:ln>
              </p:spPr>
              <p:txBody>
                <a:bodyPr wrap="none" anchor="ctr"/>
                <a:lstStyle/>
                <a:p>
                  <a:endParaRPr lang="zh-CN" altLang="en-US">
                    <a:latin typeface="华文新魏" panose="02010800040101010101" pitchFamily="2" charset="-122"/>
                    <a:ea typeface="华文新魏" panose="02010800040101010101" pitchFamily="2" charset="-122"/>
                  </a:endParaRPr>
                </a:p>
              </p:txBody>
            </p:sp>
            <p:sp>
              <p:nvSpPr>
                <p:cNvPr id="46111" name="AutoShape 31"/>
                <p:cNvSpPr>
                  <a:spLocks noChangeArrowheads="1"/>
                </p:cNvSpPr>
                <p:nvPr/>
              </p:nvSpPr>
              <p:spPr bwMode="gray">
                <a:xfrm>
                  <a:off x="3265" y="2739"/>
                  <a:ext cx="1348" cy="1166"/>
                </a:xfrm>
                <a:prstGeom prst="hexagon">
                  <a:avLst>
                    <a:gd name="adj" fmla="val 28896"/>
                    <a:gd name="vf" fmla="val 115470"/>
                  </a:avLst>
                </a:prstGeom>
                <a:gradFill rotWithShape="1">
                  <a:gsLst>
                    <a:gs pos="0">
                      <a:schemeClr val="accent1">
                        <a:gamma/>
                        <a:shade val="46275"/>
                        <a:invGamma/>
                      </a:schemeClr>
                    </a:gs>
                    <a:gs pos="100000">
                      <a:schemeClr val="accent1"/>
                    </a:gs>
                  </a:gsLst>
                  <a:lin ang="2700000" scaled="1"/>
                </a:gradFill>
                <a:ln w="9525">
                  <a:solidFill>
                    <a:schemeClr val="tx1"/>
                  </a:solidFill>
                  <a:miter lim="800000"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zh-CN" altLang="en-US">
                    <a:latin typeface="华文新魏" panose="02010800040101010101" pitchFamily="2" charset="-122"/>
                    <a:ea typeface="华文新魏" panose="02010800040101010101" pitchFamily="2" charset="-122"/>
                  </a:endParaRPr>
                </a:p>
              </p:txBody>
            </p:sp>
          </p:grpSp>
          <p:sp>
            <p:nvSpPr>
              <p:cNvPr id="18442" name="Line 32"/>
              <p:cNvSpPr>
                <a:spLocks noChangeShapeType="1"/>
              </p:cNvSpPr>
              <p:nvPr/>
            </p:nvSpPr>
            <p:spPr bwMode="auto">
              <a:xfrm>
                <a:off x="1536" y="3373"/>
                <a:ext cx="3024" cy="0"/>
              </a:xfrm>
              <a:prstGeom prst="line">
                <a:avLst/>
              </a:prstGeom>
              <a:noFill/>
              <a:ln w="25400">
                <a:solidFill>
                  <a:schemeClr val="tx2"/>
                </a:solidFill>
                <a:prstDash val="sysDot"/>
                <a:round/>
                <a:tailEnd type="oval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8443" name="Text Box 33"/>
              <p:cNvSpPr txBox="1">
                <a:spLocks noChangeArrowheads="1"/>
              </p:cNvSpPr>
              <p:nvPr/>
            </p:nvSpPr>
            <p:spPr bwMode="auto">
              <a:xfrm>
                <a:off x="1818" y="2976"/>
                <a:ext cx="2298" cy="38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l"/>
                <a:r>
                  <a:rPr lang="zh-CN" altLang="en-US" sz="2400">
                    <a:solidFill>
                      <a:schemeClr val="tx2"/>
                    </a:solidFill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机房设备平面图的绘制</a:t>
                </a:r>
                <a:endParaRPr lang="zh-CN" altLang="en-US" sz="2400">
                  <a:solidFill>
                    <a:schemeClr val="tx2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</p:txBody>
          </p:sp>
          <p:sp>
            <p:nvSpPr>
              <p:cNvPr id="18444" name="Text Box 34"/>
              <p:cNvSpPr txBox="1">
                <a:spLocks noChangeArrowheads="1"/>
              </p:cNvSpPr>
              <p:nvPr/>
            </p:nvSpPr>
            <p:spPr bwMode="gray">
              <a:xfrm>
                <a:off x="1260" y="3051"/>
                <a:ext cx="254" cy="38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/>
                <a:r>
                  <a:rPr lang="en-US" altLang="zh-CN" sz="2400" b="1">
                    <a:solidFill>
                      <a:schemeClr val="bg1"/>
                    </a:solidFill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6</a:t>
                </a:r>
                <a:endParaRPr lang="en-US" altLang="zh-CN" sz="2400" b="1">
                  <a:solidFill>
                    <a:schemeClr val="bg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</p:txBody>
          </p:sp>
        </p:grpSp>
        <p:grpSp>
          <p:nvGrpSpPr>
            <p:cNvPr id="10" name="Group 27"/>
            <p:cNvGrpSpPr/>
            <p:nvPr/>
          </p:nvGrpSpPr>
          <p:grpSpPr bwMode="auto">
            <a:xfrm rot="0">
              <a:off x="3359" y="4399"/>
              <a:ext cx="7545" cy="868"/>
              <a:chOff x="1152" y="2976"/>
              <a:chExt cx="3408" cy="463"/>
            </a:xfrm>
          </p:grpSpPr>
          <p:grpSp>
            <p:nvGrpSpPr>
              <p:cNvPr id="11" name="Group 28"/>
              <p:cNvGrpSpPr/>
              <p:nvPr/>
            </p:nvGrpSpPr>
            <p:grpSpPr bwMode="auto">
              <a:xfrm>
                <a:off x="1152" y="2989"/>
                <a:ext cx="480" cy="419"/>
                <a:chOff x="3174" y="2656"/>
                <a:chExt cx="1549" cy="1351"/>
              </a:xfrm>
            </p:grpSpPr>
            <p:sp>
              <p:nvSpPr>
                <p:cNvPr id="12" name="AutoShape 29"/>
                <p:cNvSpPr>
                  <a:spLocks noChangeArrowheads="1"/>
                </p:cNvSpPr>
                <p:nvPr/>
              </p:nvSpPr>
              <p:spPr bwMode="gray">
                <a:xfrm>
                  <a:off x="3187" y="2679"/>
                  <a:ext cx="1536" cy="1328"/>
                </a:xfrm>
                <a:prstGeom prst="hexagon">
                  <a:avLst>
                    <a:gd name="adj" fmla="val 28916"/>
                    <a:gd name="vf" fmla="val 115470"/>
                  </a:avLst>
                </a:prstGeom>
                <a:solidFill>
                  <a:srgbClr val="80808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zh-CN" altLang="en-US">
                    <a:latin typeface="华文新魏" panose="02010800040101010101" pitchFamily="2" charset="-122"/>
                    <a:ea typeface="华文新魏" panose="02010800040101010101" pitchFamily="2" charset="-122"/>
                  </a:endParaRPr>
                </a:p>
              </p:txBody>
            </p:sp>
            <p:sp>
              <p:nvSpPr>
                <p:cNvPr id="13" name="AutoShape 30"/>
                <p:cNvSpPr>
                  <a:spLocks noChangeArrowheads="1"/>
                </p:cNvSpPr>
                <p:nvPr/>
              </p:nvSpPr>
              <p:spPr bwMode="gray">
                <a:xfrm>
                  <a:off x="3174" y="2656"/>
                  <a:ext cx="1536" cy="1328"/>
                </a:xfrm>
                <a:prstGeom prst="hexagon">
                  <a:avLst>
                    <a:gd name="adj" fmla="val 28916"/>
                    <a:gd name="vf" fmla="val 115470"/>
                  </a:avLst>
                </a:prstGeom>
                <a:gradFill rotWithShape="1">
                  <a:gsLst>
                    <a:gs pos="0">
                      <a:srgbClr val="E6E6E6"/>
                    </a:gs>
                    <a:gs pos="7500">
                      <a:srgbClr val="7D8496"/>
                    </a:gs>
                    <a:gs pos="26500">
                      <a:srgbClr val="E6E6E6"/>
                    </a:gs>
                    <a:gs pos="34000">
                      <a:srgbClr val="7D8496"/>
                    </a:gs>
                    <a:gs pos="46500">
                      <a:srgbClr val="E6E6E6"/>
                    </a:gs>
                    <a:gs pos="50000">
                      <a:srgbClr val="FFFFFF"/>
                    </a:gs>
                    <a:gs pos="53500">
                      <a:srgbClr val="E6E6E6"/>
                    </a:gs>
                    <a:gs pos="66000">
                      <a:srgbClr val="7D8496"/>
                    </a:gs>
                    <a:gs pos="73500">
                      <a:srgbClr val="E6E6E6"/>
                    </a:gs>
                    <a:gs pos="92500">
                      <a:srgbClr val="7D8496"/>
                    </a:gs>
                    <a:gs pos="100000">
                      <a:srgbClr val="E6E6E6"/>
                    </a:gs>
                  </a:gsLst>
                  <a:lin ang="2700000" scaled="1"/>
                </a:gradFill>
                <a:ln w="9525">
                  <a:solidFill>
                    <a:srgbClr val="C0C0C0"/>
                  </a:solidFill>
                  <a:miter lim="800000"/>
                </a:ln>
              </p:spPr>
              <p:txBody>
                <a:bodyPr wrap="none" anchor="ctr"/>
                <a:lstStyle/>
                <a:p>
                  <a:endParaRPr lang="zh-CN" altLang="en-US">
                    <a:latin typeface="华文新魏" panose="02010800040101010101" pitchFamily="2" charset="-122"/>
                    <a:ea typeface="华文新魏" panose="02010800040101010101" pitchFamily="2" charset="-122"/>
                  </a:endParaRPr>
                </a:p>
              </p:txBody>
            </p:sp>
            <p:sp>
              <p:nvSpPr>
                <p:cNvPr id="14" name="AutoShape 31"/>
                <p:cNvSpPr>
                  <a:spLocks noChangeArrowheads="1"/>
                </p:cNvSpPr>
                <p:nvPr/>
              </p:nvSpPr>
              <p:spPr bwMode="gray">
                <a:xfrm>
                  <a:off x="3265" y="2739"/>
                  <a:ext cx="1348" cy="1166"/>
                </a:xfrm>
                <a:prstGeom prst="hexagon">
                  <a:avLst>
                    <a:gd name="adj" fmla="val 28896"/>
                    <a:gd name="vf" fmla="val 115470"/>
                  </a:avLst>
                </a:prstGeom>
                <a:gradFill rotWithShape="1">
                  <a:gsLst>
                    <a:gs pos="0">
                      <a:schemeClr val="accent1">
                        <a:gamma/>
                        <a:shade val="46275"/>
                        <a:invGamma/>
                      </a:schemeClr>
                    </a:gs>
                    <a:gs pos="100000">
                      <a:schemeClr val="accent1"/>
                    </a:gs>
                  </a:gsLst>
                  <a:lin ang="2700000" scaled="1"/>
                </a:gradFill>
                <a:ln w="9525">
                  <a:solidFill>
                    <a:schemeClr val="tx1"/>
                  </a:solidFill>
                  <a:miter lim="800000"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zh-CN" altLang="en-US">
                    <a:latin typeface="华文新魏" panose="02010800040101010101" pitchFamily="2" charset="-122"/>
                    <a:ea typeface="华文新魏" panose="02010800040101010101" pitchFamily="2" charset="-122"/>
                  </a:endParaRPr>
                </a:p>
              </p:txBody>
            </p:sp>
          </p:grpSp>
          <p:sp>
            <p:nvSpPr>
              <p:cNvPr id="15" name="Line 32"/>
              <p:cNvSpPr>
                <a:spLocks noChangeShapeType="1"/>
              </p:cNvSpPr>
              <p:nvPr/>
            </p:nvSpPr>
            <p:spPr bwMode="auto">
              <a:xfrm>
                <a:off x="1536" y="3373"/>
                <a:ext cx="3024" cy="0"/>
              </a:xfrm>
              <a:prstGeom prst="line">
                <a:avLst/>
              </a:prstGeom>
              <a:noFill/>
              <a:ln w="25400">
                <a:solidFill>
                  <a:schemeClr val="tx2"/>
                </a:solidFill>
                <a:prstDash val="sysDot"/>
                <a:round/>
                <a:tailEnd type="oval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6" name="Text Box 33"/>
              <p:cNvSpPr txBox="1">
                <a:spLocks noChangeArrowheads="1"/>
              </p:cNvSpPr>
              <p:nvPr/>
            </p:nvSpPr>
            <p:spPr bwMode="auto">
              <a:xfrm>
                <a:off x="1818" y="2976"/>
                <a:ext cx="1431" cy="38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l"/>
                <a:r>
                  <a:rPr lang="zh-CN" altLang="en-US" sz="2400">
                    <a:solidFill>
                      <a:schemeClr val="tx2"/>
                    </a:solidFill>
                    <a:latin typeface="华文新魏" panose="02010800040101010101" pitchFamily="2" charset="-122"/>
                    <a:ea typeface="华文新魏" panose="02010800040101010101" pitchFamily="2" charset="-122"/>
                    <a:sym typeface="+mn-ea"/>
                  </a:rPr>
                  <a:t>常用尺寸标注</a:t>
                </a:r>
                <a:endParaRPr lang="zh-CN" altLang="en-US" sz="2400">
                  <a:solidFill>
                    <a:schemeClr val="tx2"/>
                  </a:solidFill>
                  <a:latin typeface="华文新魏" panose="02010800040101010101" pitchFamily="2" charset="-122"/>
                  <a:ea typeface="华文新魏" panose="02010800040101010101" pitchFamily="2" charset="-122"/>
                  <a:sym typeface="+mn-ea"/>
                </a:endParaRPr>
              </a:p>
            </p:txBody>
          </p:sp>
          <p:sp>
            <p:nvSpPr>
              <p:cNvPr id="17" name="Text Box 34"/>
              <p:cNvSpPr txBox="1">
                <a:spLocks noChangeArrowheads="1"/>
              </p:cNvSpPr>
              <p:nvPr/>
            </p:nvSpPr>
            <p:spPr bwMode="gray">
              <a:xfrm>
                <a:off x="1259" y="3051"/>
                <a:ext cx="256" cy="3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/>
                <a:r>
                  <a:rPr lang="en-US" altLang="zh-CN" sz="2400" b="1">
                    <a:solidFill>
                      <a:schemeClr val="bg1"/>
                    </a:solidFill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4</a:t>
                </a:r>
                <a:endParaRPr lang="en-US" altLang="zh-CN" sz="2400" b="1">
                  <a:solidFill>
                    <a:schemeClr val="bg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</p:txBody>
          </p:sp>
        </p:grpSp>
        <p:grpSp>
          <p:nvGrpSpPr>
            <p:cNvPr id="18" name="Group 3"/>
            <p:cNvGrpSpPr/>
            <p:nvPr/>
          </p:nvGrpSpPr>
          <p:grpSpPr bwMode="auto">
            <a:xfrm rot="0">
              <a:off x="3345" y="2009"/>
              <a:ext cx="7545" cy="850"/>
              <a:chOff x="1152" y="1272"/>
              <a:chExt cx="3408" cy="453"/>
            </a:xfrm>
          </p:grpSpPr>
          <p:grpSp>
            <p:nvGrpSpPr>
              <p:cNvPr id="19" name="Group 4"/>
              <p:cNvGrpSpPr/>
              <p:nvPr/>
            </p:nvGrpSpPr>
            <p:grpSpPr bwMode="auto">
              <a:xfrm>
                <a:off x="1152" y="1275"/>
                <a:ext cx="480" cy="419"/>
                <a:chOff x="1110" y="2656"/>
                <a:chExt cx="1549" cy="1351"/>
              </a:xfrm>
            </p:grpSpPr>
            <p:sp>
              <p:nvSpPr>
                <p:cNvPr id="20" name="AutoShape 5"/>
                <p:cNvSpPr>
                  <a:spLocks noChangeArrowheads="1"/>
                </p:cNvSpPr>
                <p:nvPr/>
              </p:nvSpPr>
              <p:spPr bwMode="gray">
                <a:xfrm>
                  <a:off x="1123" y="2679"/>
                  <a:ext cx="1536" cy="1328"/>
                </a:xfrm>
                <a:prstGeom prst="hexagon">
                  <a:avLst>
                    <a:gd name="adj" fmla="val 28916"/>
                    <a:gd name="vf" fmla="val 115470"/>
                  </a:avLst>
                </a:prstGeom>
                <a:solidFill>
                  <a:srgbClr val="80808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zh-CN" altLang="en-US">
                    <a:latin typeface="华文新魏" panose="02010800040101010101" pitchFamily="2" charset="-122"/>
                    <a:ea typeface="华文新魏" panose="02010800040101010101" pitchFamily="2" charset="-122"/>
                  </a:endParaRPr>
                </a:p>
              </p:txBody>
            </p:sp>
            <p:sp>
              <p:nvSpPr>
                <p:cNvPr id="21" name="AutoShape 6"/>
                <p:cNvSpPr>
                  <a:spLocks noChangeArrowheads="1"/>
                </p:cNvSpPr>
                <p:nvPr/>
              </p:nvSpPr>
              <p:spPr bwMode="gray">
                <a:xfrm>
                  <a:off x="1110" y="2656"/>
                  <a:ext cx="1536" cy="1328"/>
                </a:xfrm>
                <a:prstGeom prst="hexagon">
                  <a:avLst>
                    <a:gd name="adj" fmla="val 28916"/>
                    <a:gd name="vf" fmla="val 115470"/>
                  </a:avLst>
                </a:prstGeom>
                <a:gradFill rotWithShape="1">
                  <a:gsLst>
                    <a:gs pos="0">
                      <a:srgbClr val="E6E6E6"/>
                    </a:gs>
                    <a:gs pos="7500">
                      <a:srgbClr val="7D8496"/>
                    </a:gs>
                    <a:gs pos="26500">
                      <a:srgbClr val="E6E6E6"/>
                    </a:gs>
                    <a:gs pos="34000">
                      <a:srgbClr val="7D8496"/>
                    </a:gs>
                    <a:gs pos="46500">
                      <a:srgbClr val="E6E6E6"/>
                    </a:gs>
                    <a:gs pos="50000">
                      <a:srgbClr val="FFFFFF"/>
                    </a:gs>
                    <a:gs pos="53500">
                      <a:srgbClr val="E6E6E6"/>
                    </a:gs>
                    <a:gs pos="66000">
                      <a:srgbClr val="7D8496"/>
                    </a:gs>
                    <a:gs pos="73500">
                      <a:srgbClr val="E6E6E6"/>
                    </a:gs>
                    <a:gs pos="92500">
                      <a:srgbClr val="7D8496"/>
                    </a:gs>
                    <a:gs pos="100000">
                      <a:srgbClr val="E6E6E6"/>
                    </a:gs>
                  </a:gsLst>
                  <a:lin ang="2700000" scaled="1"/>
                </a:gradFill>
                <a:ln w="9525">
                  <a:solidFill>
                    <a:srgbClr val="C0C0C0"/>
                  </a:solidFill>
                  <a:miter lim="800000"/>
                </a:ln>
              </p:spPr>
              <p:txBody>
                <a:bodyPr wrap="none" anchor="ctr"/>
                <a:lstStyle/>
                <a:p>
                  <a:endParaRPr lang="zh-CN" altLang="en-US">
                    <a:latin typeface="华文新魏" panose="02010800040101010101" pitchFamily="2" charset="-122"/>
                    <a:ea typeface="华文新魏" panose="02010800040101010101" pitchFamily="2" charset="-122"/>
                  </a:endParaRPr>
                </a:p>
              </p:txBody>
            </p:sp>
            <p:sp>
              <p:nvSpPr>
                <p:cNvPr id="22" name="AutoShape 7"/>
                <p:cNvSpPr>
                  <a:spLocks noChangeArrowheads="1"/>
                </p:cNvSpPr>
                <p:nvPr/>
              </p:nvSpPr>
              <p:spPr bwMode="gray">
                <a:xfrm>
                  <a:off x="1201" y="2737"/>
                  <a:ext cx="1348" cy="1169"/>
                </a:xfrm>
                <a:prstGeom prst="hexagon">
                  <a:avLst>
                    <a:gd name="adj" fmla="val 28896"/>
                    <a:gd name="vf" fmla="val 115470"/>
                  </a:avLst>
                </a:prstGeom>
                <a:gradFill rotWithShape="1">
                  <a:gsLst>
                    <a:gs pos="0">
                      <a:schemeClr val="hlink">
                        <a:gamma/>
                        <a:shade val="46275"/>
                        <a:invGamma/>
                      </a:schemeClr>
                    </a:gs>
                    <a:gs pos="100000">
                      <a:schemeClr val="hlink"/>
                    </a:gs>
                  </a:gsLst>
                  <a:lin ang="2700000" scaled="1"/>
                </a:gradFill>
                <a:ln w="9525">
                  <a:solidFill>
                    <a:schemeClr val="tx1"/>
                  </a:solidFill>
                  <a:miter lim="800000"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zh-CN" altLang="en-US">
                    <a:latin typeface="华文新魏" panose="02010800040101010101" pitchFamily="2" charset="-122"/>
                    <a:ea typeface="华文新魏" panose="02010800040101010101" pitchFamily="2" charset="-122"/>
                  </a:endParaRPr>
                </a:p>
              </p:txBody>
            </p:sp>
          </p:grpSp>
          <p:sp>
            <p:nvSpPr>
              <p:cNvPr id="23" name="Line 8"/>
              <p:cNvSpPr>
                <a:spLocks noChangeShapeType="1"/>
              </p:cNvSpPr>
              <p:nvPr/>
            </p:nvSpPr>
            <p:spPr bwMode="auto">
              <a:xfrm>
                <a:off x="1536" y="1659"/>
                <a:ext cx="3024" cy="0"/>
              </a:xfrm>
              <a:prstGeom prst="line">
                <a:avLst/>
              </a:prstGeom>
              <a:noFill/>
              <a:ln w="25400">
                <a:solidFill>
                  <a:schemeClr val="tx2"/>
                </a:solidFill>
                <a:prstDash val="sysDot"/>
                <a:round/>
                <a:tailEnd type="oval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4" name="Text Box 9"/>
              <p:cNvSpPr txBox="1">
                <a:spLocks noChangeArrowheads="1"/>
              </p:cNvSpPr>
              <p:nvPr/>
            </p:nvSpPr>
            <p:spPr bwMode="auto">
              <a:xfrm>
                <a:off x="1818" y="1272"/>
                <a:ext cx="2559" cy="38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l"/>
                <a:r>
                  <a:rPr lang="zh-CN" altLang="en-US" sz="2400" dirty="0">
                    <a:solidFill>
                      <a:schemeClr val="tx2"/>
                    </a:solidFill>
                    <a:latin typeface="华文新魏" panose="02010800040101010101" pitchFamily="2" charset="-122"/>
                    <a:ea typeface="华文新魏" panose="02010800040101010101" pitchFamily="2" charset="-122"/>
                    <a:sym typeface="+mn-ea"/>
                  </a:rPr>
                  <a:t>多线命令</a:t>
                </a:r>
                <a:endParaRPr lang="zh-CN" altLang="en-US" sz="2400" dirty="0">
                  <a:solidFill>
                    <a:schemeClr val="tx2"/>
                  </a:solidFill>
                  <a:latin typeface="华文新魏" panose="02010800040101010101" pitchFamily="2" charset="-122"/>
                  <a:ea typeface="华文新魏" panose="02010800040101010101" pitchFamily="2" charset="-122"/>
                  <a:sym typeface="+mn-ea"/>
                </a:endParaRPr>
              </a:p>
            </p:txBody>
          </p:sp>
          <p:sp>
            <p:nvSpPr>
              <p:cNvPr id="25" name="Text Box 10"/>
              <p:cNvSpPr txBox="1">
                <a:spLocks noChangeArrowheads="1"/>
              </p:cNvSpPr>
              <p:nvPr/>
            </p:nvSpPr>
            <p:spPr bwMode="gray">
              <a:xfrm>
                <a:off x="1275" y="1337"/>
                <a:ext cx="224" cy="3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/>
                <a:r>
                  <a:rPr lang="en-US" altLang="zh-CN" sz="2400" b="1">
                    <a:solidFill>
                      <a:schemeClr val="bg1"/>
                    </a:solidFill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1</a:t>
                </a:r>
                <a:endParaRPr lang="en-US" altLang="zh-CN" sz="2400" b="1">
                  <a:solidFill>
                    <a:schemeClr val="bg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</p:txBody>
          </p:sp>
        </p:grpSp>
        <p:grpSp>
          <p:nvGrpSpPr>
            <p:cNvPr id="29" name="Group 3"/>
            <p:cNvGrpSpPr/>
            <p:nvPr/>
          </p:nvGrpSpPr>
          <p:grpSpPr bwMode="auto">
            <a:xfrm rot="0">
              <a:off x="3407" y="6818"/>
              <a:ext cx="7545" cy="846"/>
              <a:chOff x="1152" y="1272"/>
              <a:chExt cx="3408" cy="451"/>
            </a:xfrm>
          </p:grpSpPr>
          <p:grpSp>
            <p:nvGrpSpPr>
              <p:cNvPr id="30" name="Group 4"/>
              <p:cNvGrpSpPr/>
              <p:nvPr/>
            </p:nvGrpSpPr>
            <p:grpSpPr bwMode="auto">
              <a:xfrm>
                <a:off x="1152" y="1275"/>
                <a:ext cx="480" cy="419"/>
                <a:chOff x="1110" y="2656"/>
                <a:chExt cx="1549" cy="1351"/>
              </a:xfrm>
            </p:grpSpPr>
            <p:sp>
              <p:nvSpPr>
                <p:cNvPr id="31" name="AutoShape 5"/>
                <p:cNvSpPr>
                  <a:spLocks noChangeArrowheads="1"/>
                </p:cNvSpPr>
                <p:nvPr/>
              </p:nvSpPr>
              <p:spPr bwMode="gray">
                <a:xfrm>
                  <a:off x="1123" y="2679"/>
                  <a:ext cx="1536" cy="1328"/>
                </a:xfrm>
                <a:prstGeom prst="hexagon">
                  <a:avLst>
                    <a:gd name="adj" fmla="val 28916"/>
                    <a:gd name="vf" fmla="val 115470"/>
                  </a:avLst>
                </a:prstGeom>
                <a:solidFill>
                  <a:srgbClr val="80808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zh-CN" altLang="en-US">
                    <a:latin typeface="华文新魏" panose="02010800040101010101" pitchFamily="2" charset="-122"/>
                    <a:ea typeface="华文新魏" panose="02010800040101010101" pitchFamily="2" charset="-122"/>
                  </a:endParaRPr>
                </a:p>
              </p:txBody>
            </p:sp>
            <p:sp>
              <p:nvSpPr>
                <p:cNvPr id="32" name="AutoShape 6"/>
                <p:cNvSpPr>
                  <a:spLocks noChangeArrowheads="1"/>
                </p:cNvSpPr>
                <p:nvPr/>
              </p:nvSpPr>
              <p:spPr bwMode="gray">
                <a:xfrm>
                  <a:off x="1110" y="2656"/>
                  <a:ext cx="1536" cy="1328"/>
                </a:xfrm>
                <a:prstGeom prst="hexagon">
                  <a:avLst>
                    <a:gd name="adj" fmla="val 28916"/>
                    <a:gd name="vf" fmla="val 115470"/>
                  </a:avLst>
                </a:prstGeom>
                <a:gradFill rotWithShape="1">
                  <a:gsLst>
                    <a:gs pos="0">
                      <a:srgbClr val="E6E6E6"/>
                    </a:gs>
                    <a:gs pos="7500">
                      <a:srgbClr val="7D8496"/>
                    </a:gs>
                    <a:gs pos="26500">
                      <a:srgbClr val="E6E6E6"/>
                    </a:gs>
                    <a:gs pos="34000">
                      <a:srgbClr val="7D8496"/>
                    </a:gs>
                    <a:gs pos="46500">
                      <a:srgbClr val="E6E6E6"/>
                    </a:gs>
                    <a:gs pos="50000">
                      <a:srgbClr val="FFFFFF"/>
                    </a:gs>
                    <a:gs pos="53500">
                      <a:srgbClr val="E6E6E6"/>
                    </a:gs>
                    <a:gs pos="66000">
                      <a:srgbClr val="7D8496"/>
                    </a:gs>
                    <a:gs pos="73500">
                      <a:srgbClr val="E6E6E6"/>
                    </a:gs>
                    <a:gs pos="92500">
                      <a:srgbClr val="7D8496"/>
                    </a:gs>
                    <a:gs pos="100000">
                      <a:srgbClr val="E6E6E6"/>
                    </a:gs>
                  </a:gsLst>
                  <a:lin ang="2700000" scaled="1"/>
                </a:gradFill>
                <a:ln w="9525">
                  <a:solidFill>
                    <a:srgbClr val="C0C0C0"/>
                  </a:solidFill>
                  <a:miter lim="800000"/>
                </a:ln>
              </p:spPr>
              <p:txBody>
                <a:bodyPr wrap="none" anchor="ctr"/>
                <a:lstStyle/>
                <a:p>
                  <a:endParaRPr lang="zh-CN" altLang="en-US">
                    <a:latin typeface="华文新魏" panose="02010800040101010101" pitchFamily="2" charset="-122"/>
                    <a:ea typeface="华文新魏" panose="02010800040101010101" pitchFamily="2" charset="-122"/>
                  </a:endParaRPr>
                </a:p>
              </p:txBody>
            </p:sp>
            <p:sp>
              <p:nvSpPr>
                <p:cNvPr id="33" name="AutoShape 7"/>
                <p:cNvSpPr>
                  <a:spLocks noChangeArrowheads="1"/>
                </p:cNvSpPr>
                <p:nvPr/>
              </p:nvSpPr>
              <p:spPr bwMode="gray">
                <a:xfrm>
                  <a:off x="1201" y="2737"/>
                  <a:ext cx="1348" cy="1169"/>
                </a:xfrm>
                <a:prstGeom prst="hexagon">
                  <a:avLst>
                    <a:gd name="adj" fmla="val 28896"/>
                    <a:gd name="vf" fmla="val 115470"/>
                  </a:avLst>
                </a:prstGeom>
                <a:gradFill rotWithShape="1">
                  <a:gsLst>
                    <a:gs pos="0">
                      <a:schemeClr val="hlink">
                        <a:gamma/>
                        <a:shade val="46275"/>
                        <a:invGamma/>
                      </a:schemeClr>
                    </a:gs>
                    <a:gs pos="100000">
                      <a:schemeClr val="hlink"/>
                    </a:gs>
                  </a:gsLst>
                  <a:lin ang="2700000" scaled="1"/>
                </a:gradFill>
                <a:ln w="9525">
                  <a:solidFill>
                    <a:schemeClr val="tx1"/>
                  </a:solidFill>
                  <a:miter lim="800000"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zh-CN" altLang="en-US">
                    <a:latin typeface="华文新魏" panose="02010800040101010101" pitchFamily="2" charset="-122"/>
                    <a:ea typeface="华文新魏" panose="02010800040101010101" pitchFamily="2" charset="-122"/>
                  </a:endParaRPr>
                </a:p>
              </p:txBody>
            </p:sp>
          </p:grpSp>
          <p:sp>
            <p:nvSpPr>
              <p:cNvPr id="34" name="Line 8"/>
              <p:cNvSpPr>
                <a:spLocks noChangeShapeType="1"/>
              </p:cNvSpPr>
              <p:nvPr/>
            </p:nvSpPr>
            <p:spPr bwMode="auto">
              <a:xfrm>
                <a:off x="1536" y="1659"/>
                <a:ext cx="3024" cy="0"/>
              </a:xfrm>
              <a:prstGeom prst="line">
                <a:avLst/>
              </a:prstGeom>
              <a:noFill/>
              <a:ln w="25400">
                <a:solidFill>
                  <a:schemeClr val="tx2"/>
                </a:solidFill>
                <a:prstDash val="sysDot"/>
                <a:round/>
                <a:tailEnd type="oval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5" name="Text Box 9"/>
              <p:cNvSpPr txBox="1">
                <a:spLocks noChangeArrowheads="1"/>
              </p:cNvSpPr>
              <p:nvPr/>
            </p:nvSpPr>
            <p:spPr bwMode="auto">
              <a:xfrm>
                <a:off x="1818" y="1272"/>
                <a:ext cx="2559" cy="38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l"/>
                <a:r>
                  <a:rPr lang="zh-CN" altLang="en-US" sz="2400" dirty="0">
                    <a:solidFill>
                      <a:schemeClr val="tx2"/>
                    </a:solidFill>
                    <a:latin typeface="华文新魏" panose="02010800040101010101" pitchFamily="2" charset="-122"/>
                    <a:ea typeface="华文新魏" panose="02010800040101010101" pitchFamily="2" charset="-122"/>
                    <a:sym typeface="+mn-ea"/>
                  </a:rPr>
                  <a:t>机房尺寸及设备位置标注</a:t>
                </a:r>
                <a:endParaRPr lang="zh-CN" altLang="en-US" sz="2400" dirty="0">
                  <a:solidFill>
                    <a:schemeClr val="tx2"/>
                  </a:solidFill>
                  <a:latin typeface="华文新魏" panose="02010800040101010101" pitchFamily="2" charset="-122"/>
                  <a:ea typeface="华文新魏" panose="02010800040101010101" pitchFamily="2" charset="-122"/>
                  <a:sym typeface="+mn-ea"/>
                </a:endParaRPr>
              </a:p>
            </p:txBody>
          </p:sp>
          <p:sp>
            <p:nvSpPr>
              <p:cNvPr id="36" name="Text Box 10"/>
              <p:cNvSpPr txBox="1">
                <a:spLocks noChangeArrowheads="1"/>
              </p:cNvSpPr>
              <p:nvPr/>
            </p:nvSpPr>
            <p:spPr bwMode="gray">
              <a:xfrm>
                <a:off x="1260" y="1337"/>
                <a:ext cx="254" cy="38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/>
                <a:r>
                  <a:rPr lang="en-US" altLang="zh-CN" sz="2400" b="1">
                    <a:solidFill>
                      <a:schemeClr val="bg1"/>
                    </a:solidFill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7</a:t>
                </a:r>
                <a:endParaRPr lang="en-US" altLang="zh-CN" sz="2400" b="1">
                  <a:solidFill>
                    <a:schemeClr val="bg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</p:txBody>
          </p:sp>
        </p:grp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>
            <a:spLocks noChangeArrowheads="1"/>
          </p:cNvSpPr>
          <p:nvPr/>
        </p:nvSpPr>
        <p:spPr bwMode="auto">
          <a:xfrm>
            <a:off x="539750" y="267970"/>
            <a:ext cx="8604250" cy="434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3200" b="1" dirty="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1</a:t>
            </a:r>
            <a:r>
              <a:rPr lang="zh-CN" altLang="en-US" sz="3200" b="1" dirty="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、多线命令（MLINE/ML）</a:t>
            </a:r>
            <a:endParaRPr lang="zh-CN" altLang="en-US" sz="3200" b="1" dirty="0">
              <a:solidFill>
                <a:schemeClr val="tx2"/>
              </a:solidFill>
              <a:latin typeface="华文新魏" panose="02010800040101010101" pitchFamily="2" charset="-122"/>
              <a:ea typeface="华文新魏" panose="02010800040101010101" pitchFamily="2" charset="-122"/>
              <a:sym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539750" y="771525"/>
            <a:ext cx="8421370" cy="199961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sz="1600"/>
              <a:t>【多线】命令可以绘制多条（最多16条）平行的直线，应用【多线】命令时，一定要注意多线样式的设置和多线的处理。</a:t>
            </a:r>
            <a:endParaRPr sz="1600"/>
          </a:p>
          <a:p>
            <a:r>
              <a:rPr sz="1800" b="1"/>
              <a:t>1．多线样式命令（MLSTYLE）</a:t>
            </a:r>
            <a:endParaRPr sz="1600"/>
          </a:p>
          <a:p>
            <a:r>
              <a:rPr sz="1400"/>
              <a:t>选择【格式】→【多线样式】命令或在命令行中输入MLSTYLE，进行多线样式的设置。修改多样线式对话框如图7-1所示，默认设置为起点终点不封口且平直，多线内部无填充颜色，有两条实线，两条实线间距为1。</a:t>
            </a:r>
            <a:endParaRPr sz="1600"/>
          </a:p>
          <a:p>
            <a:endParaRPr sz="1600"/>
          </a:p>
          <a:p>
            <a:endParaRPr sz="1600"/>
          </a:p>
        </p:txBody>
      </p:sp>
      <p:grpSp>
        <p:nvGrpSpPr>
          <p:cNvPr id="15" name="组合 14"/>
          <p:cNvGrpSpPr/>
          <p:nvPr/>
        </p:nvGrpSpPr>
        <p:grpSpPr>
          <a:xfrm>
            <a:off x="2785412" y="2139622"/>
            <a:ext cx="4117370" cy="2884091"/>
            <a:chOff x="4479" y="3710"/>
            <a:chExt cx="6189" cy="4394"/>
          </a:xfrm>
        </p:grpSpPr>
        <p:pic>
          <p:nvPicPr>
            <p:cNvPr id="2" name="图片 -2147482394"/>
            <p:cNvPicPr>
              <a:picLocks noChangeAspect="1"/>
            </p:cNvPicPr>
            <p:nvPr/>
          </p:nvPicPr>
          <p:blipFill>
            <a:blip r:embed="rId1"/>
            <a:srcRect l="259" t="261" r="259" b="282"/>
            <a:stretch>
              <a:fillRect/>
            </a:stretch>
          </p:blipFill>
          <p:spPr>
            <a:xfrm>
              <a:off x="4479" y="3710"/>
              <a:ext cx="6189" cy="3687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4" name="文本框 13"/>
            <p:cNvSpPr txBox="1"/>
            <p:nvPr/>
          </p:nvSpPr>
          <p:spPr>
            <a:xfrm>
              <a:off x="7194" y="7542"/>
              <a:ext cx="962" cy="56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/>
                <a:t>7-1</a:t>
              </a:r>
              <a:endParaRPr lang="en-US" altLang="zh-CN"/>
            </a:p>
          </p:txBody>
        </p:sp>
      </p:grp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>
            <a:spLocks noChangeArrowheads="1"/>
          </p:cNvSpPr>
          <p:nvPr/>
        </p:nvSpPr>
        <p:spPr bwMode="auto">
          <a:xfrm>
            <a:off x="539750" y="267970"/>
            <a:ext cx="8604250" cy="434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3200" b="1" dirty="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1</a:t>
            </a:r>
            <a:r>
              <a:rPr lang="zh-CN" altLang="en-US" sz="3200" b="1" dirty="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、多线命令（MLINE/ML）</a:t>
            </a:r>
            <a:endParaRPr lang="zh-CN" altLang="en-US" sz="3200" b="1" dirty="0">
              <a:solidFill>
                <a:schemeClr val="tx2"/>
              </a:solidFill>
              <a:latin typeface="华文新魏" panose="02010800040101010101" pitchFamily="2" charset="-122"/>
              <a:ea typeface="华文新魏" panose="02010800040101010101" pitchFamily="2" charset="-122"/>
              <a:sym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539750" y="771525"/>
            <a:ext cx="8421370" cy="17221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sz="1800" b="1">
                <a:sym typeface="+mn-ea"/>
              </a:rPr>
              <a:t>2．多线命令（MLINE/ML）</a:t>
            </a:r>
            <a:endParaRPr sz="1800" b="1"/>
          </a:p>
          <a:p>
            <a:r>
              <a:rPr sz="1400">
                <a:sym typeface="+mn-ea"/>
              </a:rPr>
              <a:t>◆  对正：鼠标指针在平行线的哪一侧，有上、下和中心3种选项。</a:t>
            </a:r>
            <a:endParaRPr sz="1400"/>
          </a:p>
          <a:p>
            <a:r>
              <a:rPr sz="1400">
                <a:sym typeface="+mn-ea"/>
              </a:rPr>
              <a:t>◆  比例：在默认多线样式下，由于两平行线间距为1，所以比例的值为平行多线间的距离。</a:t>
            </a:r>
            <a:endParaRPr sz="1400"/>
          </a:p>
          <a:p>
            <a:r>
              <a:rPr sz="1400">
                <a:sym typeface="+mn-ea"/>
              </a:rPr>
              <a:t>◆  样式：ST，选择要添加的多线样式。</a:t>
            </a:r>
            <a:endParaRPr sz="1800" b="1"/>
          </a:p>
          <a:p>
            <a:r>
              <a:rPr sz="1800" b="1"/>
              <a:t>3．多线编辑工具</a:t>
            </a:r>
            <a:endParaRPr sz="1800" b="1"/>
          </a:p>
          <a:p>
            <a:r>
              <a:rPr sz="1400"/>
              <a:t>双击任何一条多线或选择【修改】→【对象】→【多线】命令，打开【多线编辑工具】对话框，如图7-2所示。</a:t>
            </a:r>
            <a:endParaRPr sz="1400"/>
          </a:p>
        </p:txBody>
      </p:sp>
      <p:grpSp>
        <p:nvGrpSpPr>
          <p:cNvPr id="3" name="组合 2"/>
          <p:cNvGrpSpPr/>
          <p:nvPr/>
        </p:nvGrpSpPr>
        <p:grpSpPr>
          <a:xfrm>
            <a:off x="2555875" y="2355850"/>
            <a:ext cx="3609340" cy="2574290"/>
            <a:chOff x="4025" y="3710"/>
            <a:chExt cx="5684" cy="4054"/>
          </a:xfrm>
        </p:grpSpPr>
        <p:pic>
          <p:nvPicPr>
            <p:cNvPr id="2" name="图片 -2147482390"/>
            <p:cNvPicPr>
              <a:picLocks noChangeAspect="1"/>
            </p:cNvPicPr>
            <p:nvPr/>
          </p:nvPicPr>
          <p:blipFill>
            <a:blip r:embed="rId1"/>
            <a:srcRect l="130" t="116" r="130" b="136"/>
            <a:stretch>
              <a:fillRect/>
            </a:stretch>
          </p:blipFill>
          <p:spPr>
            <a:xfrm>
              <a:off x="4025" y="3710"/>
              <a:ext cx="4828" cy="4054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5" name="文本框 4"/>
            <p:cNvSpPr txBox="1"/>
            <p:nvPr/>
          </p:nvSpPr>
          <p:spPr>
            <a:xfrm>
              <a:off x="8901" y="5447"/>
              <a:ext cx="808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/>
                <a:t>7-2</a:t>
              </a:r>
              <a:endParaRPr lang="en-US" altLang="zh-CN"/>
            </a:p>
          </p:txBody>
        </p:sp>
      </p:grp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>
            <a:spLocks noChangeArrowheads="1"/>
          </p:cNvSpPr>
          <p:nvPr/>
        </p:nvSpPr>
        <p:spPr bwMode="auto">
          <a:xfrm>
            <a:off x="539750" y="267970"/>
            <a:ext cx="8604250" cy="434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3200" b="1" dirty="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2</a:t>
            </a:r>
            <a:r>
              <a:rPr lang="zh-CN" altLang="en-US" sz="3200" b="1" dirty="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、表格的绘制</a:t>
            </a:r>
            <a:endParaRPr lang="zh-CN" altLang="en-US" sz="3200" b="1" dirty="0">
              <a:solidFill>
                <a:schemeClr val="tx2"/>
              </a:solidFill>
              <a:latin typeface="华文新魏" panose="02010800040101010101" pitchFamily="2" charset="-122"/>
              <a:ea typeface="华文新魏" panose="02010800040101010101" pitchFamily="2" charset="-122"/>
              <a:sym typeface="+mn-ea"/>
            </a:endParaRPr>
          </a:p>
        </p:txBody>
      </p:sp>
      <p:sp>
        <p:nvSpPr>
          <p:cNvPr id="102" name="文本框 101"/>
          <p:cNvSpPr txBox="1"/>
          <p:nvPr/>
        </p:nvSpPr>
        <p:spPr>
          <a:xfrm>
            <a:off x="323850" y="771525"/>
            <a:ext cx="8616950" cy="73723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marL="0" indent="261620"/>
            <a:r>
              <a:rPr sz="1400">
                <a:solidFill>
                  <a:srgbClr val="000000"/>
                </a:solidFill>
                <a:cs typeface="方正宋一简体" charset="0"/>
              </a:rPr>
              <a:t>当表格样式设置好后，可通过【插入表格】命令，设置插入几列表格及列宽、几行数据及行高。注意是数据行的数量，不包括标题和列标题的。行高默认为1行。</a:t>
            </a:r>
            <a:endParaRPr sz="1400">
              <a:solidFill>
                <a:srgbClr val="000000"/>
              </a:solidFill>
              <a:cs typeface="方正宋一简体" charset="0"/>
            </a:endParaRPr>
          </a:p>
          <a:p>
            <a:pPr marL="0" indent="261620"/>
            <a:r>
              <a:rPr sz="1400">
                <a:solidFill>
                  <a:srgbClr val="000000"/>
                </a:solidFill>
                <a:cs typeface="方正宋一简体" charset="0"/>
              </a:rPr>
              <a:t>下面以绘制一个表6</a:t>
            </a:r>
            <a:r>
              <a:rPr lang="en-US" sz="1400">
                <a:solidFill>
                  <a:srgbClr val="000000"/>
                </a:solidFill>
                <a:cs typeface="方正宋一简体" charset="0"/>
              </a:rPr>
              <a:t>-</a:t>
            </a:r>
            <a:r>
              <a:rPr sz="1400">
                <a:solidFill>
                  <a:srgbClr val="000000"/>
                </a:solidFill>
                <a:cs typeface="方正宋一简体" charset="0"/>
              </a:rPr>
              <a:t>1所示的3行5列表格为例，学习表格的绘制方法</a:t>
            </a:r>
            <a:r>
              <a:rPr lang="zh-CN" sz="1400">
                <a:solidFill>
                  <a:srgbClr val="000000"/>
                </a:solidFill>
                <a:cs typeface="方正宋一简体" charset="0"/>
              </a:rPr>
              <a:t>。</a:t>
            </a:r>
            <a:endParaRPr lang="zh-CN" sz="1400">
              <a:solidFill>
                <a:srgbClr val="000000"/>
              </a:solidFill>
              <a:cs typeface="方正宋一简体" charset="0"/>
            </a:endParaRPr>
          </a:p>
        </p:txBody>
      </p:sp>
      <p:grpSp>
        <p:nvGrpSpPr>
          <p:cNvPr id="16" name="组合 15"/>
          <p:cNvGrpSpPr/>
          <p:nvPr/>
        </p:nvGrpSpPr>
        <p:grpSpPr>
          <a:xfrm>
            <a:off x="2656840" y="1708150"/>
            <a:ext cx="4368800" cy="3248660"/>
            <a:chOff x="4184" y="2690"/>
            <a:chExt cx="6880" cy="5116"/>
          </a:xfrm>
        </p:grpSpPr>
        <p:pic>
          <p:nvPicPr>
            <p:cNvPr id="2" name="图片 -2147482410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4184" y="2690"/>
              <a:ext cx="6881" cy="4367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5" name="文本框 14"/>
            <p:cNvSpPr txBox="1"/>
            <p:nvPr/>
          </p:nvSpPr>
          <p:spPr>
            <a:xfrm>
              <a:off x="7173" y="7226"/>
              <a:ext cx="902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/>
                <a:t>6-1</a:t>
              </a:r>
              <a:endParaRPr lang="en-US" altLang="zh-CN"/>
            </a:p>
          </p:txBody>
        </p:sp>
      </p:grp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>
            <a:spLocks noChangeArrowheads="1"/>
          </p:cNvSpPr>
          <p:nvPr/>
        </p:nvSpPr>
        <p:spPr bwMode="auto">
          <a:xfrm>
            <a:off x="539750" y="267970"/>
            <a:ext cx="8604250" cy="434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3200" b="1" dirty="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2</a:t>
            </a:r>
            <a:r>
              <a:rPr lang="zh-CN" altLang="en-US" sz="3200" b="1" dirty="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、偏移命令和分解命令</a:t>
            </a:r>
            <a:endParaRPr lang="zh-CN" altLang="en-US" sz="3200" b="1" dirty="0">
              <a:solidFill>
                <a:schemeClr val="tx2"/>
              </a:solidFill>
              <a:latin typeface="华文新魏" panose="02010800040101010101" pitchFamily="2" charset="-122"/>
              <a:ea typeface="华文新魏" panose="02010800040101010101" pitchFamily="2" charset="-122"/>
              <a:sym typeface="+mn-ea"/>
            </a:endParaRPr>
          </a:p>
        </p:txBody>
      </p:sp>
      <p:sp>
        <p:nvSpPr>
          <p:cNvPr id="102" name="文本框 101"/>
          <p:cNvSpPr txBox="1"/>
          <p:nvPr/>
        </p:nvSpPr>
        <p:spPr>
          <a:xfrm>
            <a:off x="323850" y="771525"/>
            <a:ext cx="8616950" cy="424624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marL="0" indent="261620"/>
            <a:r>
              <a:rPr sz="1600" b="1">
                <a:solidFill>
                  <a:srgbClr val="000000"/>
                </a:solidFill>
                <a:cs typeface="方正宋一简体" charset="0"/>
              </a:rPr>
              <a:t>1．偏移命令（OFFSET/O）</a:t>
            </a:r>
            <a:endParaRPr sz="1600" b="1">
              <a:solidFill>
                <a:srgbClr val="000000"/>
              </a:solidFill>
              <a:cs typeface="方正宋一简体" charset="0"/>
            </a:endParaRPr>
          </a:p>
          <a:p>
            <a:pPr marL="0" indent="261620"/>
            <a:r>
              <a:rPr sz="1400">
                <a:solidFill>
                  <a:srgbClr val="000000"/>
                </a:solidFill>
                <a:cs typeface="方正宋一简体" charset="0"/>
              </a:rPr>
              <a:t>【偏移】命令用于根据指定距离或通过点，建立一个与所选对象平行或具有同心结构的形体。能被偏移的对象包括直线、圆、圆弧、样条曲线等。可以通过【修改】菜单或单击工具栏中的【偏移】按钮，或输入快捷键O来激活【偏移】命令。</a:t>
            </a:r>
            <a:endParaRPr sz="1400">
              <a:solidFill>
                <a:srgbClr val="000000"/>
              </a:solidFill>
              <a:cs typeface="方正宋一简体" charset="0"/>
            </a:endParaRPr>
          </a:p>
          <a:p>
            <a:pPr marL="0" indent="261620"/>
            <a:r>
              <a:rPr sz="1400">
                <a:solidFill>
                  <a:srgbClr val="000000"/>
                </a:solidFill>
                <a:cs typeface="方正宋一简体" charset="0"/>
              </a:rPr>
              <a:t>有些图形采用【直线】命令、【矩形】命令及【多段线】命令均能完成，但是后续对这些对象进行偏移处理时，效果是不同的，如图7</a:t>
            </a:r>
            <a:r>
              <a:rPr lang="en-US" sz="1400">
                <a:solidFill>
                  <a:srgbClr val="000000"/>
                </a:solidFill>
                <a:cs typeface="方正宋一简体" charset="0"/>
              </a:rPr>
              <a:t>-</a:t>
            </a:r>
            <a:r>
              <a:rPr sz="1400">
                <a:solidFill>
                  <a:srgbClr val="000000"/>
                </a:solidFill>
                <a:cs typeface="方正宋一简体" charset="0"/>
              </a:rPr>
              <a:t>4所示。矩形偏移和多段线偏移效果一样，但用【直线】命令绘制的矩形偏移效果不同。因此【偏移】命令要配合【多段线】命令使用。</a:t>
            </a:r>
            <a:endParaRPr sz="1400">
              <a:solidFill>
                <a:srgbClr val="000000"/>
              </a:solidFill>
              <a:cs typeface="方正宋一简体" charset="0"/>
            </a:endParaRPr>
          </a:p>
          <a:p>
            <a:pPr marL="0" indent="261620"/>
            <a:endParaRPr sz="1400">
              <a:solidFill>
                <a:srgbClr val="000000"/>
              </a:solidFill>
              <a:cs typeface="方正宋一简体" charset="0"/>
            </a:endParaRPr>
          </a:p>
          <a:p>
            <a:pPr marL="0" indent="261620"/>
            <a:endParaRPr sz="1400">
              <a:solidFill>
                <a:srgbClr val="000000"/>
              </a:solidFill>
              <a:cs typeface="方正宋一简体" charset="0"/>
            </a:endParaRPr>
          </a:p>
          <a:p>
            <a:pPr marL="0" indent="261620"/>
            <a:endParaRPr sz="1400">
              <a:solidFill>
                <a:srgbClr val="000000"/>
              </a:solidFill>
              <a:cs typeface="方正宋一简体" charset="0"/>
            </a:endParaRPr>
          </a:p>
          <a:p>
            <a:pPr marL="0" indent="261620"/>
            <a:endParaRPr sz="1400">
              <a:solidFill>
                <a:srgbClr val="000000"/>
              </a:solidFill>
              <a:cs typeface="方正宋一简体" charset="0"/>
            </a:endParaRPr>
          </a:p>
          <a:p>
            <a:pPr marL="0" indent="261620"/>
            <a:endParaRPr sz="1400">
              <a:solidFill>
                <a:srgbClr val="000000"/>
              </a:solidFill>
              <a:cs typeface="方正宋一简体" charset="0"/>
            </a:endParaRPr>
          </a:p>
          <a:p>
            <a:pPr marL="0" indent="261620"/>
            <a:endParaRPr sz="1400">
              <a:solidFill>
                <a:srgbClr val="000000"/>
              </a:solidFill>
              <a:cs typeface="方正宋一简体" charset="0"/>
            </a:endParaRPr>
          </a:p>
          <a:p>
            <a:pPr marL="0" indent="261620"/>
            <a:endParaRPr sz="1400">
              <a:solidFill>
                <a:srgbClr val="000000"/>
              </a:solidFill>
              <a:cs typeface="方正宋一简体" charset="0"/>
            </a:endParaRPr>
          </a:p>
          <a:p>
            <a:pPr marL="0" indent="261620"/>
            <a:endParaRPr sz="1400">
              <a:solidFill>
                <a:srgbClr val="000000"/>
              </a:solidFill>
              <a:cs typeface="方正宋一简体" charset="0"/>
            </a:endParaRPr>
          </a:p>
          <a:p>
            <a:pPr marL="0" indent="261620"/>
            <a:endParaRPr sz="1400">
              <a:solidFill>
                <a:srgbClr val="000000"/>
              </a:solidFill>
              <a:cs typeface="方正宋一简体" charset="0"/>
            </a:endParaRPr>
          </a:p>
          <a:p>
            <a:pPr marL="0" indent="261620"/>
            <a:r>
              <a:rPr sz="1600" b="1">
                <a:solidFill>
                  <a:srgbClr val="000000"/>
                </a:solidFill>
                <a:cs typeface="方正宋一简体" charset="0"/>
              </a:rPr>
              <a:t>2．分解命令（EXPLODE/X）</a:t>
            </a:r>
            <a:endParaRPr sz="1400">
              <a:solidFill>
                <a:srgbClr val="000000"/>
              </a:solidFill>
              <a:cs typeface="方正宋一简体" charset="0"/>
            </a:endParaRPr>
          </a:p>
          <a:p>
            <a:pPr marL="0" indent="261620"/>
            <a:r>
              <a:rPr sz="1400">
                <a:solidFill>
                  <a:srgbClr val="000000"/>
                </a:solidFill>
                <a:cs typeface="方正宋一简体" charset="0"/>
              </a:rPr>
              <a:t>【分解】命令用于将一个对象分解成多个对象，该命令也叫炸开命令。可以通过【修改】菜单或单击工具栏中的【分解】按钮，或输入快捷键X来激活【分解】命令。</a:t>
            </a:r>
            <a:endParaRPr sz="1400">
              <a:solidFill>
                <a:srgbClr val="000000"/>
              </a:solidFill>
              <a:cs typeface="方正宋一简体" charset="0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1305560" y="2355850"/>
            <a:ext cx="6653530" cy="2024380"/>
            <a:chOff x="2056" y="3710"/>
            <a:chExt cx="10478" cy="3188"/>
          </a:xfrm>
        </p:grpSpPr>
        <p:grpSp>
          <p:nvGrpSpPr>
            <p:cNvPr id="6" name="组合 5"/>
            <p:cNvGrpSpPr/>
            <p:nvPr/>
          </p:nvGrpSpPr>
          <p:grpSpPr>
            <a:xfrm>
              <a:off x="2056" y="3710"/>
              <a:ext cx="10478" cy="2775"/>
              <a:chOff x="2056" y="3710"/>
              <a:chExt cx="10478" cy="2775"/>
            </a:xfrm>
          </p:grpSpPr>
          <p:pic>
            <p:nvPicPr>
              <p:cNvPr id="2" name="图片 -2147482388"/>
              <p:cNvPicPr>
                <a:picLocks noChangeAspect="1"/>
              </p:cNvPicPr>
              <p:nvPr>
                <p:custDataLst>
                  <p:tags r:id="rId1"/>
                </p:custDataLst>
              </p:nvPr>
            </p:nvPicPr>
            <p:blipFill>
              <a:blip r:embed="rId2"/>
              <a:stretch>
                <a:fillRect/>
              </a:stretch>
            </p:blipFill>
            <p:spPr>
              <a:xfrm>
                <a:off x="2056" y="3710"/>
                <a:ext cx="10478" cy="2195"/>
              </a:xfrm>
              <a:prstGeom prst="rect">
                <a:avLst/>
              </a:prstGeom>
              <a:noFill/>
              <a:ln w="9525">
                <a:noFill/>
              </a:ln>
            </p:spPr>
          </p:pic>
          <p:sp>
            <p:nvSpPr>
              <p:cNvPr id="3" name="文本框 2"/>
              <p:cNvSpPr txBox="1"/>
              <p:nvPr/>
            </p:nvSpPr>
            <p:spPr>
              <a:xfrm>
                <a:off x="6336" y="5865"/>
                <a:ext cx="1728" cy="58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p>
                <a:r>
                  <a:rPr lang="zh-CN" altLang="en-US"/>
                  <a:t>矩形偏移</a:t>
                </a:r>
                <a:endParaRPr lang="zh-CN" altLang="en-US"/>
              </a:p>
            </p:txBody>
          </p:sp>
          <p:sp>
            <p:nvSpPr>
              <p:cNvPr id="4" name="文本框 3"/>
              <p:cNvSpPr txBox="1"/>
              <p:nvPr/>
            </p:nvSpPr>
            <p:spPr>
              <a:xfrm>
                <a:off x="2777" y="5905"/>
                <a:ext cx="1728" cy="58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p>
                <a:r>
                  <a:rPr lang="zh-CN" altLang="en-US"/>
                  <a:t>直线偏移</a:t>
                </a:r>
                <a:endParaRPr lang="zh-CN" altLang="en-US"/>
              </a:p>
            </p:txBody>
          </p:sp>
          <p:sp>
            <p:nvSpPr>
              <p:cNvPr id="5" name="文本框 4"/>
              <p:cNvSpPr txBox="1"/>
              <p:nvPr/>
            </p:nvSpPr>
            <p:spPr>
              <a:xfrm>
                <a:off x="9922" y="5905"/>
                <a:ext cx="2088" cy="58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p>
                <a:r>
                  <a:rPr lang="zh-CN" altLang="en-US"/>
                  <a:t>多线段偏移</a:t>
                </a:r>
                <a:endParaRPr lang="zh-CN" altLang="en-US"/>
              </a:p>
            </p:txBody>
          </p:sp>
        </p:grpSp>
        <p:sp>
          <p:nvSpPr>
            <p:cNvPr id="8" name="文本框 7"/>
            <p:cNvSpPr txBox="1"/>
            <p:nvPr/>
          </p:nvSpPr>
          <p:spPr>
            <a:xfrm>
              <a:off x="6869" y="6318"/>
              <a:ext cx="851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/>
                <a:t>7-4</a:t>
              </a:r>
              <a:endParaRPr lang="en-US" altLang="zh-CN"/>
            </a:p>
          </p:txBody>
        </p:sp>
      </p:grp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>
            <a:spLocks noChangeArrowheads="1"/>
          </p:cNvSpPr>
          <p:nvPr/>
        </p:nvSpPr>
        <p:spPr bwMode="auto">
          <a:xfrm>
            <a:off x="539750" y="267970"/>
            <a:ext cx="8604250" cy="434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sz="3200" b="1" dirty="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3</a:t>
            </a:r>
            <a:r>
              <a:rPr lang="zh-CN" altLang="en-US" sz="3200" b="1" dirty="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、标注样式命令（DIMSTYLE/D）</a:t>
            </a:r>
            <a:endParaRPr lang="zh-CN" altLang="en-US" sz="3200" b="1" dirty="0">
              <a:solidFill>
                <a:schemeClr val="tx2"/>
              </a:solidFill>
              <a:latin typeface="华文新魏" panose="02010800040101010101" pitchFamily="2" charset="-122"/>
              <a:ea typeface="华文新魏" panose="02010800040101010101" pitchFamily="2" charset="-122"/>
              <a:sym typeface="+mn-ea"/>
            </a:endParaRPr>
          </a:p>
        </p:txBody>
      </p:sp>
      <p:sp>
        <p:nvSpPr>
          <p:cNvPr id="102" name="文本框 101"/>
          <p:cNvSpPr txBox="1"/>
          <p:nvPr/>
        </p:nvSpPr>
        <p:spPr>
          <a:xfrm>
            <a:off x="323850" y="771525"/>
            <a:ext cx="8616950" cy="82994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marL="0" indent="261620"/>
            <a:r>
              <a:rPr sz="1600" b="0">
                <a:solidFill>
                  <a:srgbClr val="000000"/>
                </a:solidFill>
                <a:cs typeface="方正宋一简体" charset="0"/>
              </a:rPr>
              <a:t>在专业设计绘图中，尺寸是一项非常重要的内容。它描述了设计对象各组成部分的大小及相对位置关系，是实际施工的重要依据。尺寸标注有着严格的规范，一个完整的尺寸标注由尺寸界线、尺寸线、尺寸数字（或文字）、尺寸终端等部分组成，如图7</a:t>
            </a:r>
            <a:r>
              <a:rPr lang="en-US" sz="1600" b="0">
                <a:solidFill>
                  <a:srgbClr val="000000"/>
                </a:solidFill>
                <a:cs typeface="方正宋一简体" charset="0"/>
              </a:rPr>
              <a:t>-</a:t>
            </a:r>
            <a:r>
              <a:rPr sz="1600" b="0">
                <a:solidFill>
                  <a:srgbClr val="000000"/>
                </a:solidFill>
                <a:cs typeface="方正宋一简体" charset="0"/>
              </a:rPr>
              <a:t>6所示。</a:t>
            </a:r>
            <a:endParaRPr sz="1600" b="0">
              <a:solidFill>
                <a:srgbClr val="000000"/>
              </a:solidFill>
              <a:cs typeface="方正宋一简体" charset="0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2744470" y="1779905"/>
            <a:ext cx="3775710" cy="872490"/>
            <a:chOff x="4322" y="2803"/>
            <a:chExt cx="5946" cy="1374"/>
          </a:xfrm>
        </p:grpSpPr>
        <p:pic>
          <p:nvPicPr>
            <p:cNvPr id="2" name="图片 2632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4322" y="2803"/>
              <a:ext cx="5946" cy="715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4" name="文本框 3"/>
            <p:cNvSpPr txBox="1"/>
            <p:nvPr/>
          </p:nvSpPr>
          <p:spPr>
            <a:xfrm>
              <a:off x="6796" y="3597"/>
              <a:ext cx="808" cy="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r>
                <a:rPr lang="en-US" altLang="zh-CN"/>
                <a:t>7-6</a:t>
              </a:r>
              <a:endParaRPr lang="en-US" altLang="zh-CN"/>
            </a:p>
          </p:txBody>
        </p:sp>
      </p:grp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>
            <a:spLocks noChangeArrowheads="1"/>
          </p:cNvSpPr>
          <p:nvPr/>
        </p:nvSpPr>
        <p:spPr bwMode="auto">
          <a:xfrm>
            <a:off x="539750" y="267970"/>
            <a:ext cx="8604250" cy="434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sz="3200" b="1" dirty="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3</a:t>
            </a:r>
            <a:r>
              <a:rPr lang="zh-CN" altLang="en-US" sz="3200" b="1" dirty="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、标注样式命令（DIMSTYLE/D）</a:t>
            </a:r>
            <a:endParaRPr lang="zh-CN" altLang="en-US" sz="3200" b="1" dirty="0">
              <a:solidFill>
                <a:schemeClr val="tx2"/>
              </a:solidFill>
              <a:latin typeface="华文新魏" panose="02010800040101010101" pitchFamily="2" charset="-122"/>
              <a:ea typeface="华文新魏" panose="02010800040101010101" pitchFamily="2" charset="-122"/>
              <a:sym typeface="+mn-ea"/>
            </a:endParaRPr>
          </a:p>
        </p:txBody>
      </p:sp>
      <p:sp>
        <p:nvSpPr>
          <p:cNvPr id="100" name="文本框 99"/>
          <p:cNvSpPr txBox="1"/>
          <p:nvPr/>
        </p:nvSpPr>
        <p:spPr>
          <a:xfrm>
            <a:off x="323850" y="843915"/>
            <a:ext cx="3642995" cy="132207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marL="0" indent="127000"/>
            <a:r>
              <a:rPr lang="zh-CN" sz="1600" b="0">
                <a:cs typeface="方正宋一简体" charset="0"/>
              </a:rPr>
              <a:t>选择【格式】→【标注样式】命令或单击【注释】工具栏中的【标注样式管理器】按钮，如图</a:t>
            </a:r>
            <a:r>
              <a:rPr lang="en-US" sz="1600" b="0">
                <a:latin typeface="Times New Roman" panose="02020603050405020304" pitchFamily="18" charset="0"/>
                <a:cs typeface="方正宋一简体" charset="0"/>
              </a:rPr>
              <a:t>7-7</a:t>
            </a:r>
            <a:r>
              <a:rPr lang="zh-CN" sz="1600" b="0">
                <a:cs typeface="方正宋一简体" charset="0"/>
              </a:rPr>
              <a:t>所示，或在命令行输入</a:t>
            </a:r>
            <a:r>
              <a:rPr lang="en-US" sz="1600" b="0">
                <a:latin typeface="Times New Roman" panose="02020603050405020304" pitchFamily="18" charset="0"/>
                <a:cs typeface="方正宋一简体" charset="0"/>
              </a:rPr>
              <a:t>D</a:t>
            </a:r>
            <a:r>
              <a:rPr lang="zh-CN" sz="1600" b="0">
                <a:cs typeface="方正宋一简体" charset="0"/>
              </a:rPr>
              <a:t>或</a:t>
            </a:r>
            <a:r>
              <a:rPr lang="en-US" sz="1600" b="0">
                <a:latin typeface="Times New Roman" panose="02020603050405020304" pitchFamily="18" charset="0"/>
                <a:cs typeface="方正宋一简体" charset="0"/>
              </a:rPr>
              <a:t>DIMSTYLE</a:t>
            </a:r>
            <a:r>
              <a:rPr lang="zh-CN" sz="1600" b="0">
                <a:cs typeface="方正宋一简体" charset="0"/>
              </a:rPr>
              <a:t>，打开【标注样式管理器】对话框，如图</a:t>
            </a:r>
            <a:r>
              <a:rPr lang="en-US" sz="1600" b="0">
                <a:latin typeface="Times New Roman" panose="02020603050405020304" pitchFamily="18" charset="0"/>
                <a:cs typeface="方正宋一简体" charset="0"/>
              </a:rPr>
              <a:t>7-8</a:t>
            </a:r>
            <a:r>
              <a:rPr lang="zh-CN" sz="1600" b="0">
                <a:cs typeface="方正宋一简体" charset="0"/>
              </a:rPr>
              <a:t>所示。</a:t>
            </a:r>
            <a:endParaRPr lang="zh-CN" altLang="en-US" sz="1600" b="0">
              <a:cs typeface="方正宋一简体" charset="0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1398905" y="2644140"/>
            <a:ext cx="1492250" cy="1808480"/>
            <a:chOff x="3798" y="3030"/>
            <a:chExt cx="2350" cy="2848"/>
          </a:xfrm>
        </p:grpSpPr>
        <p:pic>
          <p:nvPicPr>
            <p:cNvPr id="3" name="图片 2631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3798" y="3030"/>
              <a:ext cx="2351" cy="2175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8" name="文本框 7"/>
            <p:cNvSpPr txBox="1"/>
            <p:nvPr/>
          </p:nvSpPr>
          <p:spPr>
            <a:xfrm>
              <a:off x="4569" y="5298"/>
              <a:ext cx="808" cy="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r>
                <a:rPr lang="en-US" altLang="zh-CN"/>
                <a:t>7-7</a:t>
              </a:r>
              <a:endParaRPr lang="en-US" altLang="zh-CN"/>
            </a:p>
          </p:txBody>
        </p:sp>
      </p:grpSp>
      <p:grpSp>
        <p:nvGrpSpPr>
          <p:cNvPr id="11" name="组合 10"/>
          <p:cNvGrpSpPr/>
          <p:nvPr/>
        </p:nvGrpSpPr>
        <p:grpSpPr>
          <a:xfrm>
            <a:off x="5292090" y="2320468"/>
            <a:ext cx="3059998" cy="2564633"/>
            <a:chOff x="6746" y="3302"/>
            <a:chExt cx="5383" cy="4608"/>
          </a:xfrm>
        </p:grpSpPr>
        <p:pic>
          <p:nvPicPr>
            <p:cNvPr id="6" name="图片 -2147482384"/>
            <p:cNvPicPr>
              <a:picLocks noChangeAspect="1"/>
            </p:cNvPicPr>
            <p:nvPr/>
          </p:nvPicPr>
          <p:blipFill>
            <a:blip r:embed="rId2"/>
            <a:srcRect l="368" t="391" r="368" b="391"/>
            <a:stretch>
              <a:fillRect/>
            </a:stretch>
          </p:blipFill>
          <p:spPr>
            <a:xfrm>
              <a:off x="6746" y="3302"/>
              <a:ext cx="5383" cy="4608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0" name="文本框 9"/>
            <p:cNvSpPr txBox="1"/>
            <p:nvPr/>
          </p:nvSpPr>
          <p:spPr>
            <a:xfrm>
              <a:off x="9034" y="7112"/>
              <a:ext cx="1126" cy="66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/>
                <a:t>7-8</a:t>
              </a:r>
              <a:endParaRPr lang="en-US" altLang="zh-CN"/>
            </a:p>
          </p:txBody>
        </p:sp>
      </p:grpSp>
      <p:sp>
        <p:nvSpPr>
          <p:cNvPr id="12" name="文本框 11"/>
          <p:cNvSpPr txBox="1"/>
          <p:nvPr/>
        </p:nvSpPr>
        <p:spPr>
          <a:xfrm>
            <a:off x="4500245" y="843915"/>
            <a:ext cx="4712970" cy="147637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marL="0" indent="261620"/>
            <a:r>
              <a:rPr lang="zh-CN" b="0">
                <a:solidFill>
                  <a:srgbClr val="000000"/>
                </a:solidFill>
                <a:cs typeface="方正宋一简体" charset="0"/>
              </a:rPr>
              <a:t>【线】选项卡如图</a:t>
            </a:r>
            <a:r>
              <a:rPr lang="en-US" b="0">
                <a:solidFill>
                  <a:srgbClr val="000000"/>
                </a:solidFill>
                <a:latin typeface="Times New Roman" panose="02020603050405020304" pitchFamily="18" charset="0"/>
                <a:cs typeface="方正宋一简体" charset="0"/>
              </a:rPr>
              <a:t>7-8</a:t>
            </a:r>
            <a:r>
              <a:rPr lang="zh-CN" b="0">
                <a:solidFill>
                  <a:srgbClr val="000000"/>
                </a:solidFill>
                <a:cs typeface="方正宋一简体" charset="0"/>
              </a:rPr>
              <a:t>所示。【基线间距】参数是指基线标注时两平行尺寸线之间的间距，应大于文字高度。【超出尺寸线】参数是指尺寸界线超出尺寸线距离。【起点偏移量】参数是指尺寸界线偏移标注起点的距离。</a:t>
            </a:r>
            <a:endParaRPr lang="zh-CN" altLang="en-US"/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>
            <a:spLocks noChangeArrowheads="1"/>
          </p:cNvSpPr>
          <p:nvPr/>
        </p:nvSpPr>
        <p:spPr bwMode="auto">
          <a:xfrm>
            <a:off x="539750" y="267970"/>
            <a:ext cx="8604250" cy="434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sz="3200" b="1" dirty="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3</a:t>
            </a:r>
            <a:r>
              <a:rPr lang="zh-CN" altLang="en-US" sz="3200" b="1" dirty="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、</a:t>
            </a:r>
            <a:r>
              <a:rPr lang="zh-CN" altLang="en-US" sz="3200" b="1" dirty="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标注样式命令（DIMSTYLE/D）</a:t>
            </a:r>
            <a:endParaRPr lang="zh-CN" altLang="en-US" sz="3200" b="1" dirty="0">
              <a:solidFill>
                <a:schemeClr val="tx2"/>
              </a:solidFill>
              <a:latin typeface="华文新魏" panose="02010800040101010101" pitchFamily="2" charset="-122"/>
              <a:ea typeface="华文新魏" panose="02010800040101010101" pitchFamily="2" charset="-122"/>
              <a:sym typeface="+mn-ea"/>
            </a:endParaRPr>
          </a:p>
          <a:p>
            <a:pPr eaLnBrk="1" hangingPunct="1"/>
            <a:endParaRPr lang="zh-CN" altLang="en-US" sz="3200" b="1" dirty="0">
              <a:solidFill>
                <a:schemeClr val="tx2"/>
              </a:solidFill>
              <a:latin typeface="华文新魏" panose="02010800040101010101" pitchFamily="2" charset="-122"/>
              <a:ea typeface="华文新魏" panose="02010800040101010101" pitchFamily="2" charset="-122"/>
              <a:sym typeface="+mn-ea"/>
            </a:endParaRPr>
          </a:p>
        </p:txBody>
      </p:sp>
      <p:sp>
        <p:nvSpPr>
          <p:cNvPr id="102" name="文本框 101"/>
          <p:cNvSpPr txBox="1"/>
          <p:nvPr/>
        </p:nvSpPr>
        <p:spPr>
          <a:xfrm>
            <a:off x="323850" y="771525"/>
            <a:ext cx="8616950" cy="82994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marL="0" indent="261620"/>
            <a:r>
              <a:rPr sz="1600">
                <a:solidFill>
                  <a:srgbClr val="000000"/>
                </a:solidFill>
                <a:cs typeface="方正宋一简体" charset="0"/>
              </a:rPr>
              <a:t>【符号和箭头】选项卡如图7</a:t>
            </a:r>
            <a:r>
              <a:rPr lang="en-US" sz="1600">
                <a:solidFill>
                  <a:srgbClr val="000000"/>
                </a:solidFill>
                <a:cs typeface="方正宋一简体" charset="0"/>
              </a:rPr>
              <a:t>-</a:t>
            </a:r>
            <a:r>
              <a:rPr sz="1600">
                <a:solidFill>
                  <a:srgbClr val="000000"/>
                </a:solidFill>
                <a:cs typeface="方正宋一简体" charset="0"/>
              </a:rPr>
              <a:t>9所示，一般设置【箭头】中的【第一个】参数的尺寸终端样式，【第二个】参数自动同【第一个】参数中设置的样式保持一致。通信工程制图中一般设置标注样式为斜线或箭头。</a:t>
            </a:r>
            <a:endParaRPr sz="1600">
              <a:solidFill>
                <a:srgbClr val="000000"/>
              </a:solidFill>
              <a:cs typeface="方正宋一简体" charset="0"/>
            </a:endParaRPr>
          </a:p>
        </p:txBody>
      </p:sp>
      <p:grpSp>
        <p:nvGrpSpPr>
          <p:cNvPr id="6" name="组合 5"/>
          <p:cNvGrpSpPr/>
          <p:nvPr/>
        </p:nvGrpSpPr>
        <p:grpSpPr>
          <a:xfrm>
            <a:off x="2862263" y="1563688"/>
            <a:ext cx="3418205" cy="3320733"/>
            <a:chOff x="4508" y="2236"/>
            <a:chExt cx="5383" cy="5230"/>
          </a:xfrm>
        </p:grpSpPr>
        <p:pic>
          <p:nvPicPr>
            <p:cNvPr id="2" name="图片 -2147482381"/>
            <p:cNvPicPr>
              <a:picLocks noChangeAspect="1"/>
            </p:cNvPicPr>
            <p:nvPr/>
          </p:nvPicPr>
          <p:blipFill>
            <a:blip r:embed="rId1"/>
            <a:srcRect l="267" t="273" r="267" b="273"/>
            <a:stretch>
              <a:fillRect/>
            </a:stretch>
          </p:blipFill>
          <p:spPr>
            <a:xfrm>
              <a:off x="4508" y="2236"/>
              <a:ext cx="5383" cy="4593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3" name="文本框 2"/>
            <p:cNvSpPr txBox="1"/>
            <p:nvPr/>
          </p:nvSpPr>
          <p:spPr>
            <a:xfrm>
              <a:off x="6891" y="6885"/>
              <a:ext cx="808" cy="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r>
                <a:rPr lang="en-US" altLang="zh-CN"/>
                <a:t>7-9</a:t>
              </a:r>
              <a:endParaRPr lang="en-US" altLang="zh-CN"/>
            </a:p>
          </p:txBody>
        </p:sp>
      </p:grp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>
            <a:spLocks noChangeArrowheads="1"/>
          </p:cNvSpPr>
          <p:nvPr/>
        </p:nvSpPr>
        <p:spPr bwMode="auto">
          <a:xfrm>
            <a:off x="539750" y="267970"/>
            <a:ext cx="8604250" cy="434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sz="3200" b="1" dirty="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3</a:t>
            </a:r>
            <a:r>
              <a:rPr lang="zh-CN" altLang="en-US" sz="3200" b="1" dirty="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、</a:t>
            </a:r>
            <a:r>
              <a:rPr lang="zh-CN" altLang="en-US" sz="3200" b="1" dirty="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标注样式命令（DIMSTYLE/D）</a:t>
            </a:r>
            <a:endParaRPr lang="zh-CN" altLang="en-US" sz="3200" b="1" dirty="0">
              <a:solidFill>
                <a:schemeClr val="tx2"/>
              </a:solidFill>
              <a:latin typeface="华文新魏" panose="02010800040101010101" pitchFamily="2" charset="-122"/>
              <a:ea typeface="华文新魏" panose="02010800040101010101" pitchFamily="2" charset="-122"/>
              <a:sym typeface="+mn-ea"/>
            </a:endParaRPr>
          </a:p>
          <a:p>
            <a:pPr eaLnBrk="1" hangingPunct="1"/>
            <a:endParaRPr lang="zh-CN" altLang="en-US" sz="3200" b="1" dirty="0">
              <a:solidFill>
                <a:schemeClr val="tx2"/>
              </a:solidFill>
              <a:latin typeface="华文新魏" panose="02010800040101010101" pitchFamily="2" charset="-122"/>
              <a:ea typeface="华文新魏" panose="02010800040101010101" pitchFamily="2" charset="-122"/>
              <a:sym typeface="+mn-ea"/>
            </a:endParaRPr>
          </a:p>
        </p:txBody>
      </p:sp>
      <p:sp>
        <p:nvSpPr>
          <p:cNvPr id="102" name="文本框 101"/>
          <p:cNvSpPr txBox="1"/>
          <p:nvPr/>
        </p:nvSpPr>
        <p:spPr>
          <a:xfrm>
            <a:off x="323850" y="771525"/>
            <a:ext cx="8616950" cy="82994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marL="0" indent="261620"/>
            <a:r>
              <a:rPr sz="1600">
                <a:solidFill>
                  <a:srgbClr val="000000"/>
                </a:solidFill>
                <a:cs typeface="方正宋一简体" charset="0"/>
              </a:rPr>
              <a:t>【文字】选项卡如图7</a:t>
            </a:r>
            <a:r>
              <a:rPr lang="en-US" sz="1600">
                <a:solidFill>
                  <a:srgbClr val="000000"/>
                </a:solidFill>
                <a:cs typeface="方正宋一简体" charset="0"/>
              </a:rPr>
              <a:t>-</a:t>
            </a:r>
            <a:r>
              <a:rPr sz="1600">
                <a:solidFill>
                  <a:srgbClr val="000000"/>
                </a:solidFill>
                <a:cs typeface="方正宋一简体" charset="0"/>
              </a:rPr>
              <a:t>10所示。【文字高度】参数是指文字的大小，如果文字样式里已经设置了文字高度，则此处设置的文字高度值无效，标注样式中的文字设置方法和表格样式中一样。【从尺寸线偏移】参数是指文字与尺寸线之间的距离。</a:t>
            </a:r>
            <a:endParaRPr sz="1600">
              <a:solidFill>
                <a:srgbClr val="000000"/>
              </a:solidFill>
              <a:cs typeface="方正宋一简体" charset="0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2987675" y="1601470"/>
            <a:ext cx="3341370" cy="3330575"/>
            <a:chOff x="4705" y="2522"/>
            <a:chExt cx="5262" cy="5245"/>
          </a:xfrm>
        </p:grpSpPr>
        <p:pic>
          <p:nvPicPr>
            <p:cNvPr id="2" name="图片 -2147481701"/>
            <p:cNvPicPr>
              <a:picLocks noChangeAspect="1"/>
            </p:cNvPicPr>
            <p:nvPr/>
          </p:nvPicPr>
          <p:blipFill>
            <a:blip r:embed="rId1"/>
            <a:srcRect l="635" t="626" r="635" b="626"/>
            <a:stretch>
              <a:fillRect/>
            </a:stretch>
          </p:blipFill>
          <p:spPr>
            <a:xfrm>
              <a:off x="4705" y="2522"/>
              <a:ext cx="5262" cy="4506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4" name="文本框 3"/>
            <p:cNvSpPr txBox="1"/>
            <p:nvPr/>
          </p:nvSpPr>
          <p:spPr>
            <a:xfrm>
              <a:off x="7100" y="7187"/>
              <a:ext cx="1008" cy="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r>
                <a:rPr lang="en-US" altLang="zh-CN"/>
                <a:t>7-10</a:t>
              </a:r>
              <a:endParaRPr lang="en-US" altLang="zh-CN"/>
            </a:p>
          </p:txBody>
        </p:sp>
      </p:grp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>
            <a:spLocks noChangeArrowheads="1"/>
          </p:cNvSpPr>
          <p:nvPr/>
        </p:nvSpPr>
        <p:spPr bwMode="auto">
          <a:xfrm>
            <a:off x="539750" y="267970"/>
            <a:ext cx="8604250" cy="434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sz="3200" b="1" dirty="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3</a:t>
            </a:r>
            <a:r>
              <a:rPr lang="zh-CN" altLang="en-US" sz="3200" b="1" dirty="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、</a:t>
            </a:r>
            <a:r>
              <a:rPr lang="zh-CN" altLang="en-US" sz="3200" b="1" dirty="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标注样式命令（DIMSTYLE/D）</a:t>
            </a:r>
            <a:endParaRPr lang="zh-CN" altLang="en-US" sz="3200" b="1" dirty="0">
              <a:solidFill>
                <a:schemeClr val="tx2"/>
              </a:solidFill>
              <a:latin typeface="华文新魏" panose="02010800040101010101" pitchFamily="2" charset="-122"/>
              <a:ea typeface="华文新魏" panose="02010800040101010101" pitchFamily="2" charset="-122"/>
              <a:sym typeface="+mn-ea"/>
            </a:endParaRPr>
          </a:p>
          <a:p>
            <a:pPr eaLnBrk="1" hangingPunct="1"/>
            <a:endParaRPr lang="zh-CN" altLang="en-US" sz="3200" b="1" dirty="0">
              <a:solidFill>
                <a:schemeClr val="tx2"/>
              </a:solidFill>
              <a:latin typeface="华文新魏" panose="02010800040101010101" pitchFamily="2" charset="-122"/>
              <a:ea typeface="华文新魏" panose="02010800040101010101" pitchFamily="2" charset="-122"/>
              <a:sym typeface="+mn-ea"/>
            </a:endParaRPr>
          </a:p>
        </p:txBody>
      </p:sp>
      <p:sp>
        <p:nvSpPr>
          <p:cNvPr id="102" name="文本框 101"/>
          <p:cNvSpPr txBox="1"/>
          <p:nvPr/>
        </p:nvSpPr>
        <p:spPr>
          <a:xfrm>
            <a:off x="323850" y="771525"/>
            <a:ext cx="8616950" cy="132207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marL="0" indent="261620"/>
            <a:r>
              <a:rPr sz="1600">
                <a:solidFill>
                  <a:srgbClr val="000000"/>
                </a:solidFill>
                <a:cs typeface="方正宋一简体" charset="0"/>
              </a:rPr>
              <a:t>【调整】选项卡如图7</a:t>
            </a:r>
            <a:r>
              <a:rPr lang="en-US" sz="1600">
                <a:solidFill>
                  <a:srgbClr val="000000"/>
                </a:solidFill>
                <a:cs typeface="方正宋一简体" charset="0"/>
              </a:rPr>
              <a:t>-</a:t>
            </a:r>
            <a:r>
              <a:rPr sz="1600">
                <a:solidFill>
                  <a:srgbClr val="000000"/>
                </a:solidFill>
                <a:cs typeface="方正宋一简体" charset="0"/>
              </a:rPr>
              <a:t>11所示，当尺寸界线的空间有限时，可以设置自动调整文字或箭头的位置。【标注特征比例】中的【使用全局比例】单选项是指尺寸标注中的数字大小、箭头大小、尺寸界线超出尺寸线等所有参数的缩放比例。所以在【线】、【符号和箭头】及【文字】选项卡中的各种参数值的设置都保持默认，不用修改，只用在【使用全局比例】数值框中设置统一的缩放比例。这里要特别注意熟练掌握【标注特征比例】中【使用全局比例】参数的设置。</a:t>
            </a:r>
            <a:endParaRPr sz="1600">
              <a:solidFill>
                <a:srgbClr val="000000"/>
              </a:solidFill>
              <a:cs typeface="方正宋一简体" charset="0"/>
            </a:endParaRPr>
          </a:p>
        </p:txBody>
      </p:sp>
      <p:grpSp>
        <p:nvGrpSpPr>
          <p:cNvPr id="6" name="组合 5"/>
          <p:cNvGrpSpPr/>
          <p:nvPr/>
        </p:nvGrpSpPr>
        <p:grpSpPr>
          <a:xfrm>
            <a:off x="3084830" y="2093595"/>
            <a:ext cx="3093720" cy="3058160"/>
            <a:chOff x="4858" y="3297"/>
            <a:chExt cx="4872" cy="4816"/>
          </a:xfrm>
        </p:grpSpPr>
        <p:pic>
          <p:nvPicPr>
            <p:cNvPr id="2" name="图片 -2147482546"/>
            <p:cNvPicPr>
              <a:picLocks noChangeAspect="1"/>
            </p:cNvPicPr>
            <p:nvPr/>
          </p:nvPicPr>
          <p:blipFill>
            <a:blip r:embed="rId1"/>
            <a:srcRect l="635" t="665" r="668" b="665"/>
            <a:stretch>
              <a:fillRect/>
            </a:stretch>
          </p:blipFill>
          <p:spPr>
            <a:xfrm>
              <a:off x="4858" y="3297"/>
              <a:ext cx="4873" cy="4144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3" name="文本框 2"/>
            <p:cNvSpPr txBox="1"/>
            <p:nvPr/>
          </p:nvSpPr>
          <p:spPr>
            <a:xfrm>
              <a:off x="6834" y="7533"/>
              <a:ext cx="981" cy="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r>
                <a:rPr lang="en-US" altLang="zh-CN"/>
                <a:t>7-11</a:t>
              </a:r>
              <a:endParaRPr lang="en-US" altLang="zh-CN"/>
            </a:p>
          </p:txBody>
        </p:sp>
      </p:grp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>
            <a:spLocks noChangeArrowheads="1"/>
          </p:cNvSpPr>
          <p:nvPr/>
        </p:nvSpPr>
        <p:spPr bwMode="auto">
          <a:xfrm>
            <a:off x="539750" y="267970"/>
            <a:ext cx="8604250" cy="434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sz="3200" b="1" dirty="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3</a:t>
            </a:r>
            <a:r>
              <a:rPr lang="zh-CN" altLang="en-US" sz="3200" b="1" dirty="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、</a:t>
            </a:r>
            <a:r>
              <a:rPr lang="zh-CN" altLang="en-US" sz="3200" b="1" dirty="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标注样式命令（DIMSTYLE/D）</a:t>
            </a:r>
            <a:endParaRPr lang="zh-CN" altLang="en-US" sz="3200" b="1" dirty="0">
              <a:solidFill>
                <a:schemeClr val="tx2"/>
              </a:solidFill>
              <a:latin typeface="华文新魏" panose="02010800040101010101" pitchFamily="2" charset="-122"/>
              <a:ea typeface="华文新魏" panose="02010800040101010101" pitchFamily="2" charset="-122"/>
              <a:sym typeface="+mn-ea"/>
            </a:endParaRPr>
          </a:p>
          <a:p>
            <a:pPr eaLnBrk="1" hangingPunct="1"/>
            <a:endParaRPr lang="zh-CN" altLang="en-US" sz="3200" b="1" dirty="0">
              <a:solidFill>
                <a:schemeClr val="tx2"/>
              </a:solidFill>
              <a:latin typeface="华文新魏" panose="02010800040101010101" pitchFamily="2" charset="-122"/>
              <a:ea typeface="华文新魏" panose="02010800040101010101" pitchFamily="2" charset="-122"/>
              <a:sym typeface="+mn-ea"/>
            </a:endParaRPr>
          </a:p>
        </p:txBody>
      </p:sp>
      <p:sp>
        <p:nvSpPr>
          <p:cNvPr id="102" name="文本框 101"/>
          <p:cNvSpPr txBox="1"/>
          <p:nvPr/>
        </p:nvSpPr>
        <p:spPr>
          <a:xfrm>
            <a:off x="323850" y="771525"/>
            <a:ext cx="8616950" cy="82994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marL="0" indent="261620"/>
            <a:r>
              <a:rPr sz="1600">
                <a:solidFill>
                  <a:srgbClr val="000000"/>
                </a:solidFill>
                <a:cs typeface="方正宋一简体" charset="0"/>
              </a:rPr>
              <a:t>【主单位】选项卡如图7</a:t>
            </a:r>
            <a:r>
              <a:rPr lang="en-US" sz="1600">
                <a:solidFill>
                  <a:srgbClr val="000000"/>
                </a:solidFill>
                <a:cs typeface="方正宋一简体" charset="0"/>
              </a:rPr>
              <a:t>-</a:t>
            </a:r>
            <a:r>
              <a:rPr sz="1600">
                <a:solidFill>
                  <a:srgbClr val="000000"/>
                </a:solidFill>
                <a:cs typeface="方正宋一简体" charset="0"/>
              </a:rPr>
              <a:t>12所示，可在【线性标注】中设置【单位格式】、【精度】及【小数分隔符】等参数。【测量单位比例】中的【比例因子】参数是指图中应标注的尺寸与画图时尺寸的比，如将绘图长度为5的直线标注为5000，则比例因子为1000。</a:t>
            </a:r>
            <a:endParaRPr sz="1600">
              <a:solidFill>
                <a:srgbClr val="000000"/>
              </a:solidFill>
              <a:cs typeface="方正宋一简体" charset="0"/>
            </a:endParaRPr>
          </a:p>
        </p:txBody>
      </p:sp>
      <p:grpSp>
        <p:nvGrpSpPr>
          <p:cNvPr id="6" name="组合 5"/>
          <p:cNvGrpSpPr/>
          <p:nvPr/>
        </p:nvGrpSpPr>
        <p:grpSpPr>
          <a:xfrm>
            <a:off x="3084195" y="1601110"/>
            <a:ext cx="3239770" cy="3309167"/>
            <a:chOff x="4857" y="2522"/>
            <a:chExt cx="4686" cy="4594"/>
          </a:xfrm>
        </p:grpSpPr>
        <p:pic>
          <p:nvPicPr>
            <p:cNvPr id="2" name="图片 -2147482382"/>
            <p:cNvPicPr>
              <a:picLocks noChangeAspect="1"/>
            </p:cNvPicPr>
            <p:nvPr/>
          </p:nvPicPr>
          <p:blipFill>
            <a:blip r:embed="rId1"/>
            <a:srcRect l="653" t="655" r="653" b="655"/>
            <a:stretch>
              <a:fillRect/>
            </a:stretch>
          </p:blipFill>
          <p:spPr>
            <a:xfrm>
              <a:off x="4857" y="2522"/>
              <a:ext cx="4686" cy="3999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3" name="文本框 2"/>
            <p:cNvSpPr txBox="1"/>
            <p:nvPr/>
          </p:nvSpPr>
          <p:spPr>
            <a:xfrm>
              <a:off x="6791" y="6604"/>
              <a:ext cx="1008" cy="51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/>
                <a:t>7-12</a:t>
              </a:r>
              <a:endParaRPr lang="en-US" altLang="zh-CN"/>
            </a:p>
          </p:txBody>
        </p:sp>
      </p:grp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>
            <a:spLocks noChangeArrowheads="1"/>
          </p:cNvSpPr>
          <p:nvPr/>
        </p:nvSpPr>
        <p:spPr bwMode="auto">
          <a:xfrm>
            <a:off x="539750" y="267970"/>
            <a:ext cx="8604250" cy="434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sz="3200" b="1" dirty="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4</a:t>
            </a:r>
            <a:r>
              <a:rPr lang="zh-CN" sz="3200" b="1" dirty="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、</a:t>
            </a:r>
            <a:r>
              <a:rPr sz="3200" b="1" dirty="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常用尺寸标注</a:t>
            </a:r>
            <a:endParaRPr sz="3200" b="1" dirty="0">
              <a:solidFill>
                <a:schemeClr val="tx2"/>
              </a:solidFill>
              <a:latin typeface="华文新魏" panose="02010800040101010101" pitchFamily="2" charset="-122"/>
              <a:ea typeface="华文新魏" panose="02010800040101010101" pitchFamily="2" charset="-122"/>
              <a:sym typeface="+mn-ea"/>
            </a:endParaRPr>
          </a:p>
        </p:txBody>
      </p:sp>
      <p:sp>
        <p:nvSpPr>
          <p:cNvPr id="102" name="文本框 101"/>
          <p:cNvSpPr txBox="1"/>
          <p:nvPr/>
        </p:nvSpPr>
        <p:spPr>
          <a:xfrm>
            <a:off x="323850" y="771525"/>
            <a:ext cx="8616950" cy="107632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marL="0" indent="261620"/>
            <a:r>
              <a:rPr sz="1600">
                <a:cs typeface="方正宋一简体" charset="0"/>
              </a:rPr>
              <a:t>常用的尺寸标注有线性标注（DLI）、对齐标注（DAL）、角度标注（DAN）、半径标注（DRA）、直径标注（DDI），以及基线标注（DBA）和连续标注（DCO）等。可以从【标注】工具栏（如图7</a:t>
            </a:r>
            <a:r>
              <a:rPr lang="en-US" sz="1600">
                <a:cs typeface="方正宋一简体" charset="0"/>
              </a:rPr>
              <a:t>-</a:t>
            </a:r>
            <a:r>
              <a:rPr sz="1600">
                <a:cs typeface="方正宋一简体" charset="0"/>
              </a:rPr>
              <a:t>13所示）或【注释】→【线性】/【引线】工具栏（如图7</a:t>
            </a:r>
            <a:r>
              <a:rPr lang="en-US" sz="1600">
                <a:cs typeface="方正宋一简体" charset="0"/>
              </a:rPr>
              <a:t>-</a:t>
            </a:r>
            <a:r>
              <a:rPr sz="1600">
                <a:cs typeface="方正宋一简体" charset="0"/>
              </a:rPr>
              <a:t>14所示），又或者输入各自的快捷键激活各种尺寸标注命令。</a:t>
            </a:r>
            <a:endParaRPr sz="1600">
              <a:cs typeface="方正宋一简体" charset="0"/>
            </a:endParaRPr>
          </a:p>
        </p:txBody>
      </p:sp>
      <p:grpSp>
        <p:nvGrpSpPr>
          <p:cNvPr id="6" name="组合 5"/>
          <p:cNvGrpSpPr/>
          <p:nvPr/>
        </p:nvGrpSpPr>
        <p:grpSpPr>
          <a:xfrm>
            <a:off x="2386330" y="1916430"/>
            <a:ext cx="4371340" cy="595630"/>
            <a:chOff x="3758" y="3018"/>
            <a:chExt cx="6884" cy="938"/>
          </a:xfrm>
        </p:grpSpPr>
        <p:pic>
          <p:nvPicPr>
            <p:cNvPr id="2" name="图片 -2147482379"/>
            <p:cNvPicPr/>
            <p:nvPr/>
          </p:nvPicPr>
          <p:blipFill>
            <a:blip r:embed="rId1"/>
            <a:stretch>
              <a:fillRect/>
            </a:stretch>
          </p:blipFill>
          <p:spPr>
            <a:xfrm>
              <a:off x="3758" y="3018"/>
              <a:ext cx="6884" cy="252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5" name="文本框 4"/>
            <p:cNvSpPr txBox="1"/>
            <p:nvPr/>
          </p:nvSpPr>
          <p:spPr>
            <a:xfrm>
              <a:off x="6821" y="3376"/>
              <a:ext cx="1008" cy="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r>
                <a:rPr lang="en-US" altLang="zh-CN"/>
                <a:t>7-13</a:t>
              </a:r>
              <a:endParaRPr lang="en-US" altLang="zh-CN"/>
            </a:p>
          </p:txBody>
        </p:sp>
      </p:grpSp>
      <p:grpSp>
        <p:nvGrpSpPr>
          <p:cNvPr id="12" name="组合 11"/>
          <p:cNvGrpSpPr/>
          <p:nvPr/>
        </p:nvGrpSpPr>
        <p:grpSpPr>
          <a:xfrm>
            <a:off x="4067810" y="2644140"/>
            <a:ext cx="1457960" cy="2240280"/>
            <a:chOff x="6406" y="4164"/>
            <a:chExt cx="2296" cy="3528"/>
          </a:xfrm>
        </p:grpSpPr>
        <p:pic>
          <p:nvPicPr>
            <p:cNvPr id="3" name="图片 -2147482378"/>
            <p:cNvPicPr>
              <a:picLocks noChangeAspect="1"/>
            </p:cNvPicPr>
            <p:nvPr/>
          </p:nvPicPr>
          <p:blipFill>
            <a:blip r:embed="rId2"/>
            <a:srcRect t="414"/>
            <a:stretch>
              <a:fillRect/>
            </a:stretch>
          </p:blipFill>
          <p:spPr>
            <a:xfrm>
              <a:off x="6406" y="4164"/>
              <a:ext cx="919" cy="271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" name="图片 -2147482377"/>
            <p:cNvPicPr>
              <a:picLocks noChangeAspect="1"/>
            </p:cNvPicPr>
            <p:nvPr/>
          </p:nvPicPr>
          <p:blipFill>
            <a:blip r:embed="rId3"/>
            <a:srcRect b="-30383"/>
            <a:stretch>
              <a:fillRect/>
            </a:stretch>
          </p:blipFill>
          <p:spPr>
            <a:xfrm>
              <a:off x="7540" y="4277"/>
              <a:ext cx="1162" cy="2727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8" name="文本框 7"/>
            <p:cNvSpPr txBox="1"/>
            <p:nvPr/>
          </p:nvSpPr>
          <p:spPr>
            <a:xfrm>
              <a:off x="7087" y="7112"/>
              <a:ext cx="1008" cy="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r>
                <a:rPr lang="en-US" altLang="zh-CN"/>
                <a:t>7-14</a:t>
              </a:r>
              <a:endParaRPr lang="en-US" altLang="zh-CN"/>
            </a:p>
          </p:txBody>
        </p:sp>
      </p:grp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>
            <a:spLocks noChangeArrowheads="1"/>
          </p:cNvSpPr>
          <p:nvPr/>
        </p:nvSpPr>
        <p:spPr bwMode="auto">
          <a:xfrm>
            <a:off x="539750" y="267970"/>
            <a:ext cx="8604250" cy="434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sz="3200" b="1" dirty="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5</a:t>
            </a:r>
            <a:r>
              <a:rPr lang="zh-CN" sz="3200" b="1" dirty="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、</a:t>
            </a:r>
            <a:r>
              <a:rPr sz="3200" b="1" dirty="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机房墙体的绘制</a:t>
            </a:r>
            <a:endParaRPr sz="3200" b="1" dirty="0">
              <a:solidFill>
                <a:schemeClr val="tx2"/>
              </a:solidFill>
              <a:latin typeface="华文新魏" panose="02010800040101010101" pitchFamily="2" charset="-122"/>
              <a:ea typeface="华文新魏" panose="02010800040101010101" pitchFamily="2" charset="-122"/>
              <a:sym typeface="+mn-ea"/>
            </a:endParaRPr>
          </a:p>
        </p:txBody>
      </p:sp>
      <p:sp>
        <p:nvSpPr>
          <p:cNvPr id="102" name="文本框 101"/>
          <p:cNvSpPr txBox="1"/>
          <p:nvPr/>
        </p:nvSpPr>
        <p:spPr>
          <a:xfrm>
            <a:off x="323850" y="771525"/>
            <a:ext cx="8616950" cy="181483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marL="0" indent="261620"/>
            <a:r>
              <a:rPr sz="1400" b="0">
                <a:solidFill>
                  <a:srgbClr val="000000"/>
                </a:solidFill>
                <a:cs typeface="方正宋一简体" charset="0"/>
              </a:rPr>
              <a:t>一般用两条平行线来表示墙体，有两种快速画法，一种是采用多段线+偏移的画法，另一种是采用多线画法。</a:t>
            </a:r>
            <a:endParaRPr sz="1400" b="0">
              <a:solidFill>
                <a:srgbClr val="000000"/>
              </a:solidFill>
              <a:cs typeface="方正宋一简体" charset="0"/>
            </a:endParaRPr>
          </a:p>
          <a:p>
            <a:pPr marL="0" indent="261620"/>
            <a:r>
              <a:rPr sz="1400" b="0">
                <a:solidFill>
                  <a:srgbClr val="000000"/>
                </a:solidFill>
                <a:cs typeface="方正宋一简体" charset="0"/>
              </a:rPr>
              <a:t>1．多段线+偏移的画法</a:t>
            </a:r>
            <a:endParaRPr sz="1400" b="0">
              <a:solidFill>
                <a:srgbClr val="000000"/>
              </a:solidFill>
              <a:cs typeface="方正宋一简体" charset="0"/>
            </a:endParaRPr>
          </a:p>
          <a:p>
            <a:pPr marL="0" indent="261620"/>
            <a:r>
              <a:rPr sz="1400" b="0">
                <a:solidFill>
                  <a:srgbClr val="000000"/>
                </a:solidFill>
                <a:cs typeface="方正宋一简体" charset="0"/>
              </a:rPr>
              <a:t>先用多段线绘制内墙墙体，然后向外偏移240mm绘制外墙。</a:t>
            </a:r>
            <a:endParaRPr sz="1400" b="0">
              <a:solidFill>
                <a:srgbClr val="000000"/>
              </a:solidFill>
              <a:cs typeface="方正宋一简体" charset="0"/>
            </a:endParaRPr>
          </a:p>
          <a:p>
            <a:pPr marL="0" indent="261620"/>
            <a:r>
              <a:rPr sz="1400" b="0">
                <a:solidFill>
                  <a:srgbClr val="000000"/>
                </a:solidFill>
                <a:cs typeface="方正宋一简体" charset="0"/>
              </a:rPr>
              <a:t>2．多线画法</a:t>
            </a:r>
            <a:endParaRPr sz="1400" b="0">
              <a:solidFill>
                <a:srgbClr val="000000"/>
              </a:solidFill>
              <a:cs typeface="方正宋一简体" charset="0"/>
            </a:endParaRPr>
          </a:p>
          <a:p>
            <a:pPr marL="0" indent="261620"/>
            <a:r>
              <a:rPr sz="1400" b="0">
                <a:solidFill>
                  <a:srgbClr val="000000"/>
                </a:solidFill>
                <a:cs typeface="方正宋一简体" charset="0"/>
              </a:rPr>
              <a:t>采用默认多线样式，直接设置多线的比例为240，对正方式为下对正，按尺寸绘制墙体。</a:t>
            </a:r>
            <a:endParaRPr sz="1400" b="0">
              <a:solidFill>
                <a:srgbClr val="000000"/>
              </a:solidFill>
              <a:cs typeface="方正宋一简体" charset="0"/>
            </a:endParaRPr>
          </a:p>
          <a:p>
            <a:pPr marL="0" indent="261620"/>
            <a:r>
              <a:rPr sz="1400" b="0">
                <a:solidFill>
                  <a:srgbClr val="000000"/>
                </a:solidFill>
                <a:cs typeface="方正宋一简体" charset="0"/>
              </a:rPr>
              <a:t>砖混材质的机房墙体厚度一般为240mm；彩钢板材质的机房墙体厚度一般为100mm。本项目机房是砖混材质的，所以墙体的两条平行线间距为240mm，如图7</a:t>
            </a:r>
            <a:r>
              <a:rPr lang="en-US" sz="1400" b="0">
                <a:solidFill>
                  <a:srgbClr val="000000"/>
                </a:solidFill>
                <a:cs typeface="方正宋一简体" charset="0"/>
              </a:rPr>
              <a:t>-</a:t>
            </a:r>
            <a:r>
              <a:rPr sz="1400" b="0">
                <a:solidFill>
                  <a:srgbClr val="000000"/>
                </a:solidFill>
                <a:cs typeface="方正宋一简体" charset="0"/>
              </a:rPr>
              <a:t>17所示。</a:t>
            </a:r>
            <a:endParaRPr sz="1400" b="0">
              <a:solidFill>
                <a:srgbClr val="000000"/>
              </a:solidFill>
              <a:cs typeface="方正宋一简体" charset="0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3347720" y="2571750"/>
            <a:ext cx="2192020" cy="2588895"/>
            <a:chOff x="5272" y="4050"/>
            <a:chExt cx="3452" cy="4077"/>
          </a:xfrm>
        </p:grpSpPr>
        <p:pic>
          <p:nvPicPr>
            <p:cNvPr id="2" name="图片 -2147481818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5272" y="4050"/>
              <a:ext cx="3452" cy="3518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3" name="文本框 2"/>
            <p:cNvSpPr txBox="1"/>
            <p:nvPr/>
          </p:nvSpPr>
          <p:spPr>
            <a:xfrm>
              <a:off x="6501" y="7547"/>
              <a:ext cx="1008" cy="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r>
                <a:rPr lang="en-US" altLang="zh-CN"/>
                <a:t>7-17</a:t>
              </a:r>
              <a:endParaRPr lang="en-US" altLang="zh-CN"/>
            </a:p>
          </p:txBody>
        </p:sp>
      </p:grp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>
            <a:spLocks noChangeArrowheads="1"/>
          </p:cNvSpPr>
          <p:nvPr/>
        </p:nvSpPr>
        <p:spPr bwMode="auto">
          <a:xfrm>
            <a:off x="539750" y="267970"/>
            <a:ext cx="8604250" cy="434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sz="3200" b="1" dirty="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6</a:t>
            </a:r>
            <a:r>
              <a:rPr lang="zh-CN" sz="3200" b="1" dirty="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、</a:t>
            </a:r>
            <a:r>
              <a:rPr sz="3200" b="1" dirty="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机房设备平面图的绘制</a:t>
            </a:r>
            <a:endParaRPr sz="3200" b="1" dirty="0">
              <a:solidFill>
                <a:schemeClr val="tx2"/>
              </a:solidFill>
              <a:latin typeface="华文新魏" panose="02010800040101010101" pitchFamily="2" charset="-122"/>
              <a:ea typeface="华文新魏" panose="02010800040101010101" pitchFamily="2" charset="-122"/>
              <a:sym typeface="+mn-ea"/>
            </a:endParaRPr>
          </a:p>
        </p:txBody>
      </p:sp>
      <p:sp>
        <p:nvSpPr>
          <p:cNvPr id="102" name="文本框 101"/>
          <p:cNvSpPr txBox="1"/>
          <p:nvPr/>
        </p:nvSpPr>
        <p:spPr>
          <a:xfrm>
            <a:off x="498475" y="915670"/>
            <a:ext cx="8035925" cy="33718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marL="0" indent="261620"/>
            <a:r>
              <a:rPr sz="1600" b="0">
                <a:solidFill>
                  <a:srgbClr val="000000"/>
                </a:solidFill>
                <a:cs typeface="方正宋一简体" charset="0"/>
              </a:rPr>
              <a:t>机房墙体绘制好后，需要绘制机房里设备的尺寸及位置</a:t>
            </a:r>
            <a:endParaRPr sz="1600" b="0">
              <a:solidFill>
                <a:srgbClr val="000000"/>
              </a:solidFill>
              <a:cs typeface="方正宋一简体" charset="0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>
            <a:spLocks noChangeArrowheads="1"/>
          </p:cNvSpPr>
          <p:nvPr/>
        </p:nvSpPr>
        <p:spPr bwMode="auto">
          <a:xfrm>
            <a:off x="539750" y="267970"/>
            <a:ext cx="8604250" cy="434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sz="3200" b="1" dirty="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7</a:t>
            </a:r>
            <a:r>
              <a:rPr lang="zh-CN" sz="3200" b="1" dirty="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、</a:t>
            </a:r>
            <a:r>
              <a:rPr sz="3200" b="1" dirty="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机房尺寸及设备位置标注</a:t>
            </a:r>
            <a:endParaRPr sz="3200" b="1" dirty="0">
              <a:solidFill>
                <a:schemeClr val="tx2"/>
              </a:solidFill>
              <a:latin typeface="华文新魏" panose="02010800040101010101" pitchFamily="2" charset="-122"/>
              <a:ea typeface="华文新魏" panose="02010800040101010101" pitchFamily="2" charset="-122"/>
              <a:sym typeface="+mn-ea"/>
            </a:endParaRPr>
          </a:p>
        </p:txBody>
      </p:sp>
      <p:sp>
        <p:nvSpPr>
          <p:cNvPr id="102" name="文本框 101"/>
          <p:cNvSpPr txBox="1"/>
          <p:nvPr/>
        </p:nvSpPr>
        <p:spPr>
          <a:xfrm>
            <a:off x="467360" y="771525"/>
            <a:ext cx="8035925" cy="58356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marL="0" indent="261620"/>
            <a:r>
              <a:rPr sz="1600" b="0">
                <a:solidFill>
                  <a:srgbClr val="000000"/>
                </a:solidFill>
                <a:cs typeface="方正宋一简体" charset="0"/>
              </a:rPr>
              <a:t>最后需要对机房的尺寸、设备的尺寸、设备的位置，以及需要说明的部分进行标注，如图7-18所示</a:t>
            </a:r>
            <a:r>
              <a:rPr lang="zh-CN" sz="1600" b="0">
                <a:solidFill>
                  <a:srgbClr val="000000"/>
                </a:solidFill>
                <a:cs typeface="方正宋一简体" charset="0"/>
              </a:rPr>
              <a:t>。</a:t>
            </a:r>
            <a:endParaRPr lang="zh-CN" sz="1600" b="0">
              <a:solidFill>
                <a:srgbClr val="000000"/>
              </a:solidFill>
              <a:cs typeface="方正宋一简体" charset="0"/>
            </a:endParaRPr>
          </a:p>
        </p:txBody>
      </p:sp>
      <p:pic>
        <p:nvPicPr>
          <p:cNvPr id="2" name="图片 -2147482440" descr="7-1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47495" y="1355090"/>
            <a:ext cx="4180205" cy="370268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2" name="文本框 11"/>
          <p:cNvSpPr txBox="1"/>
          <p:nvPr/>
        </p:nvSpPr>
        <p:spPr>
          <a:xfrm>
            <a:off x="5727700" y="3147695"/>
            <a:ext cx="6400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/>
              <a:t>7-18</a:t>
            </a:r>
            <a:endParaRPr lang="en-US" altLang="zh-CN"/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KSO_WM_UNIT_PLACING_PICTURE_USER_VIEWPORT" val="{&quot;height&quot;:1332,&quot;width&quot;:6359}"/>
</p:tagLst>
</file>

<file path=ppt/tags/tag2.xml><?xml version="1.0" encoding="utf-8"?>
<p:tagLst xmlns:p="http://schemas.openxmlformats.org/presentationml/2006/main">
  <p:tag name="COMMONDATA" val="eyJoZGlkIjoiZjQ2OWYxY2Y3NTJjNjQ4ZTBiZGY4NDBmYWM3YjRjNWUifQ=="/>
  <p:tag name="KSO_WPP_MARK_KEY" val="2fcf6cec-e5bb-4072-86ac-ff62f2a53752"/>
  <p:tag name="commondata" val="eyJoZGlkIjoiYmQ3NjQxYmZmN2ZkODIxYWNiNTEzMzQyMTZmNzQ1MmMifQ=="/>
</p:tagLst>
</file>

<file path=ppt/theme/theme1.xml><?xml version="1.0" encoding="utf-8"?>
<a:theme xmlns:a="http://schemas.openxmlformats.org/drawingml/2006/main" name="chrome">
  <a:themeElements>
    <a:clrScheme name="Default Design 1">
      <a:dk1>
        <a:srgbClr val="000000"/>
      </a:dk1>
      <a:lt1>
        <a:srgbClr val="FDF58D"/>
      </a:lt1>
      <a:dk2>
        <a:srgbClr val="CC3300"/>
      </a:dk2>
      <a:lt2>
        <a:srgbClr val="808080"/>
      </a:lt2>
      <a:accent1>
        <a:srgbClr val="FF6161"/>
      </a:accent1>
      <a:accent2>
        <a:srgbClr val="FFC319"/>
      </a:accent2>
      <a:accent3>
        <a:srgbClr val="FEF9C5"/>
      </a:accent3>
      <a:accent4>
        <a:srgbClr val="000000"/>
      </a:accent4>
      <a:accent5>
        <a:srgbClr val="FFB7B7"/>
      </a:accent5>
      <a:accent6>
        <a:srgbClr val="E7B016"/>
      </a:accent6>
      <a:hlink>
        <a:srgbClr val="A8D02A"/>
      </a:hlink>
      <a:folHlink>
        <a:srgbClr val="5CB1FE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DF58D"/>
        </a:lt1>
        <a:dk2>
          <a:srgbClr val="CC3300"/>
        </a:dk2>
        <a:lt2>
          <a:srgbClr val="808080"/>
        </a:lt2>
        <a:accent1>
          <a:srgbClr val="FF6161"/>
        </a:accent1>
        <a:accent2>
          <a:srgbClr val="FFC319"/>
        </a:accent2>
        <a:accent3>
          <a:srgbClr val="FEF9C5"/>
        </a:accent3>
        <a:accent4>
          <a:srgbClr val="000000"/>
        </a:accent4>
        <a:accent5>
          <a:srgbClr val="FFB7B7"/>
        </a:accent5>
        <a:accent6>
          <a:srgbClr val="E7B016"/>
        </a:accent6>
        <a:hlink>
          <a:srgbClr val="A8D02A"/>
        </a:hlink>
        <a:folHlink>
          <a:srgbClr val="5CB1F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E1F4D8"/>
        </a:lt1>
        <a:dk2>
          <a:srgbClr val="003366"/>
        </a:dk2>
        <a:lt2>
          <a:srgbClr val="808080"/>
        </a:lt2>
        <a:accent1>
          <a:srgbClr val="FFC319"/>
        </a:accent1>
        <a:accent2>
          <a:srgbClr val="A8D02A"/>
        </a:accent2>
        <a:accent3>
          <a:srgbClr val="EEF8E9"/>
        </a:accent3>
        <a:accent4>
          <a:srgbClr val="000000"/>
        </a:accent4>
        <a:accent5>
          <a:srgbClr val="FFDEAB"/>
        </a:accent5>
        <a:accent6>
          <a:srgbClr val="98BC25"/>
        </a:accent6>
        <a:hlink>
          <a:srgbClr val="5CB1FE"/>
        </a:hlink>
        <a:folHlink>
          <a:srgbClr val="FF6161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EE9DE"/>
        </a:lt1>
        <a:dk2>
          <a:srgbClr val="000066"/>
        </a:dk2>
        <a:lt2>
          <a:srgbClr val="808080"/>
        </a:lt2>
        <a:accent1>
          <a:srgbClr val="5CB1FE"/>
        </a:accent1>
        <a:accent2>
          <a:srgbClr val="FF7575"/>
        </a:accent2>
        <a:accent3>
          <a:srgbClr val="FEF2EC"/>
        </a:accent3>
        <a:accent4>
          <a:srgbClr val="000000"/>
        </a:accent4>
        <a:accent5>
          <a:srgbClr val="B5D5FE"/>
        </a:accent5>
        <a:accent6>
          <a:srgbClr val="E76969"/>
        </a:accent6>
        <a:hlink>
          <a:srgbClr val="FFC319"/>
        </a:hlink>
        <a:folHlink>
          <a:srgbClr val="A8D02A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292TGp_silent night_light</Template>
  <TotalTime>0</TotalTime>
  <Words>2386</Words>
  <Application>WPS 演示</Application>
  <PresentationFormat>全屏显示(16:9)</PresentationFormat>
  <Paragraphs>158</Paragraphs>
  <Slides>16</Slides>
  <Notes>5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29" baseType="lpstr">
      <vt:lpstr>Arial</vt:lpstr>
      <vt:lpstr>宋体</vt:lpstr>
      <vt:lpstr>Wingdings</vt:lpstr>
      <vt:lpstr>Arial Black</vt:lpstr>
      <vt:lpstr>Times New Roman</vt:lpstr>
      <vt:lpstr>华文楷体</vt:lpstr>
      <vt:lpstr>微软雅黑</vt:lpstr>
      <vt:lpstr>华文新魏</vt:lpstr>
      <vt:lpstr>楷体</vt:lpstr>
      <vt:lpstr>方正宋一简体</vt:lpstr>
      <vt:lpstr>Arial Unicode MS</vt:lpstr>
      <vt:lpstr>Calibri</vt:lpstr>
      <vt:lpstr>chrome</vt:lpstr>
      <vt:lpstr>PowerPoint 演示文稿</vt:lpstr>
      <vt:lpstr>机房平面图的绘制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chances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ThemeGallery  Power Template</dc:title>
  <dc:creator>j</dc:creator>
  <cp:lastModifiedBy>批注</cp:lastModifiedBy>
  <cp:revision>109</cp:revision>
  <dcterms:created xsi:type="dcterms:W3CDTF">2007-07-24T14:55:00Z</dcterms:created>
  <dcterms:modified xsi:type="dcterms:W3CDTF">2024-09-24T08:02:21Z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BD96FD7085BE4F9DBAAE181F1282FE07</vt:lpwstr>
  </property>
  <property fmtid="{D5CDD505-2E9C-101B-9397-08002B2CF9AE}" pid="3" name="KSOProductBuildVer">
    <vt:lpwstr>2052-12.1.0.16729</vt:lpwstr>
  </property>
</Properties>
</file>