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5" r:id="rId3"/>
    <p:sldId id="714" r:id="rId5"/>
    <p:sldId id="681" r:id="rId6"/>
    <p:sldId id="729" r:id="rId7"/>
    <p:sldId id="713" r:id="rId8"/>
    <p:sldId id="730" r:id="rId9"/>
    <p:sldId id="715" r:id="rId10"/>
    <p:sldId id="716" r:id="rId11"/>
    <p:sldId id="717" r:id="rId12"/>
    <p:sldId id="718" r:id="rId13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6133" autoAdjust="0"/>
  </p:normalViewPr>
  <p:slideViewPr>
    <p:cSldViewPr showGuides="1">
      <p:cViewPr varScale="1">
        <p:scale>
          <a:sx n="86" d="100"/>
          <a:sy n="86" d="100"/>
        </p:scale>
        <p:origin x="-504" y="-372"/>
      </p:cViewPr>
      <p:guideLst>
        <p:guide orient="horz" pos="1620"/>
        <p:guide pos="340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理解和掌握通信工程制图的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总体要求和统一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掌握通信工程制图中的常用</a:t>
            </a:r>
            <a:r>
              <a:rPr kumimoji="1"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图例</a:t>
            </a:r>
            <a:r>
              <a:rPr kumimoji="1"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及含义。</a:t>
            </a:r>
            <a:endParaRPr kumimoji="1" lang="zh-CN" altLang="en-US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smtClean="0">
                <a:latin typeface="Arial Black" panose="020B0A04020102020204" pitchFamily="34" charset="0"/>
              </a:rPr>
              <a:t>L/O/G/O</a:t>
            </a:r>
            <a:endParaRPr lang="en-US" altLang="zh-CN" sz="2200" smtClean="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 </a:t>
            </a:r>
            <a:r>
              <a:rPr lang="en-US" altLang="zh-CN" noProof="0" smtClean="0"/>
              <a:t>SmartArt </a:t>
            </a:r>
            <a:r>
              <a:rPr lang="zh-CN" altLang="en-US" noProof="0" smtClean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图衔的绘制</a:t>
            </a:r>
            <a:endParaRPr lang="zh-CN" altLang="en-US" sz="3200" dirty="0" smtClean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123758" y="1275715"/>
            <a:ext cx="4813935" cy="3075068"/>
            <a:chOff x="4929" y="1793"/>
            <a:chExt cx="7581" cy="4843"/>
          </a:xfrm>
        </p:grpSpPr>
        <p:grpSp>
          <p:nvGrpSpPr>
            <p:cNvPr id="18435" name="Group 3"/>
            <p:cNvGrpSpPr/>
            <p:nvPr/>
          </p:nvGrpSpPr>
          <p:grpSpPr bwMode="auto">
            <a:xfrm>
              <a:off x="4965" y="4979"/>
              <a:ext cx="7545" cy="846"/>
              <a:chOff x="1152" y="1272"/>
              <a:chExt cx="3408" cy="451"/>
            </a:xfrm>
          </p:grpSpPr>
          <p:grpSp>
            <p:nvGrpSpPr>
              <p:cNvPr id="18462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18466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7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87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6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1648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图衔线条的绘制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65" name="Text Box 10"/>
              <p:cNvSpPr txBox="1">
                <a:spLocks noChangeArrowheads="1"/>
              </p:cNvSpPr>
              <p:nvPr/>
            </p:nvSpPr>
            <p:spPr bwMode="gray">
              <a:xfrm>
                <a:off x="1260" y="1337"/>
                <a:ext cx="254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6" name="Group 11"/>
            <p:cNvGrpSpPr/>
            <p:nvPr/>
          </p:nvGrpSpPr>
          <p:grpSpPr bwMode="auto">
            <a:xfrm>
              <a:off x="4932" y="2552"/>
              <a:ext cx="7545" cy="875"/>
              <a:chOff x="1152" y="1834"/>
              <a:chExt cx="3408" cy="466"/>
            </a:xfrm>
          </p:grpSpPr>
          <p:grpSp>
            <p:nvGrpSpPr>
              <p:cNvPr id="18455" name="Group 12"/>
              <p:cNvGrpSpPr/>
              <p:nvPr/>
            </p:nvGrpSpPr>
            <p:grpSpPr bwMode="auto">
              <a:xfrm>
                <a:off x="1152" y="1851"/>
                <a:ext cx="480" cy="419"/>
                <a:chOff x="3174" y="2656"/>
                <a:chExt cx="1549" cy="1351"/>
              </a:xfrm>
            </p:grpSpPr>
            <p:sp>
              <p:nvSpPr>
                <p:cNvPr id="18459" name="AutoShape 13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60" name="AutoShape 14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095" name="AutoShape 15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56" name="Line 16"/>
              <p:cNvSpPr>
                <a:spLocks noChangeShapeType="1"/>
              </p:cNvSpPr>
              <p:nvPr/>
            </p:nvSpPr>
            <p:spPr bwMode="auto">
              <a:xfrm>
                <a:off x="1536" y="2235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7" name="Text Box 17"/>
              <p:cNvSpPr txBox="1">
                <a:spLocks noChangeArrowheads="1"/>
              </p:cNvSpPr>
              <p:nvPr/>
            </p:nvSpPr>
            <p:spPr bwMode="auto">
              <a:xfrm>
                <a:off x="1793" y="1834"/>
                <a:ext cx="143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文字样式命令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58" name="Text Box 18"/>
              <p:cNvSpPr txBox="1">
                <a:spLocks noChangeArrowheads="1"/>
              </p:cNvSpPr>
              <p:nvPr/>
            </p:nvSpPr>
            <p:spPr bwMode="gray">
              <a:xfrm>
                <a:off x="1259" y="1913"/>
                <a:ext cx="256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7" name="Group 19"/>
            <p:cNvGrpSpPr/>
            <p:nvPr/>
          </p:nvGrpSpPr>
          <p:grpSpPr bwMode="auto">
            <a:xfrm>
              <a:off x="4957" y="3378"/>
              <a:ext cx="7545" cy="850"/>
              <a:chOff x="1152" y="2409"/>
              <a:chExt cx="3408" cy="454"/>
            </a:xfrm>
          </p:grpSpPr>
          <p:grpSp>
            <p:nvGrpSpPr>
              <p:cNvPr id="18448" name="Group 20"/>
              <p:cNvGrpSpPr/>
              <p:nvPr/>
            </p:nvGrpSpPr>
            <p:grpSpPr bwMode="auto">
              <a:xfrm>
                <a:off x="1152" y="2413"/>
                <a:ext cx="480" cy="419"/>
                <a:chOff x="1110" y="2656"/>
                <a:chExt cx="1549" cy="1351"/>
              </a:xfrm>
            </p:grpSpPr>
            <p:sp>
              <p:nvSpPr>
                <p:cNvPr id="18452" name="AutoShape 21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53" name="AutoShape 22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03" name="AutoShape 23"/>
                <p:cNvSpPr>
                  <a:spLocks noChangeArrowheads="1"/>
                </p:cNvSpPr>
                <p:nvPr/>
              </p:nvSpPr>
              <p:spPr bwMode="gray">
                <a:xfrm>
                  <a:off x="1201" y="2738"/>
                  <a:ext cx="1348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9" name="Line 24"/>
              <p:cNvSpPr>
                <a:spLocks noChangeShapeType="1"/>
              </p:cNvSpPr>
              <p:nvPr/>
            </p:nvSpPr>
            <p:spPr bwMode="auto">
              <a:xfrm>
                <a:off x="1536" y="2797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0" name="Text Box 25"/>
              <p:cNvSpPr txBox="1">
                <a:spLocks noChangeArrowheads="1"/>
              </p:cNvSpPr>
              <p:nvPr/>
            </p:nvSpPr>
            <p:spPr bwMode="auto">
              <a:xfrm>
                <a:off x="1818" y="2409"/>
                <a:ext cx="143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单行文字命令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8451" name="Text Box 26"/>
              <p:cNvSpPr txBox="1">
                <a:spLocks noChangeArrowheads="1"/>
              </p:cNvSpPr>
              <p:nvPr/>
            </p:nvSpPr>
            <p:spPr bwMode="gray">
              <a:xfrm>
                <a:off x="1259" y="2475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38" name="Group 27"/>
            <p:cNvGrpSpPr/>
            <p:nvPr/>
          </p:nvGrpSpPr>
          <p:grpSpPr bwMode="auto">
            <a:xfrm>
              <a:off x="4965" y="5770"/>
              <a:ext cx="7545" cy="866"/>
              <a:chOff x="1152" y="2976"/>
              <a:chExt cx="3408" cy="462"/>
            </a:xfrm>
          </p:grpSpPr>
          <p:grpSp>
            <p:nvGrpSpPr>
              <p:cNvPr id="1844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8445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8446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6111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8442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43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1648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图衔内容的输入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4" name="Text Box 34"/>
              <p:cNvSpPr txBox="1">
                <a:spLocks noChangeArrowheads="1"/>
              </p:cNvSpPr>
              <p:nvPr/>
            </p:nvSpPr>
            <p:spPr bwMode="gray">
              <a:xfrm>
                <a:off x="1260" y="3051"/>
                <a:ext cx="254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0" name="Group 27"/>
            <p:cNvGrpSpPr/>
            <p:nvPr/>
          </p:nvGrpSpPr>
          <p:grpSpPr bwMode="auto">
            <a:xfrm>
              <a:off x="4943" y="4183"/>
              <a:ext cx="7545" cy="868"/>
              <a:chOff x="1152" y="2976"/>
              <a:chExt cx="3408" cy="463"/>
            </a:xfrm>
          </p:grpSpPr>
          <p:grpSp>
            <p:nvGrpSpPr>
              <p:cNvPr id="11" name="Group 28"/>
              <p:cNvGrpSpPr/>
              <p:nvPr/>
            </p:nvGrpSpPr>
            <p:grpSpPr bwMode="auto">
              <a:xfrm>
                <a:off x="1152" y="2989"/>
                <a:ext cx="480" cy="419"/>
                <a:chOff x="3174" y="2656"/>
                <a:chExt cx="1549" cy="1351"/>
              </a:xfrm>
            </p:grpSpPr>
            <p:sp>
              <p:nvSpPr>
                <p:cNvPr id="12" name="AutoShape 29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3" name="AutoShape 30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4" name="AutoShape 31"/>
                <p:cNvSpPr>
                  <a:spLocks noChangeArrowheads="1"/>
                </p:cNvSpPr>
                <p:nvPr/>
              </p:nvSpPr>
              <p:spPr bwMode="gray">
                <a:xfrm>
                  <a:off x="3265" y="2739"/>
                  <a:ext cx="1348" cy="1166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15" name="Line 32"/>
              <p:cNvSpPr>
                <a:spLocks noChangeShapeType="1"/>
              </p:cNvSpPr>
              <p:nvPr/>
            </p:nvSpPr>
            <p:spPr bwMode="auto">
              <a:xfrm>
                <a:off x="1536" y="3373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Text Box 33"/>
              <p:cNvSpPr txBox="1">
                <a:spLocks noChangeArrowheads="1"/>
              </p:cNvSpPr>
              <p:nvPr/>
            </p:nvSpPr>
            <p:spPr bwMode="auto">
              <a:xfrm>
                <a:off x="1818" y="2976"/>
                <a:ext cx="1431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多行文字命令</a:t>
                </a:r>
                <a:endParaRPr lang="zh-CN" altLang="en-US" sz="24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17" name="Text Box 34"/>
              <p:cNvSpPr txBox="1">
                <a:spLocks noChangeArrowheads="1"/>
              </p:cNvSpPr>
              <p:nvPr/>
            </p:nvSpPr>
            <p:spPr bwMode="gray">
              <a:xfrm>
                <a:off x="1259" y="3051"/>
                <a:ext cx="256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" name="Group 3"/>
            <p:cNvGrpSpPr/>
            <p:nvPr/>
          </p:nvGrpSpPr>
          <p:grpSpPr bwMode="auto">
            <a:xfrm>
              <a:off x="4929" y="1793"/>
              <a:ext cx="7545" cy="850"/>
              <a:chOff x="1152" y="1272"/>
              <a:chExt cx="3408" cy="453"/>
            </a:xfrm>
          </p:grpSpPr>
          <p:grpSp>
            <p:nvGrpSpPr>
              <p:cNvPr id="19" name="Group 4"/>
              <p:cNvGrpSpPr/>
              <p:nvPr/>
            </p:nvGrpSpPr>
            <p:grpSpPr bwMode="auto">
              <a:xfrm>
                <a:off x="1152" y="1275"/>
                <a:ext cx="480" cy="419"/>
                <a:chOff x="1110" y="2656"/>
                <a:chExt cx="1549" cy="1351"/>
              </a:xfrm>
            </p:grpSpPr>
            <p:sp>
              <p:nvSpPr>
                <p:cNvPr id="20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1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2" name="AutoShape 7"/>
                <p:cNvSpPr>
                  <a:spLocks noChangeArrowheads="1"/>
                </p:cNvSpPr>
                <p:nvPr/>
              </p:nvSpPr>
              <p:spPr bwMode="gray">
                <a:xfrm>
                  <a:off x="1201" y="2737"/>
                  <a:ext cx="1348" cy="1169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23" name="Line 8"/>
              <p:cNvSpPr>
                <a:spLocks noChangeShapeType="1"/>
              </p:cNvSpPr>
              <p:nvPr/>
            </p:nvSpPr>
            <p:spPr bwMode="auto">
              <a:xfrm>
                <a:off x="1536" y="1659"/>
                <a:ext cx="3024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sysDot"/>
                <a:rou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1818" y="1272"/>
                <a:ext cx="255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+mn-ea"/>
                  </a:rPr>
                  <a:t>点命令</a:t>
                </a:r>
                <a:endPara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endParaRPr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gray">
              <a:xfrm>
                <a:off x="1275" y="1337"/>
                <a:ext cx="22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、点命令（POINT/PO）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771525"/>
            <a:ext cx="8421370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/>
              <a:t>1．点样式命令（DDPTYPE）</a:t>
            </a:r>
            <a:endParaRPr lang="zh-CN" altLang="en-US" sz="1600"/>
          </a:p>
          <a:p>
            <a:r>
              <a:rPr lang="zh-CN" altLang="en-US" sz="1400"/>
              <a:t>【点】命令用来绘制点对象。点可以作为对象捕捉的节点，可以相对于屏幕或使用绝对单位设置点的样式和大小。选择【格式】→【点样式】命令，打开【点样式】对话框，其中主要设置点的样式及显示的大小，如图5</a:t>
            </a:r>
            <a:r>
              <a:rPr lang="en-US" altLang="zh-CN" sz="1400"/>
              <a:t>-</a:t>
            </a:r>
            <a:r>
              <a:rPr lang="zh-CN" altLang="en-US" sz="1400"/>
              <a:t>1所示。</a:t>
            </a:r>
            <a:endParaRPr lang="zh-CN" altLang="en-US" sz="1400"/>
          </a:p>
        </p:txBody>
      </p:sp>
      <p:grpSp>
        <p:nvGrpSpPr>
          <p:cNvPr id="9" name="组合 8"/>
          <p:cNvGrpSpPr/>
          <p:nvPr/>
        </p:nvGrpSpPr>
        <p:grpSpPr>
          <a:xfrm>
            <a:off x="3832860" y="1635760"/>
            <a:ext cx="2018030" cy="3176905"/>
            <a:chOff x="6036" y="2576"/>
            <a:chExt cx="3178" cy="5003"/>
          </a:xfrm>
        </p:grpSpPr>
        <p:pic>
          <p:nvPicPr>
            <p:cNvPr id="2" name="图片 -21474824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36" y="2576"/>
              <a:ext cx="3179" cy="42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7221" y="6999"/>
              <a:ext cx="8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5-1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、点命令（POINT/PO）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771525"/>
            <a:ext cx="842137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/>
              <a:t>2．点命令（POINT/PO）</a:t>
            </a:r>
            <a:endParaRPr lang="zh-CN" altLang="en-US" sz="1600" b="1"/>
          </a:p>
          <a:p>
            <a:r>
              <a:rPr sz="1200"/>
              <a:t>一般用【点】命令来做标记或分割对象，有4种命令，分别如下。</a:t>
            </a:r>
            <a:endParaRPr sz="1200"/>
          </a:p>
          <a:p>
            <a:r>
              <a:rPr sz="1200"/>
              <a:t>◆  单点：绘制单个点。</a:t>
            </a:r>
            <a:endParaRPr sz="1200"/>
          </a:p>
          <a:p>
            <a:r>
              <a:rPr sz="1200"/>
              <a:t>◆  多点：连续绘制多个点，直到按Esc键结束。</a:t>
            </a:r>
            <a:endParaRPr sz="1200"/>
          </a:p>
          <a:p>
            <a:r>
              <a:rPr sz="1200"/>
              <a:t>◆  定数等分（Divide）： 把指定对象平均分成几份。例如对一段直线和圆进行定数等分，如图5</a:t>
            </a:r>
            <a:r>
              <a:rPr lang="en-US" sz="1200"/>
              <a:t>-</a:t>
            </a:r>
            <a:r>
              <a:rPr sz="1200"/>
              <a:t>2所示。注意：实际绘图时，因为输入的是等分数，而不是放置点数，所以如果将所选对象分成N份，则实际只有N-1个点；另外，每次只能对一个对象进行操作，不能对一组对象进行操作。</a:t>
            </a:r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r>
              <a:rPr sz="1200"/>
              <a:t>◆  定距等分（Measure）：按照一定的尺寸把指定对象分成若干份。例如将一段直线定距等分，如图5</a:t>
            </a:r>
            <a:r>
              <a:rPr lang="en-US" sz="1200"/>
              <a:t>-</a:t>
            </a:r>
            <a:r>
              <a:rPr sz="1200"/>
              <a:t>3所示。注意：实际绘图时，放置点的起始位置从离对象选取点较近的端点开始；另外，如果对象总长不能被所选长度整除，则绘制点到对象端点的距离将不等于所选长度。</a:t>
            </a:r>
            <a:endParaRPr sz="1200"/>
          </a:p>
        </p:txBody>
      </p:sp>
      <p:grpSp>
        <p:nvGrpSpPr>
          <p:cNvPr id="5" name="组合 4"/>
          <p:cNvGrpSpPr/>
          <p:nvPr/>
        </p:nvGrpSpPr>
        <p:grpSpPr>
          <a:xfrm>
            <a:off x="3347720" y="2068195"/>
            <a:ext cx="2602865" cy="1160105"/>
            <a:chOff x="4635" y="3836"/>
            <a:chExt cx="7056" cy="3379"/>
          </a:xfrm>
        </p:grpSpPr>
        <p:pic>
          <p:nvPicPr>
            <p:cNvPr id="2" name="图片 264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35" y="3836"/>
              <a:ext cx="7056" cy="208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7188" y="6142"/>
              <a:ext cx="1532" cy="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5-2</a:t>
              </a:r>
              <a:endParaRPr lang="en-US" altLang="zh-CN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45410" y="3796030"/>
            <a:ext cx="4210050" cy="1314450"/>
            <a:chOff x="4166" y="5978"/>
            <a:chExt cx="6630" cy="2070"/>
          </a:xfrm>
        </p:grpSpPr>
        <p:pic>
          <p:nvPicPr>
            <p:cNvPr id="6" name="图片 -2147482448" descr="5-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6" y="5978"/>
              <a:ext cx="6631" cy="14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6905" y="7468"/>
              <a:ext cx="8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5-3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、文字样式命令（STYLE/ST）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【文字样式】命令的快捷键为ST，用于定义新的文字样式，或者修改已有的文字样式，以及设置图形中输入文字的当前样式。也可以在选择【格式】→【文字样式】命令或在【样式】工具栏中单击【文字样式管理器】按钮，打开【文字样式】对话框进行设置，如图5</a:t>
            </a:r>
            <a:r>
              <a:rPr lang="en-US" sz="140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400">
                <a:solidFill>
                  <a:srgbClr val="000000"/>
                </a:solidFill>
                <a:cs typeface="方正宋一简体" charset="0"/>
              </a:rPr>
              <a:t>5和图5-6所示。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87450" y="1851660"/>
            <a:ext cx="2658110" cy="2224405"/>
            <a:chOff x="1870" y="2690"/>
            <a:chExt cx="4186" cy="3503"/>
          </a:xfrm>
        </p:grpSpPr>
        <p:pic>
          <p:nvPicPr>
            <p:cNvPr id="2" name="图片 2647"/>
            <p:cNvPicPr>
              <a:picLocks noChangeAspect="1"/>
            </p:cNvPicPr>
            <p:nvPr/>
          </p:nvPicPr>
          <p:blipFill>
            <a:blip r:embed="rId1"/>
            <a:srcRect l="50488" t="2602" r="19328" b="65897"/>
            <a:stretch>
              <a:fillRect/>
            </a:stretch>
          </p:blipFill>
          <p:spPr>
            <a:xfrm>
              <a:off x="1870" y="2690"/>
              <a:ext cx="4187" cy="272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3345" y="5613"/>
              <a:ext cx="8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5-5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40200" y="1708150"/>
            <a:ext cx="4005580" cy="2799715"/>
            <a:chOff x="6520" y="2376"/>
            <a:chExt cx="6308" cy="4409"/>
          </a:xfrm>
        </p:grpSpPr>
        <p:pic>
          <p:nvPicPr>
            <p:cNvPr id="3" name="图片 26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0" y="2376"/>
              <a:ext cx="6308" cy="381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9254" y="6205"/>
              <a:ext cx="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5-6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、文字样式命令（STYLE/ST）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400">
                <a:solidFill>
                  <a:srgbClr val="000000"/>
                </a:solidFill>
                <a:cs typeface="方正宋一简体" charset="0"/>
              </a:rPr>
              <a:t>【文字样式】对话框中一般要设置文字的【样式】、【字体】、【图纸文字高度】和文字的【宽度因子】。【样式】的设置注意不要随意取名，要见名知义。设置【字体名】前要将【使用大字体(U)】前的对钩去掉，再选择宋体、黑体、楷体或仿宋等常用的字体（注意选择没有@符号的字体名，有@符号的字体输入时文字是竖着排列的，如图5-7所示），英文和符号可选择Times New Roman。【图纸文字高度】即文字的大小，A4纸张的文字大小约为2.5。【宽度因子】就是文字的宽窄，为了美观，通信工程制图中一般设置为0.7。</a:t>
            </a:r>
            <a:endParaRPr sz="140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97685" y="2068195"/>
            <a:ext cx="5535930" cy="2384425"/>
            <a:chOff x="2831" y="3257"/>
            <a:chExt cx="8718" cy="3755"/>
          </a:xfrm>
        </p:grpSpPr>
        <p:grpSp>
          <p:nvGrpSpPr>
            <p:cNvPr id="4" name="组合 3"/>
            <p:cNvGrpSpPr/>
            <p:nvPr/>
          </p:nvGrpSpPr>
          <p:grpSpPr>
            <a:xfrm>
              <a:off x="2831" y="3257"/>
              <a:ext cx="8719" cy="2750"/>
              <a:chOff x="2664" y="3502"/>
              <a:chExt cx="6928" cy="1644"/>
            </a:xfrm>
          </p:grpSpPr>
          <p:pic>
            <p:nvPicPr>
              <p:cNvPr id="2" name="图片 264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664" y="3502"/>
                <a:ext cx="3272" cy="164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" name="图片 26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6" y="3502"/>
                <a:ext cx="3187" cy="164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5" name="文本框 4"/>
            <p:cNvSpPr txBox="1"/>
            <p:nvPr/>
          </p:nvSpPr>
          <p:spPr>
            <a:xfrm>
              <a:off x="6873" y="6432"/>
              <a:ext cx="8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5-7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、单行文字命令（DTEXT/DT）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使用【单行文字】命令输入文字，其每行文字都是独立的对象，可以单独进行定位、调整格式等编辑工作。从【文字】工具栏或选择【绘图】→【文字】命令来激活【单行文字】命令，也可以输入快捷键DT来激活【单行文字】命令。在使用【单行文字】命令时要注意设置对齐方式及文字样式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【单行文字】命令用于标注一行或几行文本，每一行文本作为一个对象。在单行文字中标注特殊字符（如“°”、“±”）以及需要在文字的上方或下方加线时，由于这些特殊字符并不能直接从键盘上输入，因此AutoCAD提供了相应的控制符，以满足标注特殊符号的需要。AutoCAD的控制符通常由2个百分号（%%）和一个字符构成。表5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1列出了AutoCAD的常用控制符。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34060" y="2931795"/>
          <a:ext cx="7676515" cy="1824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3320"/>
                <a:gridCol w="1369695"/>
                <a:gridCol w="2095500"/>
                <a:gridCol w="1778000"/>
              </a:tblGrid>
              <a:tr h="487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黑体简体" charset="0"/>
                          <a:cs typeface="方正黑体简体" charset="0"/>
                        </a:rPr>
                        <a:t>控制符（不区分大小写）</a:t>
                      </a:r>
                      <a:endParaRPr lang="en-US" altLang="en-US" sz="1600" b="0">
                        <a:ln>
                          <a:noFill/>
                        </a:ln>
                        <a:latin typeface="方正黑体简体" charset="0"/>
                        <a:ea typeface="方正黑体简体" charset="0"/>
                        <a:cs typeface="方正黑体简体" charset="0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黑体简体" charset="0"/>
                          <a:cs typeface="方正黑体简体" charset="0"/>
                        </a:rPr>
                        <a:t>功能</a:t>
                      </a:r>
                      <a:endParaRPr lang="en-US" altLang="en-US" sz="1600" b="0">
                        <a:ln>
                          <a:noFill/>
                        </a:ln>
                        <a:latin typeface="方正黑体简体" charset="0"/>
                        <a:ea typeface="方正黑体简体" charset="0"/>
                        <a:cs typeface="方正黑体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黑体简体" charset="0"/>
                          <a:cs typeface="方正黑体简体" charset="0"/>
                        </a:rPr>
                        <a:t>控制符（不区分大小写）</a:t>
                      </a:r>
                      <a:endParaRPr lang="en-US" altLang="en-US" sz="1600" b="0">
                        <a:ln>
                          <a:noFill/>
                        </a:ln>
                        <a:latin typeface="方正黑体简体" charset="0"/>
                        <a:ea typeface="方正黑体简体" charset="0"/>
                        <a:cs typeface="方正黑体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黑体简体" charset="0"/>
                          <a:cs typeface="方正黑体简体" charset="0"/>
                        </a:rPr>
                        <a:t>功能</a:t>
                      </a:r>
                      <a:endParaRPr lang="en-US" altLang="en-US" sz="1600" b="0">
                        <a:ln>
                          <a:noFill/>
                        </a:ln>
                        <a:latin typeface="方正黑体简体" charset="0"/>
                        <a:ea typeface="方正黑体简体" charset="0"/>
                        <a:cs typeface="方正黑体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%%O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上划线开关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%%P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标注正负公差符号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%%U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下划线开关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%%C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标注直径符号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%%D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标注度符号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%%%</a:t>
                      </a:r>
                      <a:endParaRPr lang="en-US" altLang="en-US" sz="1600" b="0">
                        <a:ln>
                          <a:noFill/>
                        </a:ln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n>
                            <a:noFill/>
                          </a:ln>
                          <a:latin typeface="方正宋一简体" charset="0"/>
                          <a:cs typeface="方正宋一简体" charset="0"/>
                        </a:rPr>
                        <a:t>标注百分号</a:t>
                      </a:r>
                      <a:endParaRPr lang="en-US" altLang="en-US" sz="1600" b="0">
                        <a:ln>
                          <a:noFill/>
                        </a:ln>
                        <a:latin typeface="方正宋一简体" charset="0"/>
                        <a:ea typeface="方正宋一简体" charset="0"/>
                        <a:cs typeface="方正宋一简体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130675" y="4807585"/>
            <a:ext cx="882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表</a:t>
            </a:r>
            <a:r>
              <a:rPr lang="en-US" altLang="zh-CN"/>
              <a:t>5-1</a:t>
            </a:r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多行文字命令（MTEXT/T或MT）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771525"/>
            <a:ext cx="86169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>
                <a:cs typeface="方正宋一简体" charset="0"/>
              </a:rPr>
              <a:t>【多行文字】命令在输入大量文字时比较方便，其编辑方法与Word比较相似，一般比较容易上手。它与单行文字的区别在于所标注的多行文字是一个整体，可以进行统一编辑，因此【多行文字】命令与【单行文字】命令相比，更灵活、方便，它具有一般文字编辑软件的各种功能。但是要注意文字的字体、大小等的设置及排版。输入【多行文字】命令的快捷键T，打开图5</a:t>
            </a:r>
            <a:r>
              <a:rPr lang="en-US" sz="1600">
                <a:cs typeface="方正宋一简体" charset="0"/>
              </a:rPr>
              <a:t>-</a:t>
            </a:r>
            <a:r>
              <a:rPr sz="1600">
                <a:cs typeface="方正宋一简体" charset="0"/>
              </a:rPr>
              <a:t>8所示的文字输入框和【文字编辑器】菜单及工具栏。在文字输入框中输入相应的文字后，单击“确定”按钮即可创建多行文字。</a:t>
            </a:r>
            <a:endParaRPr sz="1600">
              <a:cs typeface="方正宋一简体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87450" y="2499995"/>
            <a:ext cx="6911340" cy="1664335"/>
            <a:chOff x="1870" y="3937"/>
            <a:chExt cx="10884" cy="2621"/>
          </a:xfrm>
        </p:grpSpPr>
        <p:pic>
          <p:nvPicPr>
            <p:cNvPr id="2" name="图片 -2147481822"/>
            <p:cNvPicPr>
              <a:picLocks noChangeAspect="1"/>
            </p:cNvPicPr>
            <p:nvPr/>
          </p:nvPicPr>
          <p:blipFill>
            <a:blip r:embed="rId1"/>
            <a:srcRect t="3122" r="9306" b="68636"/>
            <a:stretch>
              <a:fillRect/>
            </a:stretch>
          </p:blipFill>
          <p:spPr>
            <a:xfrm>
              <a:off x="1870" y="3937"/>
              <a:ext cx="10885" cy="202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6833" y="5978"/>
              <a:ext cx="92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5-8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图衔线条的绘制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1059815"/>
            <a:ext cx="861695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在通信工程设计图纸中图衔必须要按照规定尺寸绘制。图衔的尺寸及要求如图5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9所示。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1．标准图衔尺寸要求：180mm×30mm；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2．图衔外框加粗，线条宽度同绘图框，图衔里面线条为细实线。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03985" y="1995805"/>
            <a:ext cx="6381750" cy="1880870"/>
            <a:chOff x="2211" y="3143"/>
            <a:chExt cx="10050" cy="2962"/>
          </a:xfrm>
        </p:grpSpPr>
        <p:pic>
          <p:nvPicPr>
            <p:cNvPr id="2" name="图片 -2147482447" descr="5-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11" y="3143"/>
              <a:ext cx="10051" cy="232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6838" y="5525"/>
              <a:ext cx="9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5-9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图衔内容的输入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63525" y="915670"/>
            <a:ext cx="861695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按照标准图衔的尺寸要求绘制好图衔的线条，根据图5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10所示输入图衔内容，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72845" y="1564005"/>
            <a:ext cx="6798310" cy="2168525"/>
            <a:chOff x="1847" y="2463"/>
            <a:chExt cx="10706" cy="3415"/>
          </a:xfrm>
        </p:grpSpPr>
        <p:pic>
          <p:nvPicPr>
            <p:cNvPr id="2" name="图片 -2147481821" descr="5-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47" y="2463"/>
              <a:ext cx="10707" cy="272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6520" y="5298"/>
              <a:ext cx="11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5-10</a:t>
              </a:r>
              <a:endParaRPr lang="en-US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2bead7a0-249c-4be3-990d-37c490d062b4}"/>
  <p:tag name="TABLE_ENDDRAG_ORIGIN_RECT" val="604*142"/>
  <p:tag name="TABLE_ENDDRAG_RECT" val="82*238*604*142"/>
</p:tagLst>
</file>

<file path=ppt/tags/tag2.xml><?xml version="1.0" encoding="utf-8"?>
<p:tagLst xmlns:p="http://schemas.openxmlformats.org/presentationml/2006/main">
  <p:tag name="COMMONDATA" val="eyJoZGlkIjoiZjQ2OWYxY2Y3NTJjNjQ4ZTBiZGY4NDBmYWM3YjRjNWUifQ=="/>
  <p:tag name="KSO_WPP_MARK_KEY" val="2fcf6cec-e5bb-4072-86ac-ff62f2a53752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1774</Words>
  <Application>WPS 演示</Application>
  <PresentationFormat>全屏显示(16:9)</PresentationFormat>
  <Paragraphs>128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 Black</vt:lpstr>
      <vt:lpstr>Times New Roman</vt:lpstr>
      <vt:lpstr>华文楷体</vt:lpstr>
      <vt:lpstr>微软雅黑</vt:lpstr>
      <vt:lpstr>华文新魏</vt:lpstr>
      <vt:lpstr>楷体</vt:lpstr>
      <vt:lpstr>方正宋一简体</vt:lpstr>
      <vt:lpstr>方正黑体简体</vt:lpstr>
      <vt:lpstr>Arial Unicode MS</vt:lpstr>
      <vt:lpstr>Calibri</vt:lpstr>
      <vt:lpstr>chrome</vt:lpstr>
      <vt:lpstr>PowerPoint 演示文稿</vt:lpstr>
      <vt:lpstr>图衔的绘制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批注</cp:lastModifiedBy>
  <cp:revision>101</cp:revision>
  <dcterms:created xsi:type="dcterms:W3CDTF">2007-07-24T14:55:00Z</dcterms:created>
  <dcterms:modified xsi:type="dcterms:W3CDTF">2024-09-24T08:02:25Z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3FC3A724B3DA4D7F89C1C6BDEA862C0B</vt:lpwstr>
  </property>
  <property fmtid="{D5CDD505-2E9C-101B-9397-08002B2CF9AE}" pid="3" name="KSOProductBuildVer">
    <vt:lpwstr>2052-12.1.0.16729</vt:lpwstr>
  </property>
</Properties>
</file>