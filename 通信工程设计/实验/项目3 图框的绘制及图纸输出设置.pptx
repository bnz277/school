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665" r:id="rId3"/>
    <p:sldId id="714" r:id="rId5"/>
    <p:sldId id="681" r:id="rId6"/>
    <p:sldId id="728" r:id="rId7"/>
    <p:sldId id="713" r:id="rId8"/>
    <p:sldId id="715" r:id="rId9"/>
    <p:sldId id="717" r:id="rId10"/>
    <p:sldId id="718" r:id="rId11"/>
    <p:sldId id="719" r:id="rId12"/>
    <p:sldId id="721" r:id="rId13"/>
    <p:sldId id="722" r:id="rId14"/>
    <p:sldId id="723" r:id="rId15"/>
    <p:sldId id="724" r:id="rId16"/>
    <p:sldId id="726" r:id="rId17"/>
    <p:sldId id="725" r:id="rId18"/>
  </p:sldIdLst>
  <p:sldSz cx="9144000" cy="5143500" type="screen16x9"/>
  <p:notesSz cx="6858000" cy="9144000"/>
  <p:custDataLst>
    <p:tags r:id="rId22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340" userDrawn="1">
          <p15:clr>
            <a:srgbClr val="A4A3A4"/>
          </p15:clr>
        </p15:guide>
        <p15:guide id="3" pos="54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8F8"/>
    <a:srgbClr val="B2D2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6133" autoAdjust="0"/>
  </p:normalViewPr>
  <p:slideViewPr>
    <p:cSldViewPr showGuides="1">
      <p:cViewPr varScale="1">
        <p:scale>
          <a:sx n="100" d="100"/>
          <a:sy n="100" d="100"/>
        </p:scale>
        <p:origin x="222" y="48"/>
      </p:cViewPr>
      <p:guideLst>
        <p:guide orient="horz" pos="1620"/>
        <p:guide pos="340"/>
        <p:guide pos="547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4" d="100"/>
        <a:sy n="64" d="100"/>
      </p:scale>
      <p:origin x="0" y="295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gs" Target="tags/tag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EA87550A-199E-42E0-B585-690E6C86E0DD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A31C1387-779F-4F38-A916-09BAC98A989E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BA1CCFC-D8A8-4C82-A7ED-6685B60DEEA3}" type="slidenum">
              <a:rPr lang="en-US" altLang="zh-CN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260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01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57175" indent="-257175" defTabSz="685800" eaLnBrk="0" hangingPunct="0">
              <a:lnSpc>
                <a:spcPct val="200000"/>
              </a:lnSpc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kumimoji="1" lang="zh-CN" altLang="en-US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理解和掌握通信工程制图的</a:t>
            </a:r>
            <a:r>
              <a:rPr kumimoji="1"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总体要求和统一</a:t>
            </a:r>
            <a:r>
              <a:rPr kumimoji="1" lang="zh-CN" altLang="en-US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规定。</a:t>
            </a:r>
            <a:endParaRPr kumimoji="1" lang="zh-CN" altLang="en-US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57175" indent="-257175" defTabSz="685800" eaLnBrk="0" hangingPunct="0">
              <a:lnSpc>
                <a:spcPct val="200000"/>
              </a:lnSpc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kumimoji="1" lang="zh-CN" altLang="en-US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掌握通信工程制图中的常用</a:t>
            </a:r>
            <a:r>
              <a:rPr kumimoji="1"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图例</a:t>
            </a:r>
            <a:r>
              <a:rPr kumimoji="1" lang="zh-CN" altLang="en-US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及含义。</a:t>
            </a:r>
            <a:endParaRPr kumimoji="1" lang="zh-CN" altLang="en-US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31C1387-779F-4F38-A916-09BAC98A98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0"/>
          <p:cNvSpPr/>
          <p:nvPr/>
        </p:nvSpPr>
        <p:spPr bwMode="gray">
          <a:xfrm>
            <a:off x="0" y="4537075"/>
            <a:ext cx="2762250" cy="606425"/>
          </a:xfrm>
          <a:custGeom>
            <a:avLst/>
            <a:gdLst>
              <a:gd name="T0" fmla="*/ 0 w 1740"/>
              <a:gd name="T1" fmla="*/ 0 h 510"/>
              <a:gd name="T2" fmla="*/ 0 w 1740"/>
              <a:gd name="T3" fmla="*/ 606425 h 510"/>
              <a:gd name="T4" fmla="*/ 2762250 w 1740"/>
              <a:gd name="T5" fmla="*/ 606425 h 510"/>
              <a:gd name="T6" fmla="*/ 2532063 w 1740"/>
              <a:gd name="T7" fmla="*/ 35672 h 510"/>
              <a:gd name="T8" fmla="*/ 0 w 1740"/>
              <a:gd name="T9" fmla="*/ 0 h 5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740" h="510">
                <a:moveTo>
                  <a:pt x="0" y="0"/>
                </a:moveTo>
                <a:lnTo>
                  <a:pt x="0" y="510"/>
                </a:lnTo>
                <a:cubicBezTo>
                  <a:pt x="0" y="510"/>
                  <a:pt x="870" y="510"/>
                  <a:pt x="1740" y="510"/>
                </a:cubicBezTo>
                <a:cubicBezTo>
                  <a:pt x="1650" y="258"/>
                  <a:pt x="1595" y="30"/>
                  <a:pt x="1595" y="30"/>
                </a:cubicBezTo>
                <a:cubicBezTo>
                  <a:pt x="798" y="54"/>
                  <a:pt x="0" y="0"/>
                  <a:pt x="0" y="0"/>
                </a:cubicBezTo>
                <a:close/>
              </a:path>
            </a:pathLst>
          </a:cu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Freeform 41"/>
          <p:cNvSpPr/>
          <p:nvPr/>
        </p:nvSpPr>
        <p:spPr bwMode="gray">
          <a:xfrm>
            <a:off x="2590800" y="3529013"/>
            <a:ext cx="6400800" cy="1614487"/>
          </a:xfrm>
          <a:custGeom>
            <a:avLst/>
            <a:gdLst>
              <a:gd name="T0" fmla="*/ 1771650 w 4032"/>
              <a:gd name="T1" fmla="*/ 0 h 1356"/>
              <a:gd name="T2" fmla="*/ 6096000 w 4032"/>
              <a:gd name="T3" fmla="*/ 757237 h 1356"/>
              <a:gd name="T4" fmla="*/ 6400800 w 4032"/>
              <a:gd name="T5" fmla="*/ 1614487 h 1356"/>
              <a:gd name="T6" fmla="*/ 457200 w 4032"/>
              <a:gd name="T7" fmla="*/ 1614487 h 1356"/>
              <a:gd name="T8" fmla="*/ 0 w 4032"/>
              <a:gd name="T9" fmla="*/ 985837 h 1356"/>
              <a:gd name="T10" fmla="*/ 1771650 w 4032"/>
              <a:gd name="T11" fmla="*/ 0 h 135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032" h="1356">
                <a:moveTo>
                  <a:pt x="1116" y="0"/>
                </a:moveTo>
                <a:cubicBezTo>
                  <a:pt x="2370" y="1254"/>
                  <a:pt x="3840" y="636"/>
                  <a:pt x="3840" y="636"/>
                </a:cubicBezTo>
                <a:cubicBezTo>
                  <a:pt x="4032" y="966"/>
                  <a:pt x="4032" y="1356"/>
                  <a:pt x="4032" y="1356"/>
                </a:cubicBezTo>
                <a:cubicBezTo>
                  <a:pt x="4032" y="1356"/>
                  <a:pt x="2160" y="1356"/>
                  <a:pt x="288" y="1356"/>
                </a:cubicBezTo>
                <a:cubicBezTo>
                  <a:pt x="120" y="1140"/>
                  <a:pt x="0" y="828"/>
                  <a:pt x="0" y="828"/>
                </a:cubicBezTo>
                <a:lnTo>
                  <a:pt x="1116" y="0"/>
                </a:lnTo>
                <a:close/>
              </a:path>
            </a:pathLst>
          </a:cu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42"/>
          <p:cNvSpPr/>
          <p:nvPr/>
        </p:nvSpPr>
        <p:spPr bwMode="gray">
          <a:xfrm>
            <a:off x="4400550" y="585788"/>
            <a:ext cx="4743450" cy="3786187"/>
          </a:xfrm>
          <a:custGeom>
            <a:avLst/>
            <a:gdLst>
              <a:gd name="T0" fmla="*/ 809625 w 2988"/>
              <a:gd name="T1" fmla="*/ 1307306 h 3180"/>
              <a:gd name="T2" fmla="*/ 3619500 w 2988"/>
              <a:gd name="T3" fmla="*/ 0 h 3180"/>
              <a:gd name="T4" fmla="*/ 4743450 w 2988"/>
              <a:gd name="T5" fmla="*/ 407194 h 3180"/>
              <a:gd name="T6" fmla="*/ 4743450 w 2988"/>
              <a:gd name="T7" fmla="*/ 3300412 h 3180"/>
              <a:gd name="T8" fmla="*/ 2305050 w 2988"/>
              <a:gd name="T9" fmla="*/ 3643312 h 3180"/>
              <a:gd name="T10" fmla="*/ 0 w 2988"/>
              <a:gd name="T11" fmla="*/ 2864643 h 3180"/>
              <a:gd name="T12" fmla="*/ 809625 w 2988"/>
              <a:gd name="T13" fmla="*/ 1307306 h 318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988" h="3180">
                <a:moveTo>
                  <a:pt x="510" y="1098"/>
                </a:moveTo>
                <a:cubicBezTo>
                  <a:pt x="1710" y="840"/>
                  <a:pt x="2280" y="0"/>
                  <a:pt x="2280" y="0"/>
                </a:cubicBezTo>
                <a:cubicBezTo>
                  <a:pt x="2700" y="96"/>
                  <a:pt x="2988" y="342"/>
                  <a:pt x="2988" y="342"/>
                </a:cubicBezTo>
                <a:lnTo>
                  <a:pt x="2988" y="2772"/>
                </a:lnTo>
                <a:cubicBezTo>
                  <a:pt x="2988" y="2772"/>
                  <a:pt x="2202" y="3180"/>
                  <a:pt x="1452" y="3060"/>
                </a:cubicBezTo>
                <a:cubicBezTo>
                  <a:pt x="636" y="2940"/>
                  <a:pt x="0" y="2406"/>
                  <a:pt x="0" y="2406"/>
                </a:cubicBezTo>
                <a:lnTo>
                  <a:pt x="510" y="109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Freeform 43"/>
          <p:cNvSpPr/>
          <p:nvPr/>
        </p:nvSpPr>
        <p:spPr bwMode="gray">
          <a:xfrm>
            <a:off x="4800600" y="0"/>
            <a:ext cx="3276600" cy="1808163"/>
          </a:xfrm>
          <a:custGeom>
            <a:avLst/>
            <a:gdLst>
              <a:gd name="T0" fmla="*/ 0 w 2064"/>
              <a:gd name="T1" fmla="*/ 0 h 1518"/>
              <a:gd name="T2" fmla="*/ 438150 w 2064"/>
              <a:gd name="T3" fmla="*/ 1808163 h 1518"/>
              <a:gd name="T4" fmla="*/ 3276600 w 2064"/>
              <a:gd name="T5" fmla="*/ 0 h 1518"/>
              <a:gd name="T6" fmla="*/ 0 w 2064"/>
              <a:gd name="T7" fmla="*/ 0 h 151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64" h="1518">
                <a:moveTo>
                  <a:pt x="0" y="0"/>
                </a:moveTo>
                <a:cubicBezTo>
                  <a:pt x="0" y="0"/>
                  <a:pt x="138" y="759"/>
                  <a:pt x="276" y="1518"/>
                </a:cubicBezTo>
                <a:cubicBezTo>
                  <a:pt x="1518" y="1194"/>
                  <a:pt x="2064" y="0"/>
                  <a:pt x="2064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79"/>
          <p:cNvSpPr/>
          <p:nvPr/>
        </p:nvSpPr>
        <p:spPr bwMode="gray">
          <a:xfrm>
            <a:off x="0" y="0"/>
            <a:ext cx="6583363" cy="5451475"/>
          </a:xfrm>
          <a:custGeom>
            <a:avLst/>
            <a:gdLst>
              <a:gd name="T0" fmla="*/ 0 w 4014"/>
              <a:gd name="T1" fmla="*/ 0 h 4455"/>
              <a:gd name="T2" fmla="*/ 5924043 w 4014"/>
              <a:gd name="T3" fmla="*/ 0 h 4455"/>
              <a:gd name="T4" fmla="*/ 5284403 w 4014"/>
              <a:gd name="T5" fmla="*/ 3722421 h 4455"/>
              <a:gd name="T6" fmla="*/ 0 w 4014"/>
              <a:gd name="T7" fmla="*/ 4581442 h 4455"/>
              <a:gd name="T8" fmla="*/ 0 w 4014"/>
              <a:gd name="T9" fmla="*/ 0 h 44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014" h="4455">
                <a:moveTo>
                  <a:pt x="0" y="0"/>
                </a:moveTo>
                <a:lnTo>
                  <a:pt x="3612" y="0"/>
                </a:lnTo>
                <a:cubicBezTo>
                  <a:pt x="4014" y="984"/>
                  <a:pt x="3812" y="2307"/>
                  <a:pt x="3222" y="3042"/>
                </a:cubicBezTo>
                <a:cubicBezTo>
                  <a:pt x="1988" y="4455"/>
                  <a:pt x="0" y="3744"/>
                  <a:pt x="0" y="3744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45"/>
          <p:cNvSpPr/>
          <p:nvPr/>
        </p:nvSpPr>
        <p:spPr bwMode="gray">
          <a:xfrm>
            <a:off x="0" y="0"/>
            <a:ext cx="6372225" cy="53038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612" y="0"/>
              </a:cxn>
              <a:cxn ang="0">
                <a:pos x="3222" y="3042"/>
              </a:cxn>
              <a:cxn ang="0">
                <a:pos x="0" y="3744"/>
              </a:cxn>
              <a:cxn ang="0">
                <a:pos x="0" y="0"/>
              </a:cxn>
            </a:cxnLst>
            <a:rect l="0" t="0" r="r" b="b"/>
            <a:pathLst>
              <a:path w="4014" h="4455">
                <a:moveTo>
                  <a:pt x="0" y="0"/>
                </a:moveTo>
                <a:lnTo>
                  <a:pt x="3612" y="0"/>
                </a:lnTo>
                <a:cubicBezTo>
                  <a:pt x="4014" y="984"/>
                  <a:pt x="3812" y="2307"/>
                  <a:pt x="3222" y="3042"/>
                </a:cubicBezTo>
                <a:cubicBezTo>
                  <a:pt x="1988" y="4455"/>
                  <a:pt x="0" y="3744"/>
                  <a:pt x="0" y="3744"/>
                </a:cubicBez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chemeClr val="bg1">
                  <a:gamma/>
                  <a:tint val="25490"/>
                  <a:invGamma/>
                </a:schemeClr>
              </a:gs>
              <a:gs pos="100000">
                <a:schemeClr val="bg1"/>
              </a:gs>
            </a:gsLst>
            <a:lin ang="2700000" scaled="1"/>
          </a:gradFill>
          <a:ln w="9525">
            <a:noFill/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0" name="Line 47"/>
          <p:cNvSpPr>
            <a:spLocks noChangeShapeType="1"/>
          </p:cNvSpPr>
          <p:nvPr/>
        </p:nvSpPr>
        <p:spPr bwMode="gray">
          <a:xfrm>
            <a:off x="250825" y="1588"/>
            <a:ext cx="0" cy="4511675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Line 48"/>
          <p:cNvSpPr>
            <a:spLocks noChangeShapeType="1"/>
          </p:cNvSpPr>
          <p:nvPr/>
        </p:nvSpPr>
        <p:spPr bwMode="gray">
          <a:xfrm>
            <a:off x="1293813" y="1588"/>
            <a:ext cx="0" cy="4654550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49"/>
          <p:cNvSpPr>
            <a:spLocks noChangeShapeType="1"/>
          </p:cNvSpPr>
          <p:nvPr/>
        </p:nvSpPr>
        <p:spPr bwMode="gray">
          <a:xfrm>
            <a:off x="2338388" y="1588"/>
            <a:ext cx="0" cy="4637087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Line 50"/>
          <p:cNvSpPr>
            <a:spLocks noChangeShapeType="1"/>
          </p:cNvSpPr>
          <p:nvPr/>
        </p:nvSpPr>
        <p:spPr bwMode="gray">
          <a:xfrm>
            <a:off x="3382963" y="1588"/>
            <a:ext cx="0" cy="4478337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51"/>
          <p:cNvSpPr>
            <a:spLocks noChangeShapeType="1"/>
          </p:cNvSpPr>
          <p:nvPr/>
        </p:nvSpPr>
        <p:spPr bwMode="gray">
          <a:xfrm>
            <a:off x="4427538" y="1588"/>
            <a:ext cx="0" cy="4087812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53"/>
          <p:cNvSpPr>
            <a:spLocks noChangeShapeType="1"/>
          </p:cNvSpPr>
          <p:nvPr/>
        </p:nvSpPr>
        <p:spPr bwMode="gray">
          <a:xfrm rot="5400000">
            <a:off x="2913063" y="-2717800"/>
            <a:ext cx="0" cy="5813425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54"/>
          <p:cNvSpPr>
            <a:spLocks noChangeShapeType="1"/>
          </p:cNvSpPr>
          <p:nvPr/>
        </p:nvSpPr>
        <p:spPr bwMode="gray">
          <a:xfrm rot="5400000">
            <a:off x="3006725" y="-2011362"/>
            <a:ext cx="0" cy="6000750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55"/>
          <p:cNvSpPr>
            <a:spLocks noChangeShapeType="1"/>
          </p:cNvSpPr>
          <p:nvPr/>
        </p:nvSpPr>
        <p:spPr bwMode="gray">
          <a:xfrm rot="5400000">
            <a:off x="3011488" y="-1217613"/>
            <a:ext cx="0" cy="6010275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Line 56"/>
          <p:cNvSpPr>
            <a:spLocks noChangeShapeType="1"/>
          </p:cNvSpPr>
          <p:nvPr/>
        </p:nvSpPr>
        <p:spPr bwMode="gray">
          <a:xfrm rot="5400000">
            <a:off x="2907507" y="-313532"/>
            <a:ext cx="0" cy="5802313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Line 57"/>
          <p:cNvSpPr>
            <a:spLocks noChangeShapeType="1"/>
          </p:cNvSpPr>
          <p:nvPr/>
        </p:nvSpPr>
        <p:spPr bwMode="gray">
          <a:xfrm rot="5400000">
            <a:off x="2666207" y="726281"/>
            <a:ext cx="0" cy="5319713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58"/>
          <p:cNvSpPr>
            <a:spLocks noChangeShapeType="1"/>
          </p:cNvSpPr>
          <p:nvPr/>
        </p:nvSpPr>
        <p:spPr bwMode="gray">
          <a:xfrm rot="5400000">
            <a:off x="2115344" y="2077244"/>
            <a:ext cx="0" cy="4217988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Rectangle 59"/>
          <p:cNvSpPr>
            <a:spLocks noChangeArrowheads="1"/>
          </p:cNvSpPr>
          <p:nvPr/>
        </p:nvSpPr>
        <p:spPr bwMode="gray">
          <a:xfrm>
            <a:off x="2362200" y="207963"/>
            <a:ext cx="1012825" cy="769937"/>
          </a:xfrm>
          <a:prstGeom prst="rect">
            <a:avLst/>
          </a:prstGeom>
          <a:solidFill>
            <a:srgbClr val="FFFF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Rectangle 60"/>
          <p:cNvSpPr>
            <a:spLocks noChangeArrowheads="1"/>
          </p:cNvSpPr>
          <p:nvPr/>
        </p:nvSpPr>
        <p:spPr bwMode="gray">
          <a:xfrm>
            <a:off x="285750" y="1820863"/>
            <a:ext cx="1012825" cy="768350"/>
          </a:xfrm>
          <a:prstGeom prst="rect">
            <a:avLst/>
          </a:prstGeom>
          <a:solidFill>
            <a:srgbClr val="FFFFFF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Rectangle 61"/>
          <p:cNvSpPr>
            <a:spLocks noChangeArrowheads="1"/>
          </p:cNvSpPr>
          <p:nvPr/>
        </p:nvSpPr>
        <p:spPr bwMode="gray">
          <a:xfrm>
            <a:off x="0" y="203200"/>
            <a:ext cx="250825" cy="769938"/>
          </a:xfrm>
          <a:prstGeom prst="rect">
            <a:avLst/>
          </a:prstGeom>
          <a:solidFill>
            <a:srgbClr val="FFFFFF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Rectangle 62"/>
          <p:cNvSpPr>
            <a:spLocks noChangeArrowheads="1"/>
          </p:cNvSpPr>
          <p:nvPr/>
        </p:nvSpPr>
        <p:spPr bwMode="gray">
          <a:xfrm>
            <a:off x="1331913" y="1588"/>
            <a:ext cx="1012825" cy="176212"/>
          </a:xfrm>
          <a:prstGeom prst="rect">
            <a:avLst/>
          </a:prstGeom>
          <a:solidFill>
            <a:srgbClr val="FFFF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Freeform 64"/>
          <p:cNvSpPr/>
          <p:nvPr/>
        </p:nvSpPr>
        <p:spPr bwMode="gray">
          <a:xfrm>
            <a:off x="2365375" y="3406775"/>
            <a:ext cx="1009650" cy="774700"/>
          </a:xfrm>
          <a:custGeom>
            <a:avLst/>
            <a:gdLst>
              <a:gd name="T0" fmla="*/ 0 w 636"/>
              <a:gd name="T1" fmla="*/ 0 h 651"/>
              <a:gd name="T2" fmla="*/ 0 w 636"/>
              <a:gd name="T3" fmla="*/ 767560 h 651"/>
              <a:gd name="T4" fmla="*/ 1009650 w 636"/>
              <a:gd name="T5" fmla="*/ 774700 h 651"/>
              <a:gd name="T6" fmla="*/ 1003300 w 636"/>
              <a:gd name="T7" fmla="*/ 0 h 651"/>
              <a:gd name="T8" fmla="*/ 0 w 636"/>
              <a:gd name="T9" fmla="*/ 0 h 65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36" h="651">
                <a:moveTo>
                  <a:pt x="0" y="0"/>
                </a:moveTo>
                <a:lnTo>
                  <a:pt x="0" y="645"/>
                </a:lnTo>
                <a:lnTo>
                  <a:pt x="636" y="651"/>
                </a:lnTo>
                <a:lnTo>
                  <a:pt x="632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Rectangle 31"/>
          <p:cNvSpPr>
            <a:spLocks noChangeArrowheads="1"/>
          </p:cNvSpPr>
          <p:nvPr/>
        </p:nvSpPr>
        <p:spPr bwMode="gray">
          <a:xfrm>
            <a:off x="285750" y="1827213"/>
            <a:ext cx="1012825" cy="768350"/>
          </a:xfrm>
          <a:prstGeom prst="rect">
            <a:avLst/>
          </a:prstGeom>
          <a:solidFill>
            <a:srgbClr val="FFFFFF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Text Box 38"/>
          <p:cNvSpPr txBox="1">
            <a:spLocks noChangeArrowheads="1"/>
          </p:cNvSpPr>
          <p:nvPr/>
        </p:nvSpPr>
        <p:spPr bwMode="gray">
          <a:xfrm>
            <a:off x="333375" y="3535363"/>
            <a:ext cx="13144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200">
                <a:latin typeface="Arial Black" panose="020B0A04020102020204" pitchFamily="34" charset="0"/>
              </a:rPr>
              <a:t>L/O/G/O</a:t>
            </a:r>
            <a:endParaRPr lang="en-US" altLang="zh-CN" sz="2200">
              <a:latin typeface="Arial Black" panose="020B0A04020102020204" pitchFamily="34" charset="0"/>
            </a:endParaRPr>
          </a:p>
        </p:txBody>
      </p:sp>
      <p:grpSp>
        <p:nvGrpSpPr>
          <p:cNvPr id="28" name="Group 71"/>
          <p:cNvGrpSpPr/>
          <p:nvPr/>
        </p:nvGrpSpPr>
        <p:grpSpPr bwMode="auto">
          <a:xfrm>
            <a:off x="8077200" y="0"/>
            <a:ext cx="1076325" cy="5143500"/>
            <a:chOff x="5088" y="0"/>
            <a:chExt cx="678" cy="4320"/>
          </a:xfrm>
        </p:grpSpPr>
        <p:sp>
          <p:nvSpPr>
            <p:cNvPr id="29" name="Freeform 66"/>
            <p:cNvSpPr/>
            <p:nvPr userDrawn="1"/>
          </p:nvSpPr>
          <p:spPr bwMode="gray">
            <a:xfrm>
              <a:off x="5088" y="0"/>
              <a:ext cx="672" cy="702"/>
            </a:xfrm>
            <a:custGeom>
              <a:avLst/>
              <a:gdLst>
                <a:gd name="T0" fmla="*/ 0 w 672"/>
                <a:gd name="T1" fmla="*/ 421 h 720"/>
                <a:gd name="T2" fmla="*/ 288 w 672"/>
                <a:gd name="T3" fmla="*/ 0 h 720"/>
                <a:gd name="T4" fmla="*/ 672 w 672"/>
                <a:gd name="T5" fmla="*/ 0 h 720"/>
                <a:gd name="T6" fmla="*/ 672 w 672"/>
                <a:gd name="T7" fmla="*/ 702 h 720"/>
                <a:gd name="T8" fmla="*/ 0 w 672"/>
                <a:gd name="T9" fmla="*/ 421 h 7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72" h="720">
                  <a:moveTo>
                    <a:pt x="0" y="432"/>
                  </a:moveTo>
                  <a:cubicBezTo>
                    <a:pt x="186" y="216"/>
                    <a:pt x="288" y="0"/>
                    <a:pt x="288" y="0"/>
                  </a:cubicBezTo>
                  <a:lnTo>
                    <a:pt x="672" y="0"/>
                  </a:lnTo>
                  <a:lnTo>
                    <a:pt x="672" y="720"/>
                  </a:lnTo>
                  <a:cubicBezTo>
                    <a:pt x="672" y="720"/>
                    <a:pt x="384" y="516"/>
                    <a:pt x="0" y="432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Freeform 67"/>
            <p:cNvSpPr/>
            <p:nvPr userDrawn="1"/>
          </p:nvSpPr>
          <p:spPr bwMode="gray">
            <a:xfrm>
              <a:off x="5602" y="3496"/>
              <a:ext cx="164" cy="824"/>
            </a:xfrm>
            <a:custGeom>
              <a:avLst/>
              <a:gdLst>
                <a:gd name="T0" fmla="*/ 159 w 212"/>
                <a:gd name="T1" fmla="*/ 0 h 824"/>
                <a:gd name="T2" fmla="*/ 0 w 212"/>
                <a:gd name="T3" fmla="*/ 82 h 824"/>
                <a:gd name="T4" fmla="*/ 130 w 212"/>
                <a:gd name="T5" fmla="*/ 824 h 824"/>
                <a:gd name="T6" fmla="*/ 164 w 212"/>
                <a:gd name="T7" fmla="*/ 822 h 824"/>
                <a:gd name="T8" fmla="*/ 159 w 212"/>
                <a:gd name="T9" fmla="*/ 0 h 8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2" h="824">
                  <a:moveTo>
                    <a:pt x="206" y="0"/>
                  </a:moveTo>
                  <a:cubicBezTo>
                    <a:pt x="104" y="54"/>
                    <a:pt x="0" y="82"/>
                    <a:pt x="0" y="82"/>
                  </a:cubicBezTo>
                  <a:cubicBezTo>
                    <a:pt x="0" y="82"/>
                    <a:pt x="148" y="378"/>
                    <a:pt x="168" y="824"/>
                  </a:cubicBezTo>
                  <a:lnTo>
                    <a:pt x="212" y="822"/>
                  </a:lnTo>
                  <a:cubicBezTo>
                    <a:pt x="212" y="822"/>
                    <a:pt x="209" y="411"/>
                    <a:pt x="206" y="0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1" name="Rectangle 80"/>
          <p:cNvSpPr>
            <a:spLocks noChangeArrowheads="1"/>
          </p:cNvSpPr>
          <p:nvPr/>
        </p:nvSpPr>
        <p:spPr bwMode="gray">
          <a:xfrm>
            <a:off x="5495925" y="1000125"/>
            <a:ext cx="660400" cy="769938"/>
          </a:xfrm>
          <a:prstGeom prst="rect">
            <a:avLst/>
          </a:prstGeom>
          <a:solidFill>
            <a:srgbClr val="FFFFFF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Line 81"/>
          <p:cNvSpPr>
            <a:spLocks noChangeShapeType="1"/>
          </p:cNvSpPr>
          <p:nvPr/>
        </p:nvSpPr>
        <p:spPr bwMode="gray">
          <a:xfrm>
            <a:off x="5480050" y="1588"/>
            <a:ext cx="0" cy="3178175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>
            <a:outerShdw dist="17961" dir="2700000" algn="ctr" rotWithShape="0">
              <a:schemeClr val="accent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Rectangle 82"/>
          <p:cNvSpPr>
            <a:spLocks noChangeArrowheads="1"/>
          </p:cNvSpPr>
          <p:nvPr/>
        </p:nvSpPr>
        <p:spPr bwMode="gray">
          <a:xfrm>
            <a:off x="4457700" y="2620963"/>
            <a:ext cx="1012825" cy="769937"/>
          </a:xfrm>
          <a:prstGeom prst="rect">
            <a:avLst/>
          </a:prstGeom>
          <a:solidFill>
            <a:srgbClr val="FFFFFF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34" name="Picture 83" descr="wat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09" t="16374" b="27486"/>
          <a:stretch>
            <a:fillRect/>
          </a:stretch>
        </p:blipFill>
        <p:spPr bwMode="gray">
          <a:xfrm rot="393398">
            <a:off x="2667000" y="457200"/>
            <a:ext cx="2663825" cy="164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33375" y="3813572"/>
            <a:ext cx="6400800" cy="342900"/>
          </a:xfrm>
        </p:spPr>
        <p:txBody>
          <a:bodyPr/>
          <a:lstStyle>
            <a:lvl1pPr marL="0" indent="0">
              <a:buFontTx/>
              <a:buNone/>
              <a:defRPr sz="1600">
                <a:latin typeface="Times New Roman" panose="02020603050405020304" pitchFamily="18" charset="0"/>
              </a:defRPr>
            </a:lvl1pPr>
          </a:lstStyle>
          <a:p>
            <a:r>
              <a:rPr lang="zh-CN" altLang="en-US"/>
              <a:t>单击此处编辑母版副标题样式</a:t>
            </a:r>
            <a:endParaRPr lang="en-US" altLang="zh-CN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33375" y="1413273"/>
            <a:ext cx="8229600" cy="1102519"/>
          </a:xfrm>
          <a:effectLst/>
        </p:spPr>
        <p:txBody>
          <a:bodyPr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3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805363"/>
            <a:ext cx="2133600" cy="23653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2D36FF-A46C-4327-8AFC-8F8CA4A9DA15}" type="datetimeFigureOut">
              <a:rPr lang="zh-CN" altLang="en-US"/>
            </a:fld>
            <a:endParaRPr lang="zh-CN" altLang="en-US"/>
          </a:p>
        </p:txBody>
      </p:sp>
      <p:sp>
        <p:nvSpPr>
          <p:cNvPr id="3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805363"/>
            <a:ext cx="2895600" cy="23653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805363"/>
            <a:ext cx="2133600" cy="23653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040C1A-D003-4E5C-A006-F82E32A5D95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20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100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mp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20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100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26" presetClass="emph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20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100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26" presetClass="emph" presetSubtype="0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20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100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3B303A-EB72-400E-B3EF-8F0316D7A345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E7E7D4-3E25-417E-82DA-BA547F68252B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1D0A2E-5D0A-4FBC-A5F4-42EB5A5BBBBB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EC09FC-EBAE-412D-A6F5-439F4DBE879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1512C5-0FF1-4BE0-A529-90E42A40E1F4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14B60F-6867-45BC-87D6-C90DD4B1C6AD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8AF3D3-1853-4BE4-9C7B-7E2E53B5C00E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06CEB9-BF2B-4A8E-8C05-06A5DB985C5D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48DE47-2E99-4237-9D5B-74CE382D5DF3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EA3765-03C0-49BB-B83A-F33C8D3C348A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9D3A27-8E7F-4CF2-A595-51D6FFD877B7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9140AC-4248-41FA-BF5B-A11768E8A9D3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73FCC1-315F-47CD-8FDA-D9273C6CAF4C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515E3C-BF78-482C-B2C0-21EE9C8F9F98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977210-F562-4E52-B9A2-711C704FBE5A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F2BBC5-FA14-42FC-A063-4AC83DC1DD6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ED5D84-95B7-4995-B7A1-544EBA3459EF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E36A07-30CB-4E4B-BA9B-DD249FB1B36A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44079"/>
            <a:ext cx="2057400" cy="43505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44079"/>
            <a:ext cx="6019800" cy="43505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41641D-12FF-4823-9BD1-5AC178CD60F3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BAEF94-9603-4039-ABA7-1D4B5F274CA4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44079"/>
            <a:ext cx="8229600" cy="6953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127BE0-CD63-447D-A0E3-18BE2EEFB3C6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F4190F-F75B-40AC-8AFE-9FBDE9D0D0A4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44079"/>
            <a:ext cx="8229600" cy="6953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0"/>
            <a:ext cx="8229600" cy="163949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953942"/>
            <a:ext cx="8229600" cy="164068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E98E7F-FF63-49ED-B65D-56B26A604FC2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210B80-91FE-4377-B4B9-E828399D2EC8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hf sldNum="0"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44079"/>
            <a:ext cx="8229600" cy="6953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200151"/>
            <a:ext cx="8229600" cy="3394472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  <a:endParaRPr lang="zh-CN" altLang="en-US" noProof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15E03F-9046-4BC9-91FC-3DB117B901D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44079"/>
            <a:ext cx="8229600" cy="6953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表占位符 2"/>
          <p:cNvSpPr>
            <a:spLocks noGrp="1"/>
          </p:cNvSpPr>
          <p:nvPr>
            <p:ph type="chart" idx="1" hasCustomPrompt="1"/>
          </p:nvPr>
        </p:nvSpPr>
        <p:spPr>
          <a:xfrm>
            <a:off x="457200" y="1200151"/>
            <a:ext cx="8229600" cy="3394472"/>
          </a:xfrm>
        </p:spPr>
        <p:txBody>
          <a:bodyPr/>
          <a:lstStyle/>
          <a:p>
            <a:pPr lvl="0"/>
            <a:r>
              <a:rPr lang="zh-CN" altLang="en-US" noProof="0"/>
              <a:t>单击图标添加图表</a:t>
            </a:r>
            <a:endParaRPr lang="zh-CN" altLang="en-US" noProof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D280C2-FD1A-42B6-81BF-808414EBDACF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44079"/>
            <a:ext cx="8229600" cy="6953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 hasCustomPrompt="1"/>
          </p:nvPr>
        </p:nvSpPr>
        <p:spPr>
          <a:xfrm>
            <a:off x="457200" y="1200151"/>
            <a:ext cx="8229600" cy="3394472"/>
          </a:xfrm>
        </p:spPr>
        <p:txBody>
          <a:bodyPr/>
          <a:lstStyle/>
          <a:p>
            <a:pPr lvl="0"/>
            <a:r>
              <a:rPr lang="zh-CN" altLang="en-US" noProof="0"/>
              <a:t>单击图标添加 </a:t>
            </a:r>
            <a:r>
              <a:rPr lang="en-US" altLang="zh-CN" noProof="0"/>
              <a:t>SmartArt </a:t>
            </a:r>
            <a:r>
              <a:rPr lang="zh-CN" altLang="en-US" noProof="0"/>
              <a:t>图形</a:t>
            </a:r>
            <a:endParaRPr lang="zh-CN" altLang="en-US" noProof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5105B9-EBC0-45AB-ACE3-60C8D4F09A6E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392B56-4AF0-48F3-A189-7C4D46BD740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2.png"/><Relationship Id="rId17" Type="http://schemas.openxmlformats.org/officeDocument/2006/relationships/image" Target="../media/image1.png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Freeform 7"/>
          <p:cNvSpPr/>
          <p:nvPr/>
        </p:nvSpPr>
        <p:spPr bwMode="gray">
          <a:xfrm>
            <a:off x="-9525" y="-7938"/>
            <a:ext cx="9156700" cy="5154613"/>
          </a:xfrm>
          <a:custGeom>
            <a:avLst/>
            <a:gdLst/>
            <a:ahLst/>
            <a:cxnLst>
              <a:cxn ang="0">
                <a:pos x="5766" y="605"/>
              </a:cxn>
              <a:cxn ang="0">
                <a:pos x="5768" y="4325"/>
              </a:cxn>
              <a:cxn ang="0">
                <a:pos x="1082" y="4329"/>
              </a:cxn>
              <a:cxn ang="0">
                <a:pos x="13" y="3351"/>
              </a:cxn>
              <a:cxn ang="0">
                <a:pos x="0" y="0"/>
              </a:cxn>
              <a:cxn ang="0">
                <a:pos x="2428" y="7"/>
              </a:cxn>
              <a:cxn ang="0">
                <a:pos x="5766" y="605"/>
              </a:cxn>
            </a:cxnLst>
            <a:rect l="0" t="0" r="r" b="b"/>
            <a:pathLst>
              <a:path w="5768" h="4329">
                <a:moveTo>
                  <a:pt x="5766" y="605"/>
                </a:moveTo>
                <a:cubicBezTo>
                  <a:pt x="5767" y="2464"/>
                  <a:pt x="5768" y="4325"/>
                  <a:pt x="5768" y="4325"/>
                </a:cubicBezTo>
                <a:lnTo>
                  <a:pt x="1082" y="4329"/>
                </a:lnTo>
                <a:cubicBezTo>
                  <a:pt x="318" y="3809"/>
                  <a:pt x="9" y="3349"/>
                  <a:pt x="13" y="3351"/>
                </a:cubicBezTo>
                <a:lnTo>
                  <a:pt x="0" y="0"/>
                </a:lnTo>
                <a:lnTo>
                  <a:pt x="2428" y="7"/>
                </a:lnTo>
                <a:cubicBezTo>
                  <a:pt x="2428" y="12"/>
                  <a:pt x="3096" y="401"/>
                  <a:pt x="5766" y="605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gamma/>
                  <a:tint val="3137"/>
                  <a:invGamma/>
                </a:schemeClr>
              </a:gs>
              <a:gs pos="100000">
                <a:schemeClr val="bg1">
                  <a:alpha val="70000"/>
                </a:schemeClr>
              </a:gs>
            </a:gsLst>
            <a:lin ang="2700000" scaled="1"/>
          </a:gradFill>
          <a:ln w="9525">
            <a:noFill/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033" name="Freeform 9"/>
          <p:cNvSpPr/>
          <p:nvPr/>
        </p:nvSpPr>
        <p:spPr bwMode="gray">
          <a:xfrm>
            <a:off x="-4763" y="4125913"/>
            <a:ext cx="1441451" cy="1019175"/>
          </a:xfrm>
          <a:custGeom>
            <a:avLst/>
            <a:gdLst>
              <a:gd name="T0" fmla="*/ 0 w 1089"/>
              <a:gd name="T1" fmla="*/ 0 h 1100"/>
              <a:gd name="T2" fmla="*/ 0 w 1089"/>
              <a:gd name="T3" fmla="*/ 1019175 h 1100"/>
              <a:gd name="T4" fmla="*/ 1441451 w 1089"/>
              <a:gd name="T5" fmla="*/ 1019175 h 1100"/>
              <a:gd name="T6" fmla="*/ 0 w 1089"/>
              <a:gd name="T7" fmla="*/ 0 h 11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89" h="1100">
                <a:moveTo>
                  <a:pt x="0" y="0"/>
                </a:moveTo>
                <a:cubicBezTo>
                  <a:pt x="0" y="550"/>
                  <a:pt x="0" y="1100"/>
                  <a:pt x="0" y="1100"/>
                </a:cubicBezTo>
                <a:lnTo>
                  <a:pt x="1089" y="1100"/>
                </a:lnTo>
                <a:cubicBezTo>
                  <a:pt x="1089" y="1100"/>
                  <a:pt x="596" y="865"/>
                  <a:pt x="0" y="0"/>
                </a:cubicBezTo>
                <a:close/>
              </a:path>
            </a:pathLst>
          </a:cu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Line 13"/>
          <p:cNvSpPr>
            <a:spLocks noChangeShapeType="1"/>
          </p:cNvSpPr>
          <p:nvPr/>
        </p:nvSpPr>
        <p:spPr bwMode="gray">
          <a:xfrm>
            <a:off x="527050" y="0"/>
            <a:ext cx="0" cy="4432300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14"/>
          <p:cNvSpPr>
            <a:spLocks noChangeShapeType="1"/>
          </p:cNvSpPr>
          <p:nvPr/>
        </p:nvSpPr>
        <p:spPr bwMode="gray">
          <a:xfrm>
            <a:off x="1677988" y="0"/>
            <a:ext cx="0" cy="5124450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0" name="Line 15"/>
          <p:cNvSpPr>
            <a:spLocks noChangeShapeType="1"/>
          </p:cNvSpPr>
          <p:nvPr/>
        </p:nvSpPr>
        <p:spPr bwMode="gray">
          <a:xfrm>
            <a:off x="2830513" y="0"/>
            <a:ext cx="0" cy="5146675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Line 16"/>
          <p:cNvSpPr>
            <a:spLocks noChangeShapeType="1"/>
          </p:cNvSpPr>
          <p:nvPr/>
        </p:nvSpPr>
        <p:spPr bwMode="gray">
          <a:xfrm>
            <a:off x="3983038" y="0"/>
            <a:ext cx="0" cy="5156200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2" name="Line 17"/>
          <p:cNvSpPr>
            <a:spLocks noChangeShapeType="1"/>
          </p:cNvSpPr>
          <p:nvPr/>
        </p:nvSpPr>
        <p:spPr bwMode="gray">
          <a:xfrm>
            <a:off x="5133975" y="292100"/>
            <a:ext cx="0" cy="4864100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gray">
          <a:xfrm>
            <a:off x="6286500" y="465138"/>
            <a:ext cx="0" cy="4691062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4" name="Line 19"/>
          <p:cNvSpPr>
            <a:spLocks noChangeShapeType="1"/>
          </p:cNvSpPr>
          <p:nvPr/>
        </p:nvSpPr>
        <p:spPr bwMode="gray">
          <a:xfrm>
            <a:off x="7439025" y="579438"/>
            <a:ext cx="0" cy="4576762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5" name="Line 20"/>
          <p:cNvSpPr>
            <a:spLocks noChangeShapeType="1"/>
          </p:cNvSpPr>
          <p:nvPr/>
        </p:nvSpPr>
        <p:spPr bwMode="gray">
          <a:xfrm>
            <a:off x="8591550" y="674688"/>
            <a:ext cx="0" cy="4481512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6" name="Line 22"/>
          <p:cNvSpPr>
            <a:spLocks noChangeShapeType="1"/>
          </p:cNvSpPr>
          <p:nvPr/>
        </p:nvSpPr>
        <p:spPr bwMode="gray">
          <a:xfrm rot="5400000">
            <a:off x="2595563" y="-2281238"/>
            <a:ext cx="0" cy="5191125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7" name="Line 23"/>
          <p:cNvSpPr>
            <a:spLocks noChangeShapeType="1"/>
          </p:cNvSpPr>
          <p:nvPr/>
        </p:nvSpPr>
        <p:spPr bwMode="gray">
          <a:xfrm rot="5400000">
            <a:off x="4578350" y="-3422650"/>
            <a:ext cx="0" cy="9156700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8" name="Line 24"/>
          <p:cNvSpPr>
            <a:spLocks noChangeShapeType="1"/>
          </p:cNvSpPr>
          <p:nvPr/>
        </p:nvSpPr>
        <p:spPr bwMode="gray">
          <a:xfrm rot="5400000">
            <a:off x="4578350" y="-2579687"/>
            <a:ext cx="0" cy="9156700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9" name="Line 25"/>
          <p:cNvSpPr>
            <a:spLocks noChangeShapeType="1"/>
          </p:cNvSpPr>
          <p:nvPr/>
        </p:nvSpPr>
        <p:spPr bwMode="gray">
          <a:xfrm rot="5400000">
            <a:off x="4579938" y="-1735138"/>
            <a:ext cx="0" cy="9153525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Line 26"/>
          <p:cNvSpPr>
            <a:spLocks noChangeShapeType="1"/>
          </p:cNvSpPr>
          <p:nvPr/>
        </p:nvSpPr>
        <p:spPr bwMode="gray">
          <a:xfrm rot="5400000">
            <a:off x="4579938" y="-892175"/>
            <a:ext cx="0" cy="9153525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1" name="Line 27"/>
          <p:cNvSpPr>
            <a:spLocks noChangeShapeType="1"/>
          </p:cNvSpPr>
          <p:nvPr/>
        </p:nvSpPr>
        <p:spPr bwMode="gray">
          <a:xfrm rot="5400000">
            <a:off x="4905376" y="315912"/>
            <a:ext cx="0" cy="8423275"/>
          </a:xfrm>
          <a:prstGeom prst="line">
            <a:avLst/>
          </a:prstGeom>
          <a:noFill/>
          <a:ln w="9525">
            <a:solidFill>
              <a:srgbClr val="FFFFFF">
                <a:alpha val="50195"/>
              </a:srgbClr>
            </a:solidFill>
            <a:round/>
          </a:ln>
          <a:effectLst>
            <a:outerShdw dist="17961" dir="2700000" algn="ctr" rotWithShape="0">
              <a:schemeClr val="accent2">
                <a:alpha val="35001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2" name="Rectangle 28"/>
          <p:cNvSpPr>
            <a:spLocks noChangeArrowheads="1"/>
          </p:cNvSpPr>
          <p:nvPr/>
        </p:nvSpPr>
        <p:spPr bwMode="gray">
          <a:xfrm>
            <a:off x="4005263" y="2019300"/>
            <a:ext cx="1128712" cy="809625"/>
          </a:xfrm>
          <a:prstGeom prst="rect">
            <a:avLst/>
          </a:prstGeom>
          <a:solidFill>
            <a:srgbClr val="FFFFFF">
              <a:alpha val="2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3" name="Rectangle 29"/>
          <p:cNvSpPr>
            <a:spLocks noChangeArrowheads="1"/>
          </p:cNvSpPr>
          <p:nvPr/>
        </p:nvSpPr>
        <p:spPr bwMode="gray">
          <a:xfrm>
            <a:off x="7459663" y="3703638"/>
            <a:ext cx="1120775" cy="809625"/>
          </a:xfrm>
          <a:prstGeom prst="rect">
            <a:avLst/>
          </a:prstGeom>
          <a:solidFill>
            <a:srgbClr val="FFFFFF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4" name="Rectangle 30"/>
          <p:cNvSpPr>
            <a:spLocks noChangeArrowheads="1"/>
          </p:cNvSpPr>
          <p:nvPr/>
        </p:nvSpPr>
        <p:spPr bwMode="gray">
          <a:xfrm>
            <a:off x="549275" y="2855913"/>
            <a:ext cx="1128713" cy="80962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Rectangle 31"/>
          <p:cNvSpPr>
            <a:spLocks noChangeArrowheads="1"/>
          </p:cNvSpPr>
          <p:nvPr/>
        </p:nvSpPr>
        <p:spPr bwMode="gray">
          <a:xfrm>
            <a:off x="6307138" y="4548188"/>
            <a:ext cx="1128712" cy="598487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6" name="Rectangle 32"/>
          <p:cNvSpPr>
            <a:spLocks noChangeArrowheads="1"/>
          </p:cNvSpPr>
          <p:nvPr/>
        </p:nvSpPr>
        <p:spPr bwMode="gray">
          <a:xfrm>
            <a:off x="2846388" y="0"/>
            <a:ext cx="1128712" cy="303213"/>
          </a:xfrm>
          <a:prstGeom prst="rect">
            <a:avLst/>
          </a:prstGeom>
          <a:solidFill>
            <a:srgbClr val="FFFFFF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7" name="Rectangle 33"/>
          <p:cNvSpPr>
            <a:spLocks noChangeArrowheads="1"/>
          </p:cNvSpPr>
          <p:nvPr/>
        </p:nvSpPr>
        <p:spPr bwMode="gray">
          <a:xfrm>
            <a:off x="2852738" y="3703638"/>
            <a:ext cx="1120775" cy="809625"/>
          </a:xfrm>
          <a:prstGeom prst="rect">
            <a:avLst/>
          </a:prstGeom>
          <a:solidFill>
            <a:srgbClr val="FFFFFF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8" name="Rectangle 34"/>
          <p:cNvSpPr>
            <a:spLocks noChangeArrowheads="1"/>
          </p:cNvSpPr>
          <p:nvPr/>
        </p:nvSpPr>
        <p:spPr bwMode="gray">
          <a:xfrm>
            <a:off x="6300788" y="1174750"/>
            <a:ext cx="1120775" cy="809625"/>
          </a:xfrm>
          <a:prstGeom prst="rect">
            <a:avLst/>
          </a:prstGeom>
          <a:solidFill>
            <a:srgbClr val="FFFFFF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9" name="Rectangle 3"/>
          <p:cNvSpPr>
            <a:spLocks noGrp="1" noChangeArrowheads="1"/>
          </p:cNvSpPr>
          <p:nvPr>
            <p:ph type="body" idx="1"/>
          </p:nvPr>
        </p:nvSpPr>
        <p:spPr bwMode="gray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www.themegallery.com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3FECE39-8918-40C1-8D92-AA0F5C63804D}" type="slidenum">
              <a:rPr lang="zh-CN" altLang="en-US"/>
            </a:fld>
            <a:endParaRPr lang="en-US" altLang="zh-CN"/>
          </a:p>
        </p:txBody>
      </p:sp>
      <p:sp>
        <p:nvSpPr>
          <p:cNvPr id="1060" name="Freeform 36"/>
          <p:cNvSpPr/>
          <p:nvPr/>
        </p:nvSpPr>
        <p:spPr bwMode="gray">
          <a:xfrm>
            <a:off x="4041775" y="0"/>
            <a:ext cx="5105400" cy="555625"/>
          </a:xfrm>
          <a:custGeom>
            <a:avLst/>
            <a:gdLst>
              <a:gd name="T0" fmla="*/ 5105400 w 3130"/>
              <a:gd name="T1" fmla="*/ 555625 h 453"/>
              <a:gd name="T2" fmla="*/ 5105400 w 3130"/>
              <a:gd name="T3" fmla="*/ 0 h 453"/>
              <a:gd name="T4" fmla="*/ 0 w 3130"/>
              <a:gd name="T5" fmla="*/ 0 h 453"/>
              <a:gd name="T6" fmla="*/ 5105400 w 3130"/>
              <a:gd name="T7" fmla="*/ 555625 h 45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130" h="453">
                <a:moveTo>
                  <a:pt x="3130" y="453"/>
                </a:moveTo>
                <a:cubicBezTo>
                  <a:pt x="3130" y="226"/>
                  <a:pt x="3130" y="0"/>
                  <a:pt x="3130" y="0"/>
                </a:cubicBezTo>
                <a:lnTo>
                  <a:pt x="0" y="0"/>
                </a:lnTo>
                <a:cubicBezTo>
                  <a:pt x="0" y="0"/>
                  <a:pt x="1298" y="389"/>
                  <a:pt x="3130" y="453"/>
                </a:cubicBezTo>
                <a:close/>
              </a:path>
            </a:pathLst>
          </a:cu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black">
          <a:xfrm>
            <a:off x="457200" y="244475"/>
            <a:ext cx="8229600" cy="695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FFFFFF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pic>
        <p:nvPicPr>
          <p:cNvPr id="1055" name="Picture 37" descr="water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09" t="16374" b="27486"/>
          <a:stretch>
            <a:fillRect/>
          </a:stretch>
        </p:blipFill>
        <p:spPr bwMode="gray">
          <a:xfrm rot="786797">
            <a:off x="6629400" y="-285750"/>
            <a:ext cx="2417763" cy="1497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6" name="Picture 38" descr="3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 rot="20740733" flipH="1">
            <a:off x="49213" y="4294188"/>
            <a:ext cx="1223962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1000" fill="hold"/>
                                        <p:tgtEl>
                                          <p:spTgt spid="10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10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1000" fill="hold"/>
                                        <p:tgtEl>
                                          <p:spTgt spid="10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mph" presetSubtype="2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100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24" dur="100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100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3" grpId="0" animBg="1"/>
      <p:bldP spid="1060" grpId="0" animBg="1"/>
      <p:bldP spid="1026" grpId="0"/>
    </p:bldLst>
  </p:timing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1" name="Rectangle 17"/>
          <p:cNvSpPr>
            <a:spLocks noChangeArrowheads="1"/>
          </p:cNvSpPr>
          <p:nvPr/>
        </p:nvSpPr>
        <p:spPr bwMode="auto">
          <a:xfrm>
            <a:off x="1066800" y="1275606"/>
            <a:ext cx="7042150" cy="900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8580" tIns="34290" rIns="68580" bIns="34290">
            <a:spAutoFit/>
          </a:bodyPr>
          <a:lstStyle/>
          <a:p>
            <a:pPr algn="ctr" defTabSz="685800">
              <a:defRPr/>
            </a:pPr>
            <a:r>
              <a:rPr lang="zh-CN" altLang="en-US" sz="5400" dirty="0">
                <a:solidFill>
                  <a:srgbClr val="00B05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通信工程制图</a:t>
            </a:r>
            <a:endParaRPr lang="zh-CN" altLang="en-US" sz="5400" dirty="0">
              <a:solidFill>
                <a:srgbClr val="00B05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advTm="2515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图框的绘制及图纸输出设置</a:t>
            </a:r>
            <a:endParaRPr lang="zh-CN" altLang="en-US" sz="3200" dirty="0"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18439" name="Text Box 35"/>
          <p:cNvSpPr txBox="1">
            <a:spLocks noChangeArrowheads="1"/>
          </p:cNvSpPr>
          <p:nvPr/>
        </p:nvSpPr>
        <p:spPr bwMode="auto">
          <a:xfrm>
            <a:off x="1660525" y="541338"/>
            <a:ext cx="184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18435" name="Group 3"/>
          <p:cNvGrpSpPr/>
          <p:nvPr/>
        </p:nvGrpSpPr>
        <p:grpSpPr bwMode="auto">
          <a:xfrm>
            <a:off x="2021840" y="3055582"/>
            <a:ext cx="4791499" cy="537169"/>
            <a:chOff x="1152" y="1272"/>
            <a:chExt cx="3408" cy="451"/>
          </a:xfrm>
        </p:grpSpPr>
        <p:grpSp>
          <p:nvGrpSpPr>
            <p:cNvPr id="18462" name="Group 4"/>
            <p:cNvGrpSpPr/>
            <p:nvPr/>
          </p:nvGrpSpPr>
          <p:grpSpPr bwMode="auto">
            <a:xfrm>
              <a:off x="1152" y="1275"/>
              <a:ext cx="480" cy="419"/>
              <a:chOff x="1110" y="2656"/>
              <a:chExt cx="1549" cy="1351"/>
            </a:xfrm>
          </p:grpSpPr>
          <p:sp>
            <p:nvSpPr>
              <p:cNvPr id="18466" name="AutoShape 5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18467" name="AutoShape 6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6087" name="AutoShape 7"/>
              <p:cNvSpPr>
                <a:spLocks noChangeArrowheads="1"/>
              </p:cNvSpPr>
              <p:nvPr/>
            </p:nvSpPr>
            <p:spPr bwMode="gray">
              <a:xfrm>
                <a:off x="1201" y="2737"/>
                <a:ext cx="1348" cy="1169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sp>
          <p:nvSpPr>
            <p:cNvPr id="18463" name="Line 8"/>
            <p:cNvSpPr>
              <a:spLocks noChangeShapeType="1"/>
            </p:cNvSpPr>
            <p:nvPr/>
          </p:nvSpPr>
          <p:spPr bwMode="auto">
            <a:xfrm>
              <a:off x="1536" y="1659"/>
              <a:ext cx="3024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prstDash val="sysDot"/>
              <a:rou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64" name="Text Box 9"/>
            <p:cNvSpPr txBox="1">
              <a:spLocks noChangeArrowheads="1"/>
            </p:cNvSpPr>
            <p:nvPr/>
          </p:nvSpPr>
          <p:spPr bwMode="auto">
            <a:xfrm>
              <a:off x="1818" y="1272"/>
              <a:ext cx="2568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zh-CN" altLang="en-US" sz="2400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图层的新建与修改（</a:t>
              </a:r>
              <a:r>
                <a:rPr lang="en-US" altLang="zh-CN" sz="2400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LA</a:t>
              </a:r>
              <a:r>
                <a:rPr lang="zh-CN" altLang="en-US" sz="2400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）</a:t>
              </a:r>
              <a:endParaRPr lang="zh-CN" altLang="en-US" sz="24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endParaRPr>
            </a:p>
          </p:txBody>
        </p:sp>
        <p:sp>
          <p:nvSpPr>
            <p:cNvPr id="18465" name="Text Box 10"/>
            <p:cNvSpPr txBox="1">
              <a:spLocks noChangeArrowheads="1"/>
            </p:cNvSpPr>
            <p:nvPr/>
          </p:nvSpPr>
          <p:spPr bwMode="gray">
            <a:xfrm>
              <a:off x="1260" y="1337"/>
              <a:ext cx="254" cy="3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5</a:t>
              </a:r>
              <a:endParaRPr lang="en-US" altLang="zh-CN" sz="2400" b="1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18436" name="Group 11"/>
          <p:cNvGrpSpPr/>
          <p:nvPr/>
        </p:nvGrpSpPr>
        <p:grpSpPr bwMode="auto">
          <a:xfrm>
            <a:off x="2000885" y="1514556"/>
            <a:ext cx="4791075" cy="555582"/>
            <a:chOff x="1152" y="1834"/>
            <a:chExt cx="3408" cy="466"/>
          </a:xfrm>
        </p:grpSpPr>
        <p:grpSp>
          <p:nvGrpSpPr>
            <p:cNvPr id="18455" name="Group 12"/>
            <p:cNvGrpSpPr/>
            <p:nvPr/>
          </p:nvGrpSpPr>
          <p:grpSpPr bwMode="auto">
            <a:xfrm>
              <a:off x="1152" y="1851"/>
              <a:ext cx="480" cy="419"/>
              <a:chOff x="3174" y="2656"/>
              <a:chExt cx="1549" cy="1351"/>
            </a:xfrm>
          </p:grpSpPr>
          <p:sp>
            <p:nvSpPr>
              <p:cNvPr id="18459" name="AutoShape 13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18460" name="AutoShape 14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6095" name="AutoShape 15"/>
              <p:cNvSpPr>
                <a:spLocks noChangeArrowheads="1"/>
              </p:cNvSpPr>
              <p:nvPr/>
            </p:nvSpPr>
            <p:spPr bwMode="gray">
              <a:xfrm>
                <a:off x="3265" y="2739"/>
                <a:ext cx="1348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sp>
          <p:nvSpPr>
            <p:cNvPr id="18456" name="Line 16"/>
            <p:cNvSpPr>
              <a:spLocks noChangeShapeType="1"/>
            </p:cNvSpPr>
            <p:nvPr/>
          </p:nvSpPr>
          <p:spPr bwMode="auto">
            <a:xfrm>
              <a:off x="1536" y="2235"/>
              <a:ext cx="3024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prstDash val="sysDot"/>
              <a:rou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7" name="Text Box 17"/>
            <p:cNvSpPr txBox="1">
              <a:spLocks noChangeArrowheads="1"/>
            </p:cNvSpPr>
            <p:nvPr/>
          </p:nvSpPr>
          <p:spPr bwMode="auto">
            <a:xfrm>
              <a:off x="1793" y="1834"/>
              <a:ext cx="2321" cy="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zh-CN" altLang="en-US" sz="2400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删除、复制、粘贴命令</a:t>
              </a:r>
              <a:endParaRPr lang="zh-CN" altLang="en-US" sz="24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8458" name="Text Box 18"/>
            <p:cNvSpPr txBox="1">
              <a:spLocks noChangeArrowheads="1"/>
            </p:cNvSpPr>
            <p:nvPr/>
          </p:nvSpPr>
          <p:spPr bwMode="gray">
            <a:xfrm>
              <a:off x="1259" y="1913"/>
              <a:ext cx="256" cy="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2400" b="1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18437" name="Group 19"/>
          <p:cNvGrpSpPr/>
          <p:nvPr/>
        </p:nvGrpSpPr>
        <p:grpSpPr bwMode="auto">
          <a:xfrm>
            <a:off x="2016760" y="2039026"/>
            <a:ext cx="4791075" cy="539708"/>
            <a:chOff x="1152" y="2409"/>
            <a:chExt cx="3408" cy="454"/>
          </a:xfrm>
        </p:grpSpPr>
        <p:grpSp>
          <p:nvGrpSpPr>
            <p:cNvPr id="18448" name="Group 20"/>
            <p:cNvGrpSpPr/>
            <p:nvPr/>
          </p:nvGrpSpPr>
          <p:grpSpPr bwMode="auto">
            <a:xfrm>
              <a:off x="1152" y="2413"/>
              <a:ext cx="480" cy="419"/>
              <a:chOff x="1110" y="2656"/>
              <a:chExt cx="1549" cy="1351"/>
            </a:xfrm>
          </p:grpSpPr>
          <p:sp>
            <p:nvSpPr>
              <p:cNvPr id="18452" name="AutoShape 21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18453" name="AutoShape 22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6103" name="AutoShape 23"/>
              <p:cNvSpPr>
                <a:spLocks noChangeArrowheads="1"/>
              </p:cNvSpPr>
              <p:nvPr/>
            </p:nvSpPr>
            <p:spPr bwMode="gray">
              <a:xfrm>
                <a:off x="1201" y="2738"/>
                <a:ext cx="1348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sp>
          <p:nvSpPr>
            <p:cNvPr id="18449" name="Line 24"/>
            <p:cNvSpPr>
              <a:spLocks noChangeShapeType="1"/>
            </p:cNvSpPr>
            <p:nvPr/>
          </p:nvSpPr>
          <p:spPr bwMode="auto">
            <a:xfrm>
              <a:off x="1536" y="2797"/>
              <a:ext cx="3024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prstDash val="sysDot"/>
              <a:rou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0" name="Text Box 25"/>
            <p:cNvSpPr txBox="1">
              <a:spLocks noChangeArrowheads="1"/>
            </p:cNvSpPr>
            <p:nvPr/>
          </p:nvSpPr>
          <p:spPr bwMode="auto">
            <a:xfrm>
              <a:off x="1818" y="2409"/>
              <a:ext cx="1445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zh-CN" altLang="en-US" sz="2400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其他线的绘制</a:t>
              </a:r>
              <a:endParaRPr lang="zh-CN" altLang="en-US" sz="24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endParaRPr>
            </a:p>
          </p:txBody>
        </p:sp>
        <p:sp>
          <p:nvSpPr>
            <p:cNvPr id="18451" name="Text Box 26"/>
            <p:cNvSpPr txBox="1">
              <a:spLocks noChangeArrowheads="1"/>
            </p:cNvSpPr>
            <p:nvPr/>
          </p:nvSpPr>
          <p:spPr bwMode="gray">
            <a:xfrm>
              <a:off x="1259" y="2475"/>
              <a:ext cx="256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2400" b="1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18438" name="Group 27"/>
          <p:cNvGrpSpPr/>
          <p:nvPr/>
        </p:nvGrpSpPr>
        <p:grpSpPr bwMode="auto">
          <a:xfrm>
            <a:off x="2021840" y="3557828"/>
            <a:ext cx="4791075" cy="549868"/>
            <a:chOff x="1152" y="2976"/>
            <a:chExt cx="3408" cy="462"/>
          </a:xfrm>
        </p:grpSpPr>
        <p:grpSp>
          <p:nvGrpSpPr>
            <p:cNvPr id="18441" name="Group 28"/>
            <p:cNvGrpSpPr/>
            <p:nvPr/>
          </p:nvGrpSpPr>
          <p:grpSpPr bwMode="auto">
            <a:xfrm>
              <a:off x="1152" y="2989"/>
              <a:ext cx="480" cy="419"/>
              <a:chOff x="3174" y="2656"/>
              <a:chExt cx="1549" cy="1351"/>
            </a:xfrm>
          </p:grpSpPr>
          <p:sp>
            <p:nvSpPr>
              <p:cNvPr id="18445" name="AutoShape 29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18446" name="AutoShape 30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6111" name="AutoShape 31"/>
              <p:cNvSpPr>
                <a:spLocks noChangeArrowheads="1"/>
              </p:cNvSpPr>
              <p:nvPr/>
            </p:nvSpPr>
            <p:spPr bwMode="gray">
              <a:xfrm>
                <a:off x="3265" y="2739"/>
                <a:ext cx="1348" cy="1166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sp>
          <p:nvSpPr>
            <p:cNvPr id="18442" name="Line 32"/>
            <p:cNvSpPr>
              <a:spLocks noChangeShapeType="1"/>
            </p:cNvSpPr>
            <p:nvPr/>
          </p:nvSpPr>
          <p:spPr bwMode="auto">
            <a:xfrm>
              <a:off x="1536" y="3373"/>
              <a:ext cx="3024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prstDash val="sysDot"/>
              <a:rou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3" name="Text Box 33"/>
            <p:cNvSpPr txBox="1">
              <a:spLocks noChangeArrowheads="1"/>
            </p:cNvSpPr>
            <p:nvPr/>
          </p:nvSpPr>
          <p:spPr bwMode="auto">
            <a:xfrm>
              <a:off x="1818" y="2976"/>
              <a:ext cx="1664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zh-CN" altLang="en-US" sz="2400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直线的快速画法</a:t>
              </a:r>
              <a:endParaRPr lang="zh-CN" altLang="en-US" sz="24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8444" name="Text Box 34"/>
            <p:cNvSpPr txBox="1">
              <a:spLocks noChangeArrowheads="1"/>
            </p:cNvSpPr>
            <p:nvPr/>
          </p:nvSpPr>
          <p:spPr bwMode="gray">
            <a:xfrm>
              <a:off x="1260" y="3051"/>
              <a:ext cx="254" cy="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6</a:t>
              </a:r>
              <a:endParaRPr lang="en-US" altLang="zh-CN" sz="2400" b="1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10" name="Group 27"/>
          <p:cNvGrpSpPr/>
          <p:nvPr/>
        </p:nvGrpSpPr>
        <p:grpSpPr bwMode="auto">
          <a:xfrm>
            <a:off x="2007870" y="2550161"/>
            <a:ext cx="4791299" cy="551137"/>
            <a:chOff x="1152" y="2976"/>
            <a:chExt cx="3408" cy="463"/>
          </a:xfrm>
        </p:grpSpPr>
        <p:grpSp>
          <p:nvGrpSpPr>
            <p:cNvPr id="11" name="Group 28"/>
            <p:cNvGrpSpPr/>
            <p:nvPr/>
          </p:nvGrpSpPr>
          <p:grpSpPr bwMode="auto">
            <a:xfrm>
              <a:off x="1152" y="2989"/>
              <a:ext cx="480" cy="419"/>
              <a:chOff x="3174" y="2656"/>
              <a:chExt cx="1549" cy="1351"/>
            </a:xfrm>
          </p:grpSpPr>
          <p:sp>
            <p:nvSpPr>
              <p:cNvPr id="12" name="AutoShape 29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13" name="AutoShape 30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14" name="AutoShape 31"/>
              <p:cNvSpPr>
                <a:spLocks noChangeArrowheads="1"/>
              </p:cNvSpPr>
              <p:nvPr/>
            </p:nvSpPr>
            <p:spPr bwMode="gray">
              <a:xfrm>
                <a:off x="3265" y="2739"/>
                <a:ext cx="1348" cy="1166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sp>
          <p:nvSpPr>
            <p:cNvPr id="15" name="Line 32"/>
            <p:cNvSpPr>
              <a:spLocks noChangeShapeType="1"/>
            </p:cNvSpPr>
            <p:nvPr/>
          </p:nvSpPr>
          <p:spPr bwMode="auto">
            <a:xfrm>
              <a:off x="1536" y="3373"/>
              <a:ext cx="3024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prstDash val="sysDot"/>
              <a:rou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Text Box 33"/>
            <p:cNvSpPr txBox="1">
              <a:spLocks noChangeArrowheads="1"/>
            </p:cNvSpPr>
            <p:nvPr/>
          </p:nvSpPr>
          <p:spPr bwMode="auto">
            <a:xfrm>
              <a:off x="1818" y="2976"/>
              <a:ext cx="2676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zh-CN" altLang="en-US" sz="2400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矩形（</a:t>
              </a:r>
              <a:r>
                <a:rPr lang="en-US" altLang="zh-CN" sz="2400" dirty="0" err="1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Rectang</a:t>
              </a:r>
              <a:r>
                <a:rPr lang="en-US" altLang="zh-CN" sz="2400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/REC</a:t>
              </a:r>
              <a:r>
                <a:rPr lang="zh-CN" altLang="en-US" sz="2400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）命令</a:t>
              </a:r>
              <a:endParaRPr lang="zh-CN" altLang="en-US" sz="24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endParaRPr>
            </a:p>
          </p:txBody>
        </p:sp>
        <p:sp>
          <p:nvSpPr>
            <p:cNvPr id="17" name="Text Box 34"/>
            <p:cNvSpPr txBox="1">
              <a:spLocks noChangeArrowheads="1"/>
            </p:cNvSpPr>
            <p:nvPr/>
          </p:nvSpPr>
          <p:spPr bwMode="gray">
            <a:xfrm>
              <a:off x="1259" y="3051"/>
              <a:ext cx="256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4</a:t>
              </a:r>
              <a:endParaRPr lang="en-US" altLang="zh-CN" sz="2400" b="1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18" name="Group 3"/>
          <p:cNvGrpSpPr/>
          <p:nvPr/>
        </p:nvGrpSpPr>
        <p:grpSpPr bwMode="auto">
          <a:xfrm>
            <a:off x="1998980" y="1035803"/>
            <a:ext cx="5079365" cy="535899"/>
            <a:chOff x="1152" y="1275"/>
            <a:chExt cx="3613" cy="450"/>
          </a:xfrm>
        </p:grpSpPr>
        <p:grpSp>
          <p:nvGrpSpPr>
            <p:cNvPr id="19" name="Group 4"/>
            <p:cNvGrpSpPr/>
            <p:nvPr/>
          </p:nvGrpSpPr>
          <p:grpSpPr bwMode="auto">
            <a:xfrm>
              <a:off x="1152" y="1275"/>
              <a:ext cx="480" cy="419"/>
              <a:chOff x="1110" y="2656"/>
              <a:chExt cx="1549" cy="1351"/>
            </a:xfrm>
          </p:grpSpPr>
          <p:sp>
            <p:nvSpPr>
              <p:cNvPr id="20" name="AutoShape 5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1" name="AutoShape 6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2" name="AutoShape 7"/>
              <p:cNvSpPr>
                <a:spLocks noChangeArrowheads="1"/>
              </p:cNvSpPr>
              <p:nvPr/>
            </p:nvSpPr>
            <p:spPr bwMode="gray">
              <a:xfrm>
                <a:off x="1201" y="2737"/>
                <a:ext cx="1348" cy="1169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sp>
          <p:nvSpPr>
            <p:cNvPr id="23" name="Line 8"/>
            <p:cNvSpPr>
              <a:spLocks noChangeShapeType="1"/>
            </p:cNvSpPr>
            <p:nvPr/>
          </p:nvSpPr>
          <p:spPr bwMode="auto">
            <a:xfrm>
              <a:off x="1536" y="1659"/>
              <a:ext cx="3024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prstDash val="sysDot"/>
              <a:rou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Text Box 9"/>
            <p:cNvSpPr txBox="1">
              <a:spLocks noChangeArrowheads="1"/>
            </p:cNvSpPr>
            <p:nvPr/>
          </p:nvSpPr>
          <p:spPr bwMode="auto">
            <a:xfrm>
              <a:off x="1794" y="1295"/>
              <a:ext cx="2971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zh-CN" altLang="en-US" sz="2400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夹点、对象捕捉点的功能</a:t>
              </a:r>
              <a:endParaRPr lang="zh-CN" altLang="en-US" sz="24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5" name="Text Box 10"/>
            <p:cNvSpPr txBox="1">
              <a:spLocks noChangeArrowheads="1"/>
            </p:cNvSpPr>
            <p:nvPr/>
          </p:nvSpPr>
          <p:spPr bwMode="gray">
            <a:xfrm>
              <a:off x="1275" y="1337"/>
              <a:ext cx="224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2400" b="1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2" name="Group 3"/>
          <p:cNvGrpSpPr/>
          <p:nvPr/>
        </p:nvGrpSpPr>
        <p:grpSpPr bwMode="auto">
          <a:xfrm>
            <a:off x="2064777" y="4065417"/>
            <a:ext cx="4791499" cy="537169"/>
            <a:chOff x="1152" y="1272"/>
            <a:chExt cx="3408" cy="451"/>
          </a:xfrm>
        </p:grpSpPr>
        <p:grpSp>
          <p:nvGrpSpPr>
            <p:cNvPr id="3" name="Group 4"/>
            <p:cNvGrpSpPr/>
            <p:nvPr/>
          </p:nvGrpSpPr>
          <p:grpSpPr bwMode="auto">
            <a:xfrm>
              <a:off x="1152" y="1275"/>
              <a:ext cx="480" cy="419"/>
              <a:chOff x="1110" y="2656"/>
              <a:chExt cx="1549" cy="1351"/>
            </a:xfrm>
          </p:grpSpPr>
          <p:sp>
            <p:nvSpPr>
              <p:cNvPr id="7" name="AutoShape 5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8" name="AutoShape 6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9" name="AutoShape 7"/>
              <p:cNvSpPr>
                <a:spLocks noChangeArrowheads="1"/>
              </p:cNvSpPr>
              <p:nvPr/>
            </p:nvSpPr>
            <p:spPr bwMode="gray">
              <a:xfrm>
                <a:off x="1201" y="2737"/>
                <a:ext cx="1348" cy="1169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sp>
          <p:nvSpPr>
            <p:cNvPr id="4" name="Line 8"/>
            <p:cNvSpPr>
              <a:spLocks noChangeShapeType="1"/>
            </p:cNvSpPr>
            <p:nvPr/>
          </p:nvSpPr>
          <p:spPr bwMode="auto">
            <a:xfrm>
              <a:off x="1536" y="1659"/>
              <a:ext cx="3024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prstDash val="sysDot"/>
              <a:rou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" name="Text Box 9"/>
            <p:cNvSpPr txBox="1">
              <a:spLocks noChangeArrowheads="1"/>
            </p:cNvSpPr>
            <p:nvPr/>
          </p:nvSpPr>
          <p:spPr bwMode="auto">
            <a:xfrm>
              <a:off x="1818" y="1272"/>
              <a:ext cx="1226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zh-CN" altLang="en-US" sz="2400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图框的绘制</a:t>
              </a:r>
              <a:endParaRPr lang="zh-CN" altLang="en-US" sz="24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endParaRPr>
            </a:p>
          </p:txBody>
        </p:sp>
        <p:sp>
          <p:nvSpPr>
            <p:cNvPr id="6" name="Text Box 10"/>
            <p:cNvSpPr txBox="1">
              <a:spLocks noChangeArrowheads="1"/>
            </p:cNvSpPr>
            <p:nvPr/>
          </p:nvSpPr>
          <p:spPr bwMode="gray">
            <a:xfrm>
              <a:off x="1260" y="1337"/>
              <a:ext cx="254" cy="3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 dirty="0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</a:t>
              </a:r>
              <a:endParaRPr lang="en-US" altLang="zh-CN" sz="24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27" name="Group 27"/>
          <p:cNvGrpSpPr/>
          <p:nvPr/>
        </p:nvGrpSpPr>
        <p:grpSpPr bwMode="auto">
          <a:xfrm>
            <a:off x="2064777" y="4567663"/>
            <a:ext cx="4791075" cy="549868"/>
            <a:chOff x="1152" y="2976"/>
            <a:chExt cx="3408" cy="462"/>
          </a:xfrm>
        </p:grpSpPr>
        <p:grpSp>
          <p:nvGrpSpPr>
            <p:cNvPr id="28" name="Group 28"/>
            <p:cNvGrpSpPr/>
            <p:nvPr/>
          </p:nvGrpSpPr>
          <p:grpSpPr bwMode="auto">
            <a:xfrm>
              <a:off x="1152" y="2989"/>
              <a:ext cx="480" cy="419"/>
              <a:chOff x="3174" y="2656"/>
              <a:chExt cx="1549" cy="1351"/>
            </a:xfrm>
          </p:grpSpPr>
          <p:sp>
            <p:nvSpPr>
              <p:cNvPr id="18432" name="AutoShape 29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18433" name="AutoShape 30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18440" name="AutoShape 31"/>
              <p:cNvSpPr>
                <a:spLocks noChangeArrowheads="1"/>
              </p:cNvSpPr>
              <p:nvPr/>
            </p:nvSpPr>
            <p:spPr bwMode="gray">
              <a:xfrm>
                <a:off x="3265" y="2739"/>
                <a:ext cx="1348" cy="1166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sp>
          <p:nvSpPr>
            <p:cNvPr id="29" name="Line 32"/>
            <p:cNvSpPr>
              <a:spLocks noChangeShapeType="1"/>
            </p:cNvSpPr>
            <p:nvPr/>
          </p:nvSpPr>
          <p:spPr bwMode="auto">
            <a:xfrm>
              <a:off x="1536" y="3373"/>
              <a:ext cx="3024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prstDash val="sysDot"/>
              <a:rou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Text Box 33"/>
            <p:cNvSpPr txBox="1">
              <a:spLocks noChangeArrowheads="1"/>
            </p:cNvSpPr>
            <p:nvPr/>
          </p:nvSpPr>
          <p:spPr bwMode="auto">
            <a:xfrm>
              <a:off x="1818" y="2976"/>
              <a:ext cx="1445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zh-CN" altLang="en-US" sz="2400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图纸输出设置</a:t>
              </a:r>
              <a:endParaRPr lang="zh-CN" altLang="en-US" sz="24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1" name="Text Box 34"/>
            <p:cNvSpPr txBox="1">
              <a:spLocks noChangeArrowheads="1"/>
            </p:cNvSpPr>
            <p:nvPr/>
          </p:nvSpPr>
          <p:spPr bwMode="gray">
            <a:xfrm>
              <a:off x="1260" y="3051"/>
              <a:ext cx="254" cy="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 dirty="0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8</a:t>
              </a:r>
              <a:endParaRPr lang="en-US" altLang="zh-CN" sz="24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267970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en-US" altLang="zh-CN" sz="32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32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、夹点、对象捕捉点的功能</a:t>
            </a:r>
            <a:endParaRPr lang="zh-CN" altLang="en-US" sz="3200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7544" y="938753"/>
            <a:ext cx="8421370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dirty="0"/>
              <a:t>1. </a:t>
            </a:r>
            <a:r>
              <a:rPr lang="zh-CN" altLang="en-US" sz="1600" dirty="0"/>
              <a:t>对象夹点</a:t>
            </a:r>
            <a:endParaRPr lang="zh-CN" altLang="en-US" sz="1600" dirty="0"/>
          </a:p>
        </p:txBody>
      </p:sp>
      <p:pic>
        <p:nvPicPr>
          <p:cNvPr id="2057" name="图片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347614"/>
            <a:ext cx="5583238" cy="101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本框 9"/>
          <p:cNvSpPr txBox="1"/>
          <p:nvPr/>
        </p:nvSpPr>
        <p:spPr>
          <a:xfrm>
            <a:off x="555922" y="2389535"/>
            <a:ext cx="7832502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>
              <a:defRPr sz="1600"/>
            </a:lvl1pPr>
          </a:lstStyle>
          <a:p>
            <a:r>
              <a:rPr lang="zh-CN" altLang="zh-CN" dirty="0"/>
              <a:t>在选中对象的时候，会出现蓝色的对象夹点，光标靠近某个夹点时（注意不要单击鼠标），会显示绿色，称为对象夹点的预选点（可理解为软件在询问你是否选择此点），左击预选点会选中要操作的夹点，此时夹点的颜色为红色，如图</a:t>
            </a:r>
            <a:r>
              <a:rPr lang="en-US" altLang="zh-CN" dirty="0"/>
              <a:t>3-4</a:t>
            </a:r>
            <a:r>
              <a:rPr lang="zh-CN" altLang="zh-CN" dirty="0"/>
              <a:t>所示。</a:t>
            </a:r>
            <a:endParaRPr lang="zh-CN" altLang="en-US" dirty="0"/>
          </a:p>
        </p:txBody>
      </p:sp>
      <p:pic>
        <p:nvPicPr>
          <p:cNvPr id="2058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3579862"/>
            <a:ext cx="3919538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267970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en-US" altLang="zh-CN" sz="32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32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、夹点、对象捕捉点的功能</a:t>
            </a:r>
            <a:endParaRPr lang="zh-CN" altLang="en-US" sz="3200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7544" y="938753"/>
            <a:ext cx="8421370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dirty="0"/>
              <a:t>2. </a:t>
            </a:r>
            <a:r>
              <a:rPr lang="zh-CN" altLang="en-US" sz="1600" dirty="0"/>
              <a:t>对象捕捉点</a:t>
            </a:r>
            <a:endParaRPr lang="zh-CN" altLang="en-US" sz="16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2303182"/>
            <a:ext cx="1881188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1108030"/>
            <a:ext cx="3600450" cy="310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267970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en-US" altLang="zh-CN" sz="32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32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、删除、复制、粘贴命令</a:t>
            </a:r>
            <a:endParaRPr lang="zh-CN" altLang="en-US" sz="3200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539750" y="771525"/>
            <a:ext cx="8401050" cy="38779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删除命令（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Erase/E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或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DEL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键）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50000"/>
              </a:lnSpc>
            </a:pP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删除命令用于擦除绘图区域内指定的对象。可以使用以下四种方法来激活删除命令：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"/>
            </a:pP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在【修改】工具栏上单击删除图标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"/>
            </a:pP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在【修改】菜单上选择【删除】选项。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"/>
            </a:pP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在命令行输入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或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ERASE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 algn="just">
              <a:lnSpc>
                <a:spcPct val="150000"/>
              </a:lnSpc>
            </a:pPr>
            <a:r>
              <a:rPr lang="en-US" altLang="zh-CN" sz="1200" kern="100" dirty="0">
                <a:latin typeface="Times New Roman" panose="02020603050405020304" pitchFamily="18" charset="0"/>
              </a:rPr>
              <a:t>2</a:t>
            </a:r>
            <a:r>
              <a:rPr lang="zh-CN" altLang="en-US" sz="1200" kern="100" dirty="0">
                <a:latin typeface="Times New Roman" panose="02020603050405020304" pitchFamily="18" charset="0"/>
              </a:rPr>
              <a:t>、</a:t>
            </a:r>
            <a:r>
              <a:rPr lang="zh-CN" altLang="zh-CN" sz="1200" kern="100" dirty="0">
                <a:latin typeface="Times New Roman" panose="02020603050405020304" pitchFamily="18" charset="0"/>
              </a:rPr>
              <a:t>复制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及</a:t>
            </a:r>
            <a:r>
              <a:rPr lang="zh-CN" altLang="zh-CN" sz="12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带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基点复制命令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50000"/>
              </a:lnSpc>
            </a:pP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熟练使用复制命令可以帮助工程师加快绘图速度，复制命令的激活方式和删除命令类似，在此不再赘述。复制命令有三种方式：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"/>
            </a:pP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Copy/CP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：只能在一个图形文件中进行多次复制；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"/>
            </a:pPr>
            <a:r>
              <a:rPr lang="en-US" altLang="zh-CN" sz="12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Copyclip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en-US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Ctrl+C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：可在不同图形文件中进行多次复制，基点默认为左下角点；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"/>
            </a:pPr>
            <a:r>
              <a:rPr lang="en-US" altLang="zh-CN" sz="12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Copybase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 Ctrl++</a:t>
            </a:r>
            <a:r>
              <a:rPr lang="en-US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Shift+C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zh-CN" altLang="zh-CN" sz="1200" kern="1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带基点复制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，可选取想要的夹点作为基点复制，可在不同图形文件中进行多次复制。</a:t>
            </a:r>
            <a:endParaRPr lang="en-US" altLang="zh-CN" sz="1200" b="1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 algn="just">
              <a:lnSpc>
                <a:spcPct val="150000"/>
              </a:lnSpc>
            </a:pP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粘贴命令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"/>
            </a:pPr>
            <a:r>
              <a:rPr lang="en-US" altLang="zh-CN" sz="12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Pasteclip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/</a:t>
            </a:r>
            <a:r>
              <a:rPr lang="en-US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Ctrl+V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：粘贴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71450" indent="-171450">
              <a:buFont typeface="Wingdings" panose="05000000000000000000" pitchFamily="2" charset="2"/>
              <a:buChar char="u"/>
            </a:pPr>
            <a:r>
              <a:rPr lang="en-US" altLang="zh-CN" sz="12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sz="12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Pasteblock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/Ctrl++Shift+ V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：粘贴为</a:t>
            </a:r>
            <a:r>
              <a:rPr lang="zh-CN" altLang="zh-CN" sz="12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块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267970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3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、其他线的绘制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12" name="Rectangle 1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3067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16"/>
          <p:cNvSpPr>
            <a:spLocks noChangeArrowheads="1"/>
          </p:cNvSpPr>
          <p:nvPr/>
        </p:nvSpPr>
        <p:spPr bwMode="auto">
          <a:xfrm>
            <a:off x="539750" y="950699"/>
            <a:ext cx="7992888" cy="338124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200" kern="100" dirty="0">
                <a:latin typeface="Times New Roman" panose="02020603050405020304" pitchFamily="18" charset="0"/>
              </a:rPr>
              <a:t>1</a:t>
            </a:r>
            <a:r>
              <a:rPr lang="zh-CN" altLang="en-US" sz="1200" kern="100" dirty="0">
                <a:latin typeface="Times New Roman" panose="02020603050405020304" pitchFamily="18" charset="0"/>
              </a:rPr>
              <a:t>、</a:t>
            </a:r>
            <a:r>
              <a:rPr lang="zh-CN" altLang="zh-CN" sz="1200" kern="100" dirty="0">
                <a:latin typeface="Times New Roman" panose="02020603050405020304" pitchFamily="18" charset="0"/>
              </a:rPr>
              <a:t>射线（</a:t>
            </a:r>
            <a:r>
              <a:rPr lang="en-US" altLang="zh-CN" sz="1200" kern="100" dirty="0">
                <a:latin typeface="Times New Roman" panose="02020603050405020304" pitchFamily="18" charset="0"/>
              </a:rPr>
              <a:t>Ray</a:t>
            </a:r>
            <a:r>
              <a:rPr lang="zh-CN" altLang="en-US" sz="1200" kern="100" dirty="0">
                <a:latin typeface="Times New Roman" panose="02020603050405020304" pitchFamily="18" charset="0"/>
              </a:rPr>
              <a:t>）命令</a:t>
            </a:r>
            <a:endParaRPr lang="zh-CN" altLang="en-US" sz="1200" kern="100" dirty="0">
              <a:latin typeface="Times New Roman" panose="02020603050405020304" pitchFamily="18" charset="0"/>
            </a:endParaRPr>
          </a:p>
          <a:p>
            <a:pPr indent="266700" algn="just">
              <a:lnSpc>
                <a:spcPct val="150000"/>
              </a:lnSpc>
            </a:pPr>
            <a:r>
              <a:rPr lang="zh-CN" altLang="en-US" sz="1200" kern="100" dirty="0">
                <a:latin typeface="Times New Roman" panose="02020603050405020304" pitchFamily="18" charset="0"/>
              </a:rPr>
              <a:t>射线命令是用于绘制有一个端点，另一端可无限延伸的辅助线。射命令绘图工具栏中没有快捷图标，可从菜单</a:t>
            </a:r>
            <a:r>
              <a:rPr lang="en-US" altLang="zh-CN" sz="1200" kern="100" dirty="0">
                <a:latin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Times New Roman" panose="02020603050405020304" pitchFamily="18" charset="0"/>
              </a:rPr>
              <a:t>绘图</a:t>
            </a:r>
            <a:r>
              <a:rPr lang="en-US" altLang="zh-CN" sz="1200" kern="100" dirty="0">
                <a:latin typeface="Times New Roman" panose="02020603050405020304" pitchFamily="18" charset="0"/>
              </a:rPr>
              <a:t>】</a:t>
            </a:r>
            <a:r>
              <a:rPr lang="zh-CN" altLang="en-US" sz="1200" kern="100" dirty="0">
                <a:latin typeface="Times New Roman" panose="02020603050405020304" pitchFamily="18" charset="0"/>
              </a:rPr>
              <a:t>或命令行输入的方式打开。使用方法是确定起点→通过点，两点确定一条射线。 </a:t>
            </a:r>
            <a:endParaRPr lang="en-US" altLang="zh-CN" sz="1200" kern="100" dirty="0">
              <a:latin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构造线（</a:t>
            </a:r>
            <a:r>
              <a:rPr lang="en-US" altLang="zh-CN" sz="12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Xline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/XL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）命令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50000"/>
              </a:lnSpc>
            </a:pP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构造线是指在两个方向上可以无限延伸的直线，常用作绘图的辅助线。构造线命令可以绘制一条水平、垂直、具有一定角度、平分某个角或偏移一定距离的构造线。命令栏提示如下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50000"/>
              </a:lnSpc>
            </a:pPr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_</a:t>
            </a:r>
            <a:r>
              <a:rPr lang="en-US" altLang="zh-CN" sz="1200" kern="1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xline</a:t>
            </a:r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指定点或</a:t>
            </a:r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[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水平</a:t>
            </a:r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(H)/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垂直</a:t>
            </a:r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(V)/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角度</a:t>
            </a:r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(A)/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二等分</a:t>
            </a:r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(B)/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偏移</a:t>
            </a:r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(O)]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 algn="just">
              <a:lnSpc>
                <a:spcPct val="150000"/>
              </a:lnSpc>
            </a:pP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样条曲线（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Spline/SPL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）命令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50000"/>
              </a:lnSpc>
            </a:pP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样条曲线是由一组点定义的一条光滑曲线，可以用样条曲线生成一些地形图中的地形线，绘制盘形凸轮的轮廓曲线，作为局部剖面的分界线等。采用样条曲线命令绘制曲线，绘制完后可通过</a:t>
            </a:r>
            <a:r>
              <a:rPr lang="zh-CN" altLang="zh-CN" sz="12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夹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点进行调整。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 algn="just">
              <a:lnSpc>
                <a:spcPct val="150000"/>
              </a:lnSpc>
            </a:pPr>
            <a:r>
              <a:rPr lang="en-US" altLang="zh-CN" sz="12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12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zh-CN" altLang="zh-CN" sz="12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云线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12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Revcloud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）命令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50000"/>
              </a:lnSpc>
            </a:pPr>
            <a:r>
              <a:rPr lang="zh-CN" altLang="zh-CN" sz="1200" kern="100" dirty="0">
                <a:latin typeface="Times New Roman" panose="02020603050405020304" pitchFamily="18" charset="0"/>
              </a:rPr>
              <a:t>云线是由连续圆弧组成的多段线，用于在检查阶段提醒用户注意图形中圈出来的部分。</a:t>
            </a:r>
            <a:endParaRPr lang="zh-CN" altLang="en-US" sz="1200" kern="1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267970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4</a:t>
            </a:r>
            <a:r>
              <a:rPr 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</a:t>
            </a:r>
            <a:r>
              <a:rPr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矩形命令（RECTANG/REC）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323850" y="1059815"/>
            <a:ext cx="861695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261620"/>
            <a:r>
              <a:rPr sz="1600" b="0">
                <a:solidFill>
                  <a:srgbClr val="000000"/>
                </a:solidFill>
                <a:cs typeface="方正宋一简体" charset="0"/>
              </a:rPr>
              <a:t>带有圆角或倒角的矩形可以用【矩形】命令直接绘制，如图3</a:t>
            </a:r>
            <a:r>
              <a:rPr lang="en-US" sz="1600" b="0">
                <a:solidFill>
                  <a:srgbClr val="000000"/>
                </a:solidFill>
                <a:cs typeface="方正宋一简体" charset="0"/>
              </a:rPr>
              <a:t>-</a:t>
            </a:r>
            <a:r>
              <a:rPr sz="1600" b="0">
                <a:solidFill>
                  <a:srgbClr val="000000"/>
                </a:solidFill>
                <a:cs typeface="方正宋一简体" charset="0"/>
              </a:rPr>
              <a:t>7和图3-8所示；也可以先绘制好直角矩形，然后采用【修改】工具栏中的【圆角】和【倒角】命令修改。</a:t>
            </a:r>
            <a:endParaRPr sz="1600" b="0">
              <a:solidFill>
                <a:srgbClr val="000000"/>
              </a:solidFill>
              <a:cs typeface="方正宋一简体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259840" y="2114550"/>
            <a:ext cx="3204210" cy="2214880"/>
            <a:chOff x="1984" y="3330"/>
            <a:chExt cx="5046" cy="3488"/>
          </a:xfrm>
        </p:grpSpPr>
        <p:pic>
          <p:nvPicPr>
            <p:cNvPr id="6" name="图片 -2147482462" descr="3-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84" y="3330"/>
              <a:ext cx="5046" cy="289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" name="文本框 1"/>
            <p:cNvSpPr txBox="1"/>
            <p:nvPr/>
          </p:nvSpPr>
          <p:spPr>
            <a:xfrm>
              <a:off x="4013" y="6238"/>
              <a:ext cx="98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3-7</a:t>
              </a:r>
              <a:endParaRPr lang="en-US" altLang="zh-CN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5436235" y="2114550"/>
            <a:ext cx="2557780" cy="2265680"/>
            <a:chOff x="8561" y="3330"/>
            <a:chExt cx="4028" cy="3568"/>
          </a:xfrm>
        </p:grpSpPr>
        <p:pic>
          <p:nvPicPr>
            <p:cNvPr id="8" name="图片 -2147482461" descr="3-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61" y="3330"/>
              <a:ext cx="4028" cy="290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" name="文本框 3"/>
            <p:cNvSpPr txBox="1"/>
            <p:nvPr/>
          </p:nvSpPr>
          <p:spPr>
            <a:xfrm>
              <a:off x="10152" y="6318"/>
              <a:ext cx="84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3-8</a:t>
              </a:r>
              <a:endParaRPr lang="en-US" altLang="zh-CN"/>
            </a:p>
          </p:txBody>
        </p:sp>
      </p:grp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267970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5</a:t>
            </a:r>
            <a:r>
              <a:rPr lang="zh-CN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</a:t>
            </a:r>
            <a:r>
              <a:rPr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图层特性命令（LA）</a:t>
            </a:r>
            <a:endParaRPr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263525" y="915670"/>
            <a:ext cx="8616950" cy="37846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261620"/>
            <a:r>
              <a:rPr sz="1600" b="0">
                <a:solidFill>
                  <a:srgbClr val="000000"/>
                </a:solidFill>
                <a:cs typeface="方正宋一简体" charset="0"/>
              </a:rPr>
              <a:t>图层是AutoCAD中的主要组织工具，通过创建图层，可以将类型相似的对象绘制到相同的图层上。</a:t>
            </a:r>
            <a:endParaRPr sz="1600" b="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endParaRPr sz="1600" b="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r>
              <a:rPr sz="1600" b="1">
                <a:solidFill>
                  <a:srgbClr val="000000"/>
                </a:solidFill>
                <a:cs typeface="方正宋一简体" charset="0"/>
              </a:rPr>
              <a:t>图层具有以下4个特性，需要好好理解</a:t>
            </a:r>
            <a:r>
              <a:rPr lang="zh-CN" sz="1600" b="1">
                <a:solidFill>
                  <a:srgbClr val="000000"/>
                </a:solidFill>
                <a:cs typeface="方正宋一简体" charset="0"/>
              </a:rPr>
              <a:t>：</a:t>
            </a:r>
            <a:endParaRPr sz="1600" b="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r>
              <a:rPr sz="1600" b="0">
                <a:solidFill>
                  <a:srgbClr val="000000"/>
                </a:solidFill>
                <a:cs typeface="方正宋一简体" charset="0"/>
              </a:rPr>
              <a:t>（1）图层就好像是一张张没有厚度的透明胶片，每一张胶片上都绘制有一部分图形内容，然后把这些胶片完全对齐，就形成了一张完整的图。</a:t>
            </a:r>
            <a:endParaRPr sz="1600" b="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r>
              <a:rPr sz="1600" b="0">
                <a:solidFill>
                  <a:srgbClr val="000000"/>
                </a:solidFill>
                <a:cs typeface="方正宋一简体" charset="0"/>
              </a:rPr>
              <a:t>（2）系统自动定义了一个名为“0”的初始图层，颜色为白色，线型为实线。</a:t>
            </a:r>
            <a:endParaRPr sz="1600" b="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r>
              <a:rPr sz="1600" b="0">
                <a:solidFill>
                  <a:srgbClr val="000000"/>
                </a:solidFill>
                <a:cs typeface="方正宋一简体" charset="0"/>
              </a:rPr>
              <a:t>（3）同一幅图的所有图层都具有相同的坐标系、绘图界面和缩放比例，各图层之间精确地相互对齐。</a:t>
            </a:r>
            <a:endParaRPr sz="1600" b="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r>
              <a:rPr sz="1600" b="0">
                <a:solidFill>
                  <a:srgbClr val="000000"/>
                </a:solidFill>
                <a:cs typeface="方正宋一简体" charset="0"/>
              </a:rPr>
              <a:t>（4）当前作图使用的图层称为当前层，当前层只有一个，可以根据需要进行切换。</a:t>
            </a:r>
            <a:endParaRPr sz="1600" b="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endParaRPr sz="1600" b="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r>
              <a:rPr sz="1600" b="1">
                <a:solidFill>
                  <a:srgbClr val="000000"/>
                </a:solidFill>
                <a:cs typeface="方正宋一简体" charset="0"/>
              </a:rPr>
              <a:t>关于图层的使用，需要注意以下3点。</a:t>
            </a:r>
            <a:endParaRPr sz="1600" b="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r>
              <a:rPr sz="1600" b="0">
                <a:solidFill>
                  <a:srgbClr val="000000"/>
                </a:solidFill>
                <a:cs typeface="方正宋一简体" charset="0"/>
              </a:rPr>
              <a:t>（1）给图层命名时，最好用英文缩写，少用汉字。</a:t>
            </a:r>
            <a:endParaRPr sz="1600" b="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r>
              <a:rPr sz="1600" b="0">
                <a:solidFill>
                  <a:srgbClr val="000000"/>
                </a:solidFill>
                <a:cs typeface="方正宋一简体" charset="0"/>
              </a:rPr>
              <a:t>（2）根据自己的专业需求合理设置图层数量，且宜少不宜多。</a:t>
            </a:r>
            <a:endParaRPr sz="1600" b="0">
              <a:solidFill>
                <a:srgbClr val="000000"/>
              </a:solidFill>
              <a:cs typeface="方正宋一简体" charset="0"/>
            </a:endParaRPr>
          </a:p>
          <a:p>
            <a:pPr marL="0" indent="261620"/>
            <a:r>
              <a:rPr sz="1600" b="0">
                <a:solidFill>
                  <a:srgbClr val="000000"/>
                </a:solidFill>
                <a:cs typeface="方正宋一简体" charset="0"/>
              </a:rPr>
              <a:t>（3）对象属性（颜色、线型、线宽）一律随层，便于修改对象。</a:t>
            </a:r>
            <a:endParaRPr sz="1600" b="0">
              <a:solidFill>
                <a:srgbClr val="000000"/>
              </a:solidFill>
              <a:cs typeface="方正宋一简体" charset="0"/>
            </a:endParaRPr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267970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6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</a:t>
            </a:r>
            <a:r>
              <a:rPr lang="zh-CN" altLang="en-US" sz="32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图框的绘制及图纸输出设置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323850" y="915670"/>
            <a:ext cx="861695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261620"/>
            <a:r>
              <a:rPr lang="zh-CN" sz="2000" b="0">
                <a:solidFill>
                  <a:srgbClr val="000000"/>
                </a:solidFill>
                <a:cs typeface="方正宋一简体" charset="0"/>
              </a:rPr>
              <a:t>（</a:t>
            </a:r>
            <a:r>
              <a:rPr lang="en-US" altLang="zh-CN" sz="2000" b="0">
                <a:solidFill>
                  <a:srgbClr val="000000"/>
                </a:solidFill>
                <a:cs typeface="方正宋一简体" charset="0"/>
              </a:rPr>
              <a:t>1</a:t>
            </a:r>
            <a:r>
              <a:rPr lang="zh-CN" sz="2000" b="0">
                <a:solidFill>
                  <a:srgbClr val="000000"/>
                </a:solidFill>
                <a:cs typeface="方正宋一简体" charset="0"/>
              </a:rPr>
              <a:t>）直线的快速画法</a:t>
            </a:r>
            <a:endParaRPr lang="zh-CN" sz="2000" b="0">
              <a:solidFill>
                <a:srgbClr val="000000"/>
              </a:solidFill>
              <a:cs typeface="方正宋一简体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3940" y="1314450"/>
            <a:ext cx="7559675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259080"/>
            <a:r>
              <a:rPr lang="zh-CN" sz="1600" b="0">
                <a:cs typeface="方正宋三简体" charset="0"/>
              </a:rPr>
              <a:t>1．极轴的设置和使用</a:t>
            </a:r>
            <a:endParaRPr lang="zh-CN" sz="1600" b="0">
              <a:solidFill>
                <a:srgbClr val="000000"/>
              </a:solidFill>
              <a:cs typeface="方正宋一简体" charset="0"/>
            </a:endParaRPr>
          </a:p>
          <a:p>
            <a:pPr marL="0" indent="259080"/>
            <a:r>
              <a:rPr lang="zh-CN" sz="1600" b="0">
                <a:solidFill>
                  <a:srgbClr val="000000"/>
                </a:solidFill>
                <a:cs typeface="方正宋一简体" charset="0"/>
              </a:rPr>
              <a:t>鼠标右键单击状态栏中的【极轴】按钮，如图</a:t>
            </a:r>
            <a:r>
              <a:rPr lang="en-US" sz="1600" b="0">
                <a:solidFill>
                  <a:srgbClr val="000000"/>
                </a:solidFill>
                <a:latin typeface="Times New Roman" panose="02020603050405020304" pitchFamily="18" charset="0"/>
                <a:cs typeface="方正宋一简体" charset="0"/>
              </a:rPr>
              <a:t>3-10</a:t>
            </a:r>
            <a:r>
              <a:rPr lang="zh-CN" sz="1600" b="0">
                <a:solidFill>
                  <a:srgbClr val="000000"/>
                </a:solidFill>
                <a:cs typeface="方正宋一简体" charset="0"/>
              </a:rPr>
              <a:t>所示，打开【草图设置】对话框，如图</a:t>
            </a:r>
            <a:r>
              <a:rPr lang="en-US" sz="1600" b="0">
                <a:solidFill>
                  <a:srgbClr val="000000"/>
                </a:solidFill>
                <a:latin typeface="Times New Roman" panose="02020603050405020304" pitchFamily="18" charset="0"/>
                <a:cs typeface="方正宋一简体" charset="0"/>
              </a:rPr>
              <a:t>3-11</a:t>
            </a:r>
            <a:r>
              <a:rPr lang="zh-CN" sz="1600" b="0">
                <a:solidFill>
                  <a:srgbClr val="000000"/>
                </a:solidFill>
                <a:cs typeface="方正宋一简体" charset="0"/>
              </a:rPr>
              <a:t>所示。</a:t>
            </a:r>
            <a:endParaRPr lang="zh-CN" altLang="en-US" sz="1600" b="0">
              <a:solidFill>
                <a:srgbClr val="000000"/>
              </a:solidFill>
              <a:cs typeface="方正宋一简体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331595" y="3148330"/>
            <a:ext cx="3251200" cy="728345"/>
            <a:chOff x="2097" y="4958"/>
            <a:chExt cx="5120" cy="1147"/>
          </a:xfrm>
        </p:grpSpPr>
        <p:pic>
          <p:nvPicPr>
            <p:cNvPr id="8" name="图片 -214748257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97" y="4958"/>
              <a:ext cx="5120" cy="44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" name="文本框 2"/>
            <p:cNvSpPr txBox="1"/>
            <p:nvPr/>
          </p:nvSpPr>
          <p:spPr>
            <a:xfrm>
              <a:off x="4134" y="5525"/>
              <a:ext cx="1045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3-10</a:t>
              </a:r>
              <a:endParaRPr lang="en-US" altLang="zh-CN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4860290" y="1924050"/>
            <a:ext cx="3086100" cy="3043555"/>
            <a:chOff x="7654" y="3030"/>
            <a:chExt cx="4860" cy="4793"/>
          </a:xfrm>
        </p:grpSpPr>
        <p:pic>
          <p:nvPicPr>
            <p:cNvPr id="9" name="图片 -214748255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54" y="3030"/>
              <a:ext cx="4860" cy="421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" name="文本框 4"/>
            <p:cNvSpPr txBox="1"/>
            <p:nvPr/>
          </p:nvSpPr>
          <p:spPr>
            <a:xfrm>
              <a:off x="9582" y="7243"/>
              <a:ext cx="1025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3-11</a:t>
              </a:r>
              <a:endParaRPr lang="en-US" altLang="zh-CN"/>
            </a:p>
          </p:txBody>
        </p:sp>
      </p:grp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267970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6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</a:t>
            </a:r>
            <a:r>
              <a:rPr lang="zh-CN" altLang="en-US" sz="32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图框的绘制及图纸输出设置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323850" y="915670"/>
            <a:ext cx="861695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261620"/>
            <a:r>
              <a:rPr lang="zh-CN" sz="2000" b="0">
                <a:solidFill>
                  <a:srgbClr val="000000"/>
                </a:solidFill>
                <a:cs typeface="方正宋一简体" charset="0"/>
              </a:rPr>
              <a:t>（</a:t>
            </a:r>
            <a:r>
              <a:rPr lang="en-US" altLang="zh-CN" sz="2000" b="0">
                <a:solidFill>
                  <a:srgbClr val="000000"/>
                </a:solidFill>
                <a:cs typeface="方正宋一简体" charset="0"/>
              </a:rPr>
              <a:t>1</a:t>
            </a:r>
            <a:r>
              <a:rPr lang="zh-CN" sz="2000" b="0">
                <a:solidFill>
                  <a:srgbClr val="000000"/>
                </a:solidFill>
                <a:cs typeface="方正宋一简体" charset="0"/>
              </a:rPr>
              <a:t>）直线的快速画法</a:t>
            </a:r>
            <a:endParaRPr lang="zh-CN" sz="2000" b="0">
              <a:solidFill>
                <a:srgbClr val="000000"/>
              </a:solidFill>
              <a:cs typeface="方正宋一简体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3940" y="1314450"/>
            <a:ext cx="7559675" cy="10763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259080"/>
            <a:r>
              <a:rPr sz="1600">
                <a:solidFill>
                  <a:srgbClr val="000000"/>
                </a:solidFill>
                <a:cs typeface="方正宋一简体" charset="0"/>
                <a:sym typeface="+mn-ea"/>
              </a:rPr>
              <a:t>2．自（FROM）命令</a:t>
            </a:r>
            <a:r>
              <a:rPr sz="1600">
                <a:sym typeface="+mn-ea"/>
              </a:rPr>
              <a:t>为了方便精确定位，AutoCAD提供了多种捕捉方式，打开【草图设置】对话框，打开极轴后，再打开【捕捉】工具栏或按Shift+鼠标右键打开捕捉的快捷菜单时，会发现一个【自】命令，如图3-13所示。它的应用主要有两种：直接用来定位点；在拉伸STRETCH当中的应用。</a:t>
            </a:r>
            <a:endParaRPr lang="zh-CN" altLang="en-US" sz="1600" b="0">
              <a:solidFill>
                <a:srgbClr val="000000"/>
              </a:solidFill>
              <a:cs typeface="方正宋一简体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4211955" y="2428240"/>
            <a:ext cx="963930" cy="2672715"/>
            <a:chOff x="6536" y="3483"/>
            <a:chExt cx="1518" cy="4209"/>
          </a:xfrm>
        </p:grpSpPr>
        <p:pic>
          <p:nvPicPr>
            <p:cNvPr id="10" name="图片 268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536" y="3483"/>
              <a:ext cx="1519" cy="346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" name="文本框 11"/>
            <p:cNvSpPr txBox="1"/>
            <p:nvPr/>
          </p:nvSpPr>
          <p:spPr>
            <a:xfrm>
              <a:off x="6761" y="7112"/>
              <a:ext cx="106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3-13</a:t>
              </a:r>
              <a:endParaRPr lang="en-US" altLang="zh-CN"/>
            </a:p>
          </p:txBody>
        </p:sp>
      </p:grp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267970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6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</a:t>
            </a:r>
            <a:r>
              <a:rPr lang="zh-CN" altLang="en-US" sz="32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图框的绘制及图纸输出设置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323850" y="915670"/>
            <a:ext cx="861695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261620"/>
            <a:r>
              <a:rPr lang="zh-CN" sz="2000" b="0">
                <a:solidFill>
                  <a:srgbClr val="000000"/>
                </a:solidFill>
                <a:cs typeface="方正宋一简体" charset="0"/>
              </a:rPr>
              <a:t>（</a:t>
            </a:r>
            <a:r>
              <a:rPr lang="en-US" altLang="zh-CN" sz="2000" b="0">
                <a:solidFill>
                  <a:srgbClr val="000000"/>
                </a:solidFill>
                <a:cs typeface="方正宋一简体" charset="0"/>
              </a:rPr>
              <a:t>2</a:t>
            </a:r>
            <a:r>
              <a:rPr lang="zh-CN" sz="2000" b="0">
                <a:solidFill>
                  <a:srgbClr val="000000"/>
                </a:solidFill>
                <a:cs typeface="方正宋一简体" charset="0"/>
              </a:rPr>
              <a:t>）图框的绘制</a:t>
            </a:r>
            <a:endParaRPr lang="zh-CN" sz="2000" b="0">
              <a:solidFill>
                <a:srgbClr val="000000"/>
              </a:solidFill>
              <a:cs typeface="方正宋一简体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3940" y="1314450"/>
            <a:ext cx="7559675" cy="20612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259080"/>
            <a:r>
              <a:rPr lang="en-US" sz="1600" b="1">
                <a:sym typeface="+mn-ea"/>
              </a:rPr>
              <a:t>1</a:t>
            </a:r>
            <a:r>
              <a:rPr lang="zh-CN" altLang="en-US" sz="1600" b="1">
                <a:sym typeface="+mn-ea"/>
              </a:rPr>
              <a:t>、</a:t>
            </a:r>
            <a:r>
              <a:rPr sz="1600">
                <a:sym typeface="+mn-ea"/>
              </a:rPr>
              <a:t>纸张大小。通信工程图纸一般采用A4幅面，可用【矩形】命令绘制横向（297mm×210mm）或纵向（210mm×297mm）的A4纸的边框，并放在Defpoints层，这个纸框是不需要打印出来的。</a:t>
            </a:r>
            <a:endParaRPr sz="1600">
              <a:sym typeface="+mn-ea"/>
            </a:endParaRPr>
          </a:p>
          <a:p>
            <a:pPr marL="0" indent="259080"/>
            <a:r>
              <a:rPr lang="en-US" sz="1600" b="1">
                <a:sym typeface="+mn-ea"/>
              </a:rPr>
              <a:t>2</a:t>
            </a:r>
            <a:r>
              <a:rPr lang="zh-CN" altLang="en-US" sz="1600" b="1">
                <a:sym typeface="+mn-ea"/>
              </a:rPr>
              <a:t>、</a:t>
            </a:r>
            <a:r>
              <a:rPr sz="1600">
                <a:sym typeface="+mn-ea"/>
              </a:rPr>
              <a:t>制图框。纸框绘制好后，再绘制图框，图框距纸框需要有一定的边距，一般为20mm×10mm×10mm×10mm，即装订册预留距离为20mm，其他非装订册预留距离为10mm，并加粗（线宽为0.4mm或0.5mm）。</a:t>
            </a:r>
            <a:endParaRPr sz="1600">
              <a:sym typeface="+mn-ea"/>
            </a:endParaRPr>
          </a:p>
          <a:p>
            <a:pPr marL="0" indent="259080"/>
            <a:r>
              <a:rPr lang="en-US" sz="1600" b="1">
                <a:sym typeface="+mn-ea"/>
              </a:rPr>
              <a:t>3</a:t>
            </a:r>
            <a:r>
              <a:rPr lang="zh-CN" altLang="en-US" sz="1600" b="1">
                <a:sym typeface="+mn-ea"/>
              </a:rPr>
              <a:t>、</a:t>
            </a:r>
            <a:r>
              <a:rPr sz="1600">
                <a:sym typeface="+mn-ea"/>
              </a:rPr>
              <a:t>图衔线条的绘制。图衔位于图框的右下角，标准尺寸为180mm×30mm。图衔外框必须要加粗，线宽与图框一致，内部线条为细实线。</a:t>
            </a:r>
            <a:endParaRPr sz="1600">
              <a:sym typeface="+mn-ea"/>
            </a:endParaRPr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267970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6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</a:t>
            </a:r>
            <a:r>
              <a:rPr lang="zh-CN" altLang="en-US" sz="32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图框的绘制及图纸输出设置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323850" y="915670"/>
            <a:ext cx="861695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261620"/>
            <a:r>
              <a:rPr lang="zh-CN" sz="2000" b="0">
                <a:solidFill>
                  <a:srgbClr val="000000"/>
                </a:solidFill>
                <a:cs typeface="方正宋一简体" charset="0"/>
              </a:rPr>
              <a:t>（</a:t>
            </a:r>
            <a:r>
              <a:rPr lang="en-US" altLang="zh-CN" sz="2000" b="0">
                <a:solidFill>
                  <a:srgbClr val="000000"/>
                </a:solidFill>
                <a:cs typeface="方正宋一简体" charset="0"/>
              </a:rPr>
              <a:t>3</a:t>
            </a:r>
            <a:r>
              <a:rPr lang="zh-CN" sz="2000" b="0">
                <a:solidFill>
                  <a:srgbClr val="000000"/>
                </a:solidFill>
                <a:cs typeface="方正宋一简体" charset="0"/>
              </a:rPr>
              <a:t>）图纸输出设置</a:t>
            </a:r>
            <a:endParaRPr lang="zh-CN" sz="2000" b="0">
              <a:solidFill>
                <a:srgbClr val="000000"/>
              </a:solidFill>
              <a:cs typeface="方正宋一简体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3940" y="1314450"/>
            <a:ext cx="7559675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259080"/>
            <a:r>
              <a:rPr sz="1600">
                <a:sym typeface="+mn-ea"/>
              </a:rPr>
              <a:t>1．图层及打印设置</a:t>
            </a:r>
            <a:endParaRPr sz="1600">
              <a:sym typeface="+mn-ea"/>
            </a:endParaRPr>
          </a:p>
          <a:p>
            <a:pPr marL="0" indent="259080"/>
            <a:r>
              <a:rPr sz="1600">
                <a:sym typeface="+mn-ea"/>
              </a:rPr>
              <a:t>软件一般会自带Defpoints层，不用新建，但是有时需要激活一下。这个层是软件能够识别的，默认为非打印层，如图3</a:t>
            </a:r>
            <a:r>
              <a:rPr lang="en-US" sz="1600">
                <a:sym typeface="+mn-ea"/>
              </a:rPr>
              <a:t>-</a:t>
            </a:r>
            <a:r>
              <a:rPr sz="1600">
                <a:sym typeface="+mn-ea"/>
              </a:rPr>
              <a:t>14所示。</a:t>
            </a:r>
            <a:endParaRPr sz="1600"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227580" y="2144395"/>
            <a:ext cx="5191760" cy="2019935"/>
            <a:chOff x="3508" y="3377"/>
            <a:chExt cx="8176" cy="3181"/>
          </a:xfrm>
        </p:grpSpPr>
        <p:pic>
          <p:nvPicPr>
            <p:cNvPr id="5" name="图片 -214748254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508" y="3377"/>
              <a:ext cx="8176" cy="259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" name="文本框 2"/>
            <p:cNvSpPr txBox="1"/>
            <p:nvPr/>
          </p:nvSpPr>
          <p:spPr>
            <a:xfrm>
              <a:off x="7041" y="5978"/>
              <a:ext cx="111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3-14</a:t>
              </a:r>
              <a:endParaRPr lang="en-US" altLang="zh-CN"/>
            </a:p>
          </p:txBody>
        </p:sp>
      </p:grp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267970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6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</a:t>
            </a:r>
            <a:r>
              <a:rPr lang="zh-CN" altLang="en-US" sz="32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图框的绘制及图纸输出设置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323850" y="915670"/>
            <a:ext cx="861695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261620"/>
            <a:r>
              <a:rPr lang="zh-CN" sz="2000" b="0">
                <a:solidFill>
                  <a:srgbClr val="000000"/>
                </a:solidFill>
                <a:cs typeface="方正宋一简体" charset="0"/>
              </a:rPr>
              <a:t>（</a:t>
            </a:r>
            <a:r>
              <a:rPr lang="en-US" altLang="zh-CN" sz="2000" b="0">
                <a:solidFill>
                  <a:srgbClr val="000000"/>
                </a:solidFill>
                <a:cs typeface="方正宋一简体" charset="0"/>
              </a:rPr>
              <a:t>3</a:t>
            </a:r>
            <a:r>
              <a:rPr lang="zh-CN" sz="2000" b="0">
                <a:solidFill>
                  <a:srgbClr val="000000"/>
                </a:solidFill>
                <a:cs typeface="方正宋一简体" charset="0"/>
              </a:rPr>
              <a:t>）图纸输出设置</a:t>
            </a:r>
            <a:endParaRPr lang="zh-CN" sz="2000" b="0">
              <a:solidFill>
                <a:srgbClr val="000000"/>
              </a:solidFill>
              <a:cs typeface="方正宋一简体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3940" y="1314450"/>
            <a:ext cx="7559675" cy="10763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259080"/>
            <a:r>
              <a:rPr sz="1600">
                <a:sym typeface="+mn-ea"/>
              </a:rPr>
              <a:t>2．图纸空间、模型空间和布局</a:t>
            </a:r>
            <a:endParaRPr sz="1600">
              <a:sym typeface="+mn-ea"/>
            </a:endParaRPr>
          </a:p>
          <a:p>
            <a:pPr marL="0" indent="259080"/>
            <a:r>
              <a:rPr sz="1600">
                <a:sym typeface="+mn-ea"/>
              </a:rPr>
              <a:t>图纸空间和模型空间都是一种载体，模型空间承载几何对象构成的图形，图纸空间承载视图、标注、注释及图框，还包括页面设置。视图、标注、注释及页面设置等在图纸空间里调整、安排的过程称为布局，同时布局也指这种调整、安排的结果。</a:t>
            </a:r>
            <a:endParaRPr sz="1600">
              <a:sym typeface="+mn-ea"/>
            </a:endParaRPr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267970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6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</a:t>
            </a:r>
            <a:r>
              <a:rPr lang="zh-CN" altLang="en-US" sz="32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图框的绘制及图纸输出设置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323850" y="915670"/>
            <a:ext cx="861695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261620"/>
            <a:r>
              <a:rPr lang="zh-CN" sz="2000" b="0">
                <a:solidFill>
                  <a:srgbClr val="000000"/>
                </a:solidFill>
                <a:cs typeface="方正宋一简体" charset="0"/>
              </a:rPr>
              <a:t>（</a:t>
            </a:r>
            <a:r>
              <a:rPr lang="en-US" altLang="zh-CN" sz="2000" b="0">
                <a:solidFill>
                  <a:srgbClr val="000000"/>
                </a:solidFill>
                <a:cs typeface="方正宋一简体" charset="0"/>
              </a:rPr>
              <a:t>3</a:t>
            </a:r>
            <a:r>
              <a:rPr lang="zh-CN" sz="2000" b="0">
                <a:solidFill>
                  <a:srgbClr val="000000"/>
                </a:solidFill>
                <a:cs typeface="方正宋一简体" charset="0"/>
              </a:rPr>
              <a:t>）图纸输出设置</a:t>
            </a:r>
            <a:endParaRPr lang="zh-CN" sz="2000" b="0">
              <a:solidFill>
                <a:srgbClr val="000000"/>
              </a:solidFill>
              <a:cs typeface="方正宋一简体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3940" y="1314450"/>
            <a:ext cx="7559675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259080"/>
            <a:r>
              <a:rPr sz="1600">
                <a:sym typeface="+mn-ea"/>
              </a:rPr>
              <a:t>3．页面设置管理器</a:t>
            </a:r>
            <a:endParaRPr sz="1600">
              <a:sym typeface="+mn-ea"/>
            </a:endParaRPr>
          </a:p>
          <a:p>
            <a:pPr marL="0" indent="259080"/>
            <a:r>
              <a:rPr sz="1600">
                <a:sym typeface="+mn-ea"/>
              </a:rPr>
              <a:t>打开【布局】窗口，选择【页面设置管理器】命令，如图3</a:t>
            </a:r>
            <a:r>
              <a:rPr lang="en-US" sz="1600">
                <a:sym typeface="+mn-ea"/>
              </a:rPr>
              <a:t>-</a:t>
            </a:r>
            <a:r>
              <a:rPr sz="1600">
                <a:sym typeface="+mn-ea"/>
              </a:rPr>
              <a:t>15所示，进入【页面设置】对话框，修改选中的布局空间的页面设置，如图3</a:t>
            </a:r>
            <a:r>
              <a:rPr lang="en-US" sz="1600">
                <a:sym typeface="+mn-ea"/>
              </a:rPr>
              <a:t>-</a:t>
            </a:r>
            <a:r>
              <a:rPr sz="1600">
                <a:sym typeface="+mn-ea"/>
              </a:rPr>
              <a:t>16所示。</a:t>
            </a:r>
            <a:endParaRPr sz="1600">
              <a:sym typeface="+mn-ea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051685" y="2788285"/>
            <a:ext cx="1277620" cy="2266315"/>
            <a:chOff x="3231" y="4391"/>
            <a:chExt cx="2012" cy="3569"/>
          </a:xfrm>
        </p:grpSpPr>
        <p:pic>
          <p:nvPicPr>
            <p:cNvPr id="3" name="图片 2680"/>
            <p:cNvPicPr>
              <a:picLocks noChangeAspect="1"/>
            </p:cNvPicPr>
            <p:nvPr/>
          </p:nvPicPr>
          <p:blipFill>
            <a:blip r:embed="rId1"/>
            <a:srcRect l="7787" t="56441" r="74141" b="4437"/>
            <a:stretch>
              <a:fillRect/>
            </a:stretch>
          </p:blipFill>
          <p:spPr>
            <a:xfrm>
              <a:off x="3231" y="4391"/>
              <a:ext cx="2013" cy="298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" name="文本框 7"/>
            <p:cNvSpPr txBox="1"/>
            <p:nvPr/>
          </p:nvSpPr>
          <p:spPr>
            <a:xfrm>
              <a:off x="3715" y="7380"/>
              <a:ext cx="104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3-15</a:t>
              </a:r>
              <a:endParaRPr lang="en-US" altLang="zh-CN"/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3707451" y="2144395"/>
            <a:ext cx="3815707" cy="2993429"/>
            <a:chOff x="5839" y="3377"/>
            <a:chExt cx="6083" cy="4906"/>
          </a:xfrm>
        </p:grpSpPr>
        <p:pic>
          <p:nvPicPr>
            <p:cNvPr id="4" name="图片 -214748183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39" y="3377"/>
              <a:ext cx="6083" cy="431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" name="文本框 9"/>
            <p:cNvSpPr txBox="1"/>
            <p:nvPr/>
          </p:nvSpPr>
          <p:spPr>
            <a:xfrm>
              <a:off x="8353" y="7679"/>
              <a:ext cx="1055" cy="6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3-16</a:t>
              </a:r>
              <a:endParaRPr lang="en-US" altLang="zh-CN"/>
            </a:p>
          </p:txBody>
        </p:sp>
      </p:grp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267970"/>
            <a:ext cx="8604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6</a:t>
            </a:r>
            <a:r>
              <a:rPr lang="zh-CN" altLang="en-US" sz="32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</a:t>
            </a:r>
            <a:r>
              <a:rPr lang="zh-CN" altLang="en-US" sz="32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图框的绘制及图纸输出设置</a:t>
            </a:r>
            <a:endParaRPr lang="zh-CN" altLang="en-US" sz="32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323850" y="915670"/>
            <a:ext cx="861695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261620"/>
            <a:r>
              <a:rPr lang="zh-CN" sz="2000" b="0">
                <a:solidFill>
                  <a:srgbClr val="000000"/>
                </a:solidFill>
                <a:cs typeface="方正宋一简体" charset="0"/>
              </a:rPr>
              <a:t>（</a:t>
            </a:r>
            <a:r>
              <a:rPr lang="en-US" altLang="zh-CN" sz="2000" b="0">
                <a:solidFill>
                  <a:srgbClr val="000000"/>
                </a:solidFill>
                <a:cs typeface="方正宋一简体" charset="0"/>
              </a:rPr>
              <a:t>3</a:t>
            </a:r>
            <a:r>
              <a:rPr lang="zh-CN" sz="2000" b="0">
                <a:solidFill>
                  <a:srgbClr val="000000"/>
                </a:solidFill>
                <a:cs typeface="方正宋一简体" charset="0"/>
              </a:rPr>
              <a:t>）图纸输出设置</a:t>
            </a:r>
            <a:endParaRPr lang="zh-CN" sz="2000" b="0">
              <a:solidFill>
                <a:srgbClr val="000000"/>
              </a:solidFill>
              <a:cs typeface="方正宋一简体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3940" y="1314450"/>
            <a:ext cx="7559675" cy="10763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259080"/>
            <a:r>
              <a:rPr sz="1600">
                <a:sym typeface="+mn-ea"/>
              </a:rPr>
              <a:t>4．图纸输出设置</a:t>
            </a:r>
            <a:endParaRPr sz="1600">
              <a:sym typeface="+mn-ea"/>
            </a:endParaRPr>
          </a:p>
          <a:p>
            <a:pPr marL="0" indent="259080"/>
            <a:r>
              <a:rPr sz="1600">
                <a:sym typeface="+mn-ea"/>
              </a:rPr>
              <a:t>绘制好图框、图衔后，做好页面布局，以窗口的形式选择纸框的大小，打印区会将绘制好的图高亮显示</a:t>
            </a:r>
            <a:r>
              <a:rPr lang="zh-CN" sz="1600">
                <a:sym typeface="+mn-ea"/>
              </a:rPr>
              <a:t>。可以预览页面，观察设置管理器中的参数是否设置正确，也可以看出纸框、图框、图衔的图层有没有设置正确。</a:t>
            </a:r>
            <a:endParaRPr lang="zh-CN" sz="1600">
              <a:sym typeface="+mn-ea"/>
            </a:endParaRPr>
          </a:p>
        </p:txBody>
      </p:sp>
    </p:spTree>
  </p:cSld>
  <p:clrMapOvr>
    <a:masterClrMapping/>
  </p:clrMapOvr>
  <p:transition spd="slow"/>
</p:sld>
</file>

<file path=ppt/tags/tag1.xml><?xml version="1.0" encoding="utf-8"?>
<p:tagLst xmlns:p="http://schemas.openxmlformats.org/presentationml/2006/main">
  <p:tag name="COMMONDATA" val="eyJoZGlkIjoiZjQ2OWYxY2Y3NTJjNjQ4ZTBiZGY4NDBmYWM3YjRjNWUifQ=="/>
  <p:tag name="KSO_WPP_MARK_KEY" val="2fcf6cec-e5bb-4072-86ac-ff62f2a53752"/>
  <p:tag name="commondata" val="eyJoZGlkIjoiYmQ3NjQxYmZmN2ZkODIxYWNiNTEzMzQyMTZmNzQ1MmMifQ=="/>
</p:tagLst>
</file>

<file path=ppt/theme/theme1.xml><?xml version="1.0" encoding="utf-8"?>
<a:theme xmlns:a="http://schemas.openxmlformats.org/drawingml/2006/main" name="chrome">
  <a:themeElements>
    <a:clrScheme name="Default Design 1">
      <a:dk1>
        <a:srgbClr val="000000"/>
      </a:dk1>
      <a:lt1>
        <a:srgbClr val="FDF58D"/>
      </a:lt1>
      <a:dk2>
        <a:srgbClr val="CC3300"/>
      </a:dk2>
      <a:lt2>
        <a:srgbClr val="808080"/>
      </a:lt2>
      <a:accent1>
        <a:srgbClr val="FF6161"/>
      </a:accent1>
      <a:accent2>
        <a:srgbClr val="FFC319"/>
      </a:accent2>
      <a:accent3>
        <a:srgbClr val="FEF9C5"/>
      </a:accent3>
      <a:accent4>
        <a:srgbClr val="000000"/>
      </a:accent4>
      <a:accent5>
        <a:srgbClr val="FFB7B7"/>
      </a:accent5>
      <a:accent6>
        <a:srgbClr val="E7B016"/>
      </a:accent6>
      <a:hlink>
        <a:srgbClr val="A8D02A"/>
      </a:hlink>
      <a:folHlink>
        <a:srgbClr val="5CB1FE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DF58D"/>
        </a:lt1>
        <a:dk2>
          <a:srgbClr val="CC3300"/>
        </a:dk2>
        <a:lt2>
          <a:srgbClr val="808080"/>
        </a:lt2>
        <a:accent1>
          <a:srgbClr val="FF6161"/>
        </a:accent1>
        <a:accent2>
          <a:srgbClr val="FFC319"/>
        </a:accent2>
        <a:accent3>
          <a:srgbClr val="FEF9C5"/>
        </a:accent3>
        <a:accent4>
          <a:srgbClr val="000000"/>
        </a:accent4>
        <a:accent5>
          <a:srgbClr val="FFB7B7"/>
        </a:accent5>
        <a:accent6>
          <a:srgbClr val="E7B016"/>
        </a:accent6>
        <a:hlink>
          <a:srgbClr val="A8D02A"/>
        </a:hlink>
        <a:folHlink>
          <a:srgbClr val="5CB1F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E1F4D8"/>
        </a:lt1>
        <a:dk2>
          <a:srgbClr val="003366"/>
        </a:dk2>
        <a:lt2>
          <a:srgbClr val="808080"/>
        </a:lt2>
        <a:accent1>
          <a:srgbClr val="FFC319"/>
        </a:accent1>
        <a:accent2>
          <a:srgbClr val="A8D02A"/>
        </a:accent2>
        <a:accent3>
          <a:srgbClr val="EEF8E9"/>
        </a:accent3>
        <a:accent4>
          <a:srgbClr val="000000"/>
        </a:accent4>
        <a:accent5>
          <a:srgbClr val="FFDEAB"/>
        </a:accent5>
        <a:accent6>
          <a:srgbClr val="98BC25"/>
        </a:accent6>
        <a:hlink>
          <a:srgbClr val="5CB1FE"/>
        </a:hlink>
        <a:folHlink>
          <a:srgbClr val="FF616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EE9DE"/>
        </a:lt1>
        <a:dk2>
          <a:srgbClr val="000066"/>
        </a:dk2>
        <a:lt2>
          <a:srgbClr val="808080"/>
        </a:lt2>
        <a:accent1>
          <a:srgbClr val="5CB1FE"/>
        </a:accent1>
        <a:accent2>
          <a:srgbClr val="FF7575"/>
        </a:accent2>
        <a:accent3>
          <a:srgbClr val="FEF2EC"/>
        </a:accent3>
        <a:accent4>
          <a:srgbClr val="000000"/>
        </a:accent4>
        <a:accent5>
          <a:srgbClr val="B5D5FE"/>
        </a:accent5>
        <a:accent6>
          <a:srgbClr val="E76969"/>
        </a:accent6>
        <a:hlink>
          <a:srgbClr val="FFC319"/>
        </a:hlink>
        <a:folHlink>
          <a:srgbClr val="A8D02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292TGp_silent night_light</Template>
  <TotalTime>0</TotalTime>
  <Words>2517</Words>
  <Application>WPS 演示</Application>
  <PresentationFormat>全屏显示(16:9)</PresentationFormat>
  <Paragraphs>158</Paragraphs>
  <Slides>15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9" baseType="lpstr">
      <vt:lpstr>Arial</vt:lpstr>
      <vt:lpstr>宋体</vt:lpstr>
      <vt:lpstr>Wingdings</vt:lpstr>
      <vt:lpstr>Arial Black</vt:lpstr>
      <vt:lpstr>Times New Roman</vt:lpstr>
      <vt:lpstr>华文楷体</vt:lpstr>
      <vt:lpstr>微软雅黑</vt:lpstr>
      <vt:lpstr>华文新魏</vt:lpstr>
      <vt:lpstr>楷体</vt:lpstr>
      <vt:lpstr>方正宋一简体</vt:lpstr>
      <vt:lpstr>方正宋三简体</vt:lpstr>
      <vt:lpstr>Arial Unicode MS</vt:lpstr>
      <vt:lpstr>Calibri</vt:lpstr>
      <vt:lpstr>chrome</vt:lpstr>
      <vt:lpstr>PowerPoint 演示文稿</vt:lpstr>
      <vt:lpstr>图框的绘制及图纸输出设置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chances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ThemeGallery  Power Template</dc:title>
  <dc:creator>j</dc:creator>
  <cp:lastModifiedBy>批注</cp:lastModifiedBy>
  <cp:revision>99</cp:revision>
  <dcterms:created xsi:type="dcterms:W3CDTF">2007-07-24T14:55:00Z</dcterms:created>
  <dcterms:modified xsi:type="dcterms:W3CDTF">2024-09-24T08:02:19Z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55E684B7DF5A42BA88B613464D4B26E3</vt:lpwstr>
  </property>
  <property fmtid="{D5CDD505-2E9C-101B-9397-08002B2CF9AE}" pid="3" name="KSOProductBuildVer">
    <vt:lpwstr>2052-12.1.0.16729</vt:lpwstr>
  </property>
</Properties>
</file>